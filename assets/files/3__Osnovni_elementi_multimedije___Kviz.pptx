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6" r:id="rId5"/>
    <p:sldId id="277" r:id="rId6"/>
    <p:sldId id="317" r:id="rId7"/>
    <p:sldId id="338" r:id="rId8"/>
    <p:sldId id="259" r:id="rId9"/>
    <p:sldId id="260" r:id="rId10"/>
    <p:sldId id="261" r:id="rId11"/>
    <p:sldId id="262" r:id="rId12"/>
    <p:sldId id="263" r:id="rId13"/>
    <p:sldId id="264" r:id="rId14"/>
    <p:sldId id="337" r:id="rId15"/>
    <p:sldId id="336" r:id="rId16"/>
    <p:sldId id="302" r:id="rId17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25" autoAdjust="0"/>
    <p:restoredTop sz="94656" autoAdjust="0"/>
  </p:normalViewPr>
  <p:slideViewPr>
    <p:cSldViewPr snapToGrid="0">
      <p:cViewPr varScale="1">
        <p:scale>
          <a:sx n="93" d="100"/>
          <a:sy n="93" d="100"/>
        </p:scale>
        <p:origin x="20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28039-CACB-4FB7-BFCF-0AD938369F9D}" type="datetimeFigureOut">
              <a:rPr lang="hr-HR" smtClean="0"/>
              <a:t>12.03.2026.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454DF-51D3-4511-B9FB-536168BA82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075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454DF-51D3-4511-B9FB-536168BA82FE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90727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673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89942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>
                <a:solidFill>
                  <a:prstClr val="black"/>
                </a:solidFill>
              </a:rPr>
              <a:pPr/>
              <a:t>4</a:t>
            </a:fld>
            <a:endParaRPr lang="hr-H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799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>
                <a:solidFill>
                  <a:prstClr val="black"/>
                </a:solidFill>
              </a:rPr>
              <a:pPr/>
              <a:t>5</a:t>
            </a:fld>
            <a:endParaRPr lang="hr-H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765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>
                <a:solidFill>
                  <a:prstClr val="black"/>
                </a:solidFill>
              </a:rPr>
              <a:pPr/>
              <a:t>6</a:t>
            </a:fld>
            <a:endParaRPr lang="hr-H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765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>
                <a:solidFill>
                  <a:prstClr val="black"/>
                </a:solidFill>
              </a:rPr>
              <a:pPr/>
              <a:t>7</a:t>
            </a:fld>
            <a:endParaRPr lang="hr-H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765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>
                <a:solidFill>
                  <a:prstClr val="black"/>
                </a:solidFill>
              </a:rPr>
              <a:pPr/>
              <a:t>8</a:t>
            </a:fld>
            <a:endParaRPr lang="hr-H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765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>
                <a:solidFill>
                  <a:prstClr val="black"/>
                </a:solidFill>
              </a:rPr>
              <a:pPr/>
              <a:t>9</a:t>
            </a:fld>
            <a:endParaRPr lang="hr-H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765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>
                <a:solidFill>
                  <a:prstClr val="black"/>
                </a:solidFill>
              </a:rPr>
              <a:pPr/>
              <a:t>10</a:t>
            </a:fld>
            <a:endParaRPr lang="hr-H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765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>
                <a:solidFill>
                  <a:prstClr val="black"/>
                </a:solidFill>
              </a:rPr>
              <a:pPr/>
              <a:t>11</a:t>
            </a:fld>
            <a:endParaRPr lang="hr-H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646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366057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39671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316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6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2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9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91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63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1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5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57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57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7">
            <a:extLst>
              <a:ext uri="{FF2B5EF4-FFF2-40B4-BE49-F238E27FC236}">
                <a16:creationId xmlns:a16="http://schemas.microsoft.com/office/drawing/2014/main" id="{59A9681A-2486-4655-A876-E26402CA2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10DE59D-5C3F-A39A-D3CC-EBEBF41F89B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221"/>
          <a:stretch/>
        </p:blipFill>
        <p:spPr bwMode="auto">
          <a:xfrm>
            <a:off x="2" y="152"/>
            <a:ext cx="12191998" cy="6857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19">
            <a:extLst>
              <a:ext uri="{FF2B5EF4-FFF2-40B4-BE49-F238E27FC236}">
                <a16:creationId xmlns:a16="http://schemas.microsoft.com/office/drawing/2014/main" id="{C9BB6818-31C2-4340-98F8-64FF7F46A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D64DDC21-F0E0-7F18-321D-A12A6E446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758629" cy="2696866"/>
          </a:xfrm>
        </p:spPr>
        <p:txBody>
          <a:bodyPr anchor="t">
            <a:normAutofit/>
          </a:bodyPr>
          <a:lstStyle/>
          <a:p>
            <a:r>
              <a:rPr lang="hr-HR" dirty="0">
                <a:solidFill>
                  <a:srgbClr val="FFFFFF"/>
                </a:solidFill>
              </a:rPr>
              <a:t>Osnovni elementi multimedije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107203C5-DC1F-00CF-2EE2-3AC930F1F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402572" cy="1287887"/>
          </a:xfrm>
        </p:spPr>
        <p:txBody>
          <a:bodyPr anchor="b">
            <a:normAutofit/>
          </a:bodyPr>
          <a:lstStyle/>
          <a:p>
            <a:r>
              <a:rPr lang="hr-HR" dirty="0">
                <a:solidFill>
                  <a:srgbClr val="FFFFFF"/>
                </a:solidFill>
              </a:rPr>
              <a:t>Ognjen Roglić</a:t>
            </a:r>
          </a:p>
          <a:p>
            <a:r>
              <a:rPr lang="hr-HR" dirty="0">
                <a:solidFill>
                  <a:srgbClr val="FFFFFF"/>
                </a:solidFill>
              </a:rPr>
              <a:t>MM [04]</a:t>
            </a:r>
          </a:p>
        </p:txBody>
      </p:sp>
      <p:cxnSp>
        <p:nvCxnSpPr>
          <p:cNvPr id="26" name="Straight Connector 21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777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1748" y="176980"/>
            <a:ext cx="8333330" cy="869903"/>
          </a:xfrm>
        </p:spPr>
        <p:txBody>
          <a:bodyPr>
            <a:normAutofit/>
          </a:bodyPr>
          <a:lstStyle/>
          <a:p>
            <a:r>
              <a:rPr lang="hr-HR" dirty="0">
                <a:solidFill>
                  <a:schemeClr val="tx1">
                    <a:lumMod val="95000"/>
                    <a:lumOff val="5000"/>
                  </a:schemeClr>
                </a:solidFill>
                <a:latin typeface="Arial" charset="0"/>
              </a:rPr>
              <a:t>Sadržaj</a:t>
            </a:r>
            <a:endParaRPr lang="hr-H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32417" y="1209328"/>
            <a:ext cx="9150864" cy="4937760"/>
          </a:xfrm>
        </p:spPr>
        <p:txBody>
          <a:bodyPr>
            <a:normAutofit/>
          </a:bodyPr>
          <a:lstStyle/>
          <a:p>
            <a:pPr lvl="0"/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Multimedija predstavlja kombinaciju različitih oblika sadržaja poput teksta, slike, zvuka, videa i animacije. U današnjem digitalnom svijetu multimedija igra ključnu ulogu u komunikaciji, obrazovanju, zabavi i poslovanju. Razumijevanje osnovnih pojmova multimedije pomaže učenicima da steknu uvid u način na koji se ti elementi integriraju kako bi se stvorio bogat i interaktivan sadržaj, te kako se koriste u svakodnevnim aplikacijama.</a:t>
            </a:r>
            <a:endParaRPr lang="hr-H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792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25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625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77" y="205242"/>
            <a:ext cx="8333330" cy="801077"/>
          </a:xfrm>
        </p:spPr>
        <p:txBody>
          <a:bodyPr>
            <a:normAutofit/>
          </a:bodyPr>
          <a:lstStyle/>
          <a:p>
            <a:r>
              <a:rPr lang="hr-HR" dirty="0">
                <a:solidFill>
                  <a:schemeClr val="tx1">
                    <a:lumMod val="95000"/>
                    <a:lumOff val="5000"/>
                  </a:schemeClr>
                </a:solidFill>
                <a:latin typeface="Arial" charset="0"/>
              </a:rPr>
              <a:t>Ishodi prezentacije</a:t>
            </a:r>
            <a:endParaRPr lang="hr-H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1" y="1219159"/>
            <a:ext cx="8688748" cy="5433599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Razumijevanje pojma multimedije –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Učenici će naučiti što je multimedija i koje oblike sadržaja ona obuhvaća.</a:t>
            </a:r>
            <a:endParaRPr lang="hr-HR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Identifikacija multimedijskih elemenata –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Učenici će moći prepoznati i razlikovati osnovne elemente multimedije kao što su tekst, slika, zvuk, video i animacija.</a:t>
            </a:r>
            <a:endParaRPr lang="hr-HR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Razumijevanje primjene multimedije –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Učenici će naučiti kako se multimedija koristi u različitim područjima kao što su obrazovanje, marketing i zabava.</a:t>
            </a:r>
            <a:endParaRPr lang="hr-HR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Osnove multimedijskih alata –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Upoznat će se s osnovnim alatima za kreiranje i obradu multimedijskog sadržaja.</a:t>
            </a:r>
            <a:endParaRPr lang="hr-HR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Razvijanje kreativnosti kroz multimediju –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Učenici će naučiti kako kreativno koristiti različite multimedijske elemente za izradu sadržaja u školskim projektima ili u svakodnevnom životu.</a:t>
            </a:r>
          </a:p>
        </p:txBody>
      </p:sp>
    </p:spTree>
    <p:extLst>
      <p:ext uri="{BB962C8B-B14F-4D97-AF65-F5344CB8AC3E}">
        <p14:creationId xmlns:p14="http://schemas.microsoft.com/office/powerpoint/2010/main" val="363491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299" y="289166"/>
            <a:ext cx="9752618" cy="738404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Tekst</a:t>
            </a:r>
            <a:r>
              <a:rPr lang="hr-HR" b="1" dirty="0">
                <a:latin typeface="Calibri" pitchFamily="34" charset="0"/>
                <a:cs typeface="Calibri" pitchFamily="34" charset="0"/>
              </a:rPr>
              <a:t> </a:t>
            </a:r>
            <a:endParaRPr lang="hr-HR" dirty="0"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82299" y="1258529"/>
            <a:ext cx="8838216" cy="5132439"/>
          </a:xfrm>
        </p:spPr>
        <p:txBody>
          <a:bodyPr>
            <a:normAutofit fontScale="92500" lnSpcReduction="20000"/>
          </a:bodyPr>
          <a:lstStyle/>
          <a:p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Skup (šarenih) slova koja smišljeno uporabljena odašilju nekakvu poruku</a:t>
            </a:r>
          </a:p>
          <a:p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Nedostatak - statičan i pravocrtan (linearan), mora se čitati</a:t>
            </a:r>
          </a:p>
          <a:p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Moderne računalne tehnologije (web) koriste </a:t>
            </a: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hipertekst</a:t>
            </a:r>
          </a:p>
          <a:p>
            <a:endParaRPr lang="hr-HR" sz="2200" b="1" dirty="0">
              <a:latin typeface="Calibri" pitchFamily="34" charset="0"/>
              <a:cs typeface="Calibri" pitchFamily="34" charset="0"/>
            </a:endParaRPr>
          </a:p>
          <a:p>
            <a:r>
              <a:rPr lang="hr-HR" sz="35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Tekst mora biti jezgrovit i kratak</a:t>
            </a:r>
          </a:p>
          <a:p>
            <a:r>
              <a:rPr lang="hr-HR" sz="2400" dirty="0">
                <a:latin typeface="Bodoni MT Black" pitchFamily="18" charset="0"/>
                <a:cs typeface="Calibri" pitchFamily="34" charset="0"/>
              </a:rPr>
              <a:t>Potrebno </a:t>
            </a:r>
            <a:r>
              <a:rPr lang="hr-HR" sz="3600" dirty="0">
                <a:latin typeface="Arial" panose="020B0604020202020204" pitchFamily="34" charset="0"/>
                <a:cs typeface="Calibri" pitchFamily="34" charset="0"/>
              </a:rPr>
              <a:t>je paziti </a:t>
            </a:r>
            <a:r>
              <a:rPr lang="hr-HR" sz="2400" b="1" dirty="0">
                <a:latin typeface="Curlz MT" panose="04040404050702020202" pitchFamily="82" charset="0"/>
                <a:ea typeface="DotumChe" pitchFamily="49" charset="-127"/>
                <a:cs typeface="Calibri" pitchFamily="34" charset="0"/>
              </a:rPr>
              <a:t>na uporabu </a:t>
            </a:r>
            <a:r>
              <a:rPr lang="hr-HR" sz="4000" dirty="0">
                <a:latin typeface="Arial" panose="020B0604020202020204" pitchFamily="34" charset="0"/>
                <a:cs typeface="Calibri" pitchFamily="34" charset="0"/>
              </a:rPr>
              <a:t>odgovarajućeg</a:t>
            </a:r>
            <a:r>
              <a:rPr lang="hr-HR" sz="4000" dirty="0">
                <a:latin typeface="Calibri" pitchFamily="34" charset="0"/>
                <a:cs typeface="Calibri" pitchFamily="34" charset="0"/>
              </a:rPr>
              <a:t> </a:t>
            </a:r>
            <a:r>
              <a:rPr lang="hr-HR" sz="2400" dirty="0">
                <a:latin typeface="Rockwell Extra Bold" pitchFamily="18" charset="0"/>
                <a:cs typeface="Calibri" pitchFamily="34" charset="0"/>
              </a:rPr>
              <a:t>fonta</a:t>
            </a:r>
          </a:p>
          <a:p>
            <a:r>
              <a:rPr lang="hr-HR" sz="2400" dirty="0">
                <a:latin typeface="MT Extra" pitchFamily="18" charset="2"/>
                <a:cs typeface="Calibri" pitchFamily="34" charset="0"/>
              </a:rPr>
              <a:t>faiofaojfuswqtq789S9DH</a:t>
            </a:r>
          </a:p>
          <a:p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Treba znati </a:t>
            </a:r>
            <a:r>
              <a:rPr lang="hr-H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rukovati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različitim </a:t>
            </a:r>
            <a:r>
              <a:rPr lang="hr-HR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bojama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hr-HR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vrstama pisma</a:t>
            </a:r>
          </a:p>
          <a:p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Kod sastavljanja teksta važna je dosljednost</a:t>
            </a:r>
          </a:p>
        </p:txBody>
      </p:sp>
    </p:spTree>
    <p:extLst>
      <p:ext uri="{BB962C8B-B14F-4D97-AF65-F5344CB8AC3E}">
        <p14:creationId xmlns:p14="http://schemas.microsoft.com/office/powerpoint/2010/main" val="2989177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298" y="269501"/>
            <a:ext cx="10018089" cy="777733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Slika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82298" y="1463433"/>
            <a:ext cx="8336773" cy="4888206"/>
          </a:xfrm>
        </p:spPr>
        <p:txBody>
          <a:bodyPr>
            <a:normAutofit/>
          </a:bodyPr>
          <a:lstStyle/>
          <a:p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bilo kao crtež ili fotografija, ima značajnu ulogu u multimediji</a:t>
            </a: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može biti samostalan multimedijski sadržaj, element animacije ili dio videozapisa</a:t>
            </a:r>
          </a:p>
          <a:p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za pretvaranje slika i fotografija iz analognog u digitalni oblik koristimo skener, digitalni fotoaparat ili digitalnu kameru</a:t>
            </a:r>
          </a:p>
        </p:txBody>
      </p:sp>
    </p:spTree>
    <p:extLst>
      <p:ext uri="{BB962C8B-B14F-4D97-AF65-F5344CB8AC3E}">
        <p14:creationId xmlns:p14="http://schemas.microsoft.com/office/powerpoint/2010/main" val="438155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0068" y="259669"/>
            <a:ext cx="9850940" cy="797397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Zvuk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80068" y="1197962"/>
            <a:ext cx="9243571" cy="5193006"/>
          </a:xfrm>
        </p:spPr>
        <p:txBody>
          <a:bodyPr>
            <a:normAutofit/>
          </a:bodyPr>
          <a:lstStyle/>
          <a:p>
            <a:r>
              <a:rPr lang="hr-HR" sz="2700" dirty="0">
                <a:latin typeface="Arial" panose="020B0604020202020204" pitchFamily="34" charset="0"/>
                <a:cs typeface="Arial" panose="020B0604020202020204" pitchFamily="34" charset="0"/>
              </a:rPr>
              <a:t>Jedan od temeljnih elemenata multimedije, bilo da se radi o glasovnom ili instrumentalnom zapisu</a:t>
            </a:r>
          </a:p>
          <a:p>
            <a:endParaRPr lang="hr-H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700" dirty="0">
                <a:latin typeface="Arial" panose="020B0604020202020204" pitchFamily="34" charset="0"/>
                <a:cs typeface="Arial" panose="020B0604020202020204" pitchFamily="34" charset="0"/>
              </a:rPr>
              <a:t>Zvuk je po svojoj prirodi zvučni val, tj. analogni signal. </a:t>
            </a:r>
          </a:p>
          <a:p>
            <a:pPr lvl="1">
              <a:buFont typeface="Wingdings" pitchFamily="2" charset="2"/>
              <a:buChar char="Ø"/>
            </a:pPr>
            <a:r>
              <a:rPr lang="hr-HR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bi računalo moglo prepoznati zvuk, potrebno ga je digitalizirati, tj. pretvoriti u binarni oblik koji računalo razumije</a:t>
            </a:r>
          </a:p>
          <a:p>
            <a:pPr lvl="1">
              <a:buFont typeface="Wingdings" pitchFamily="2" charset="2"/>
              <a:buChar char="Ø"/>
            </a:pPr>
            <a:r>
              <a:rPr lang="hr-HR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Taj posao u računalu povjeren je zvučnoj kartici. </a:t>
            </a:r>
          </a:p>
          <a:p>
            <a:pPr lvl="1">
              <a:buFont typeface="Wingdings" pitchFamily="2" charset="2"/>
              <a:buChar char="Ø"/>
            </a:pPr>
            <a:r>
              <a:rPr lang="hr-HR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Osnovna uloga zvučne kartice je pretvaranje analogne informacije (zvučni val) u digitalnu (binarnu) – i obratno. </a:t>
            </a:r>
            <a:endParaRPr lang="hr-HR"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hr-HR" sz="20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730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298" y="254753"/>
            <a:ext cx="9270837" cy="807229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Animacija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82298" y="1227458"/>
            <a:ext cx="9172515" cy="5143845"/>
          </a:xfrm>
        </p:spPr>
        <p:txBody>
          <a:bodyPr>
            <a:normAutofit fontScale="85000" lnSpcReduction="10000"/>
          </a:bodyPr>
          <a:lstStyle/>
          <a:p>
            <a:r>
              <a:rPr lang="hr-HR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sastoji se od niza crteža koji se brzo izmjenjuju</a:t>
            </a:r>
          </a:p>
          <a:p>
            <a:endParaRPr lang="hr-HR" sz="19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crteži obično prikazuju neki lik (objekt) u različitom položaju</a:t>
            </a:r>
          </a:p>
          <a:p>
            <a:endParaRPr lang="hr-HR" sz="19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pojedini crtež u nizu naziva se okvir (frame) ili sličica</a:t>
            </a:r>
          </a:p>
          <a:p>
            <a:endParaRPr lang="hr-HR" sz="19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kada se crteži izmjenjuju dovoljno brzo, dolazi do optičke iluzije kretanja(zahvaljujući tromosti našega oka)</a:t>
            </a:r>
          </a:p>
        </p:txBody>
      </p:sp>
    </p:spTree>
    <p:extLst>
      <p:ext uri="{BB962C8B-B14F-4D97-AF65-F5344CB8AC3E}">
        <p14:creationId xmlns:p14="http://schemas.microsoft.com/office/powerpoint/2010/main" val="2409327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1963" y="284250"/>
            <a:ext cx="8975869" cy="748236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01963" y="1138970"/>
            <a:ext cx="8818553" cy="5468309"/>
          </a:xfrm>
        </p:spPr>
        <p:txBody>
          <a:bodyPr>
            <a:normAutofit fontScale="92500" lnSpcReduction="20000"/>
          </a:bodyPr>
          <a:lstStyle/>
          <a:p>
            <a:r>
              <a:rPr lang="hr-HR" sz="27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Koristi sve elemente multimedija</a:t>
            </a:r>
          </a:p>
          <a:p>
            <a:r>
              <a:rPr lang="hr-HR" sz="27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Moćan način prijenosa informacija</a:t>
            </a:r>
            <a:endParaRPr lang="hr-HR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7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Učinkovit prijenos velike količine informacija u kratko vrijeme</a:t>
            </a:r>
          </a:p>
          <a:p>
            <a:r>
              <a:rPr lang="hr-HR" sz="2700" dirty="0">
                <a:latin typeface="Arial" panose="020B0604020202020204" pitchFamily="34" charset="0"/>
                <a:cs typeface="Arial" panose="020B0604020202020204" pitchFamily="34" charset="0"/>
              </a:rPr>
              <a:t>Unosi osjećaj realnosti</a:t>
            </a:r>
          </a:p>
          <a:p>
            <a:r>
              <a:rPr lang="hr-HR" sz="27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Motivira korisnika</a:t>
            </a:r>
          </a:p>
          <a:p>
            <a:r>
              <a:rPr lang="hr-HR" sz="2700" dirty="0">
                <a:latin typeface="Arial" panose="020B0604020202020204" pitchFamily="34" charset="0"/>
                <a:cs typeface="Arial" panose="020B0604020202020204" pitchFamily="34" charset="0"/>
              </a:rPr>
              <a:t>Najveći zahtjevi za računalo i memoriju</a:t>
            </a:r>
          </a:p>
          <a:p>
            <a:r>
              <a:rPr lang="hr-HR" sz="27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Tipovi:</a:t>
            </a:r>
          </a:p>
          <a:p>
            <a:pPr marL="662940" lvl="1" indent="-342900">
              <a:buFont typeface="+mj-lt"/>
              <a:buAutoNum type="arabicPeriod"/>
            </a:pPr>
            <a:r>
              <a:rPr lang="hr-HR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Analogni – linearan, slijedni pristup podacima, premotavanje vrpce (prilagođen TV standardu)</a:t>
            </a:r>
          </a:p>
          <a:p>
            <a:pPr marL="662940" lvl="1" indent="-342900">
              <a:buFont typeface="+mj-lt"/>
              <a:buAutoNum type="arabicPeriod"/>
            </a:pPr>
            <a:r>
              <a:rPr lang="hr-HR" sz="21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Digitalni – izravan pristup bilo kojem dijelu, jednostavna obrada (prilagođen standardu digitalnih podataka, računalna industrija)</a:t>
            </a:r>
          </a:p>
        </p:txBody>
      </p:sp>
    </p:spTree>
    <p:extLst>
      <p:ext uri="{BB962C8B-B14F-4D97-AF65-F5344CB8AC3E}">
        <p14:creationId xmlns:p14="http://schemas.microsoft.com/office/powerpoint/2010/main" val="3494184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300" y="282278"/>
            <a:ext cx="9103688" cy="738404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82300" y="1249096"/>
            <a:ext cx="8728799" cy="4937760"/>
          </a:xfrm>
        </p:spPr>
        <p:txBody>
          <a:bodyPr>
            <a:normAutofit lnSpcReduction="10000"/>
          </a:bodyPr>
          <a:lstStyle/>
          <a:p>
            <a:r>
              <a:rPr lang="hr-HR" sz="27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Temelji se na sličnim principima kao i animacija (brzo prikazivanje niza kadrova), ali se kod videa radi o pokretnim slikama</a:t>
            </a:r>
          </a:p>
          <a:p>
            <a:r>
              <a:rPr lang="hr-HR" sz="2700" dirty="0">
                <a:latin typeface="Arial" panose="020B0604020202020204" pitchFamily="34" charset="0"/>
                <a:cs typeface="Arial" panose="020B0604020202020204" pitchFamily="34" charset="0"/>
              </a:rPr>
              <a:t>Video montaža – obrada </a:t>
            </a:r>
            <a:r>
              <a:rPr lang="vi-VN" sz="2700" dirty="0">
                <a:latin typeface="Arial" panose="020B0604020202020204" pitchFamily="34" charset="0"/>
                <a:cs typeface="Arial" panose="020B0604020202020204" pitchFamily="34" charset="0"/>
              </a:rPr>
              <a:t>video materijal</a:t>
            </a:r>
            <a:r>
              <a:rPr lang="hr-HR" sz="27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vi-VN" sz="27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hr-HR" sz="27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vi-VN" sz="2700" dirty="0">
                <a:latin typeface="Arial" panose="020B0604020202020204" pitchFamily="34" charset="0"/>
                <a:cs typeface="Arial" panose="020B0604020202020204" pitchFamily="34" charset="0"/>
              </a:rPr>
              <a:t>pr. dodavanje naslovnog</a:t>
            </a:r>
            <a:r>
              <a:rPr lang="hr-HR" sz="2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700" dirty="0">
                <a:latin typeface="Arial" panose="020B0604020202020204" pitchFamily="34" charset="0"/>
                <a:cs typeface="Arial" panose="020B0604020202020204" pitchFamily="34" charset="0"/>
              </a:rPr>
              <a:t>teksta ili zvučne podloge, skraćivanje i premještaj kadrova s jednog mjesta na drugo i sl.)</a:t>
            </a:r>
            <a:endParaRPr lang="hr-HR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7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hr-HR" sz="2700">
                <a:latin typeface="Arial" panose="020B0604020202020204" pitchFamily="34" charset="0"/>
                <a:cs typeface="Arial" panose="020B0604020202020204" pitchFamily="34" charset="0"/>
              </a:rPr>
              <a:t>ilmska </a:t>
            </a:r>
            <a:r>
              <a:rPr lang="hr-HR" sz="2700" dirty="0">
                <a:latin typeface="Arial" panose="020B0604020202020204" pitchFamily="34" charset="0"/>
                <a:cs typeface="Arial" panose="020B0604020202020204" pitchFamily="34" charset="0"/>
              </a:rPr>
              <a:t>industrija i industrija računalnih igara koristi kombinacije video materijala i tehnike 3D animacije i grafičkog modeliranja</a:t>
            </a:r>
            <a:endParaRPr lang="vi-VN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hr-HR" sz="24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947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2466" y="272446"/>
            <a:ext cx="9103689" cy="758068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Interaktivnost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19536" y="1268760"/>
            <a:ext cx="8229600" cy="4937760"/>
          </a:xfrm>
        </p:spPr>
        <p:txBody>
          <a:bodyPr>
            <a:normAutofit fontScale="92500"/>
          </a:bodyPr>
          <a:lstStyle/>
          <a:p>
            <a:r>
              <a:rPr lang="hr-HR" sz="2700" dirty="0">
                <a:latin typeface="Arial" panose="020B0604020202020204" pitchFamily="34" charset="0"/>
                <a:cs typeface="Arial" panose="020B0604020202020204" pitchFamily="34" charset="0"/>
              </a:rPr>
              <a:t>Interaktivna multimedija dopušta korisniku kontrolirati način na koji se informacije prikazuju - korisnik može upravljati dolaskom i odlaskom potrebnih informacija</a:t>
            </a:r>
          </a:p>
          <a:p>
            <a:endParaRPr lang="hr-HR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 interaktivnosti </a:t>
            </a:r>
            <a:r>
              <a:rPr lang="hr-H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poruka nije povezana niti s jednom prethodnom porukom</a:t>
            </a:r>
          </a:p>
          <a:p>
            <a:r>
              <a:rPr lang="pl-PL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Reakcija </a:t>
            </a:r>
            <a:r>
              <a:rPr lang="pl-PL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poruka je povezana samo sa porukom neposredno prije</a:t>
            </a:r>
          </a:p>
          <a:p>
            <a:r>
              <a:rPr lang="vi-VN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Interaktivnost</a:t>
            </a:r>
            <a:r>
              <a:rPr lang="hr-HR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hr-HR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poruka je povezana sa više prethodnih poruka i među njima postoji međusobna povezanost</a:t>
            </a:r>
          </a:p>
          <a:p>
            <a:pPr lvl="1"/>
            <a:endParaRPr lang="hr-HR" sz="24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786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2466" y="272446"/>
            <a:ext cx="9103689" cy="758068"/>
          </a:xfrm>
        </p:spPr>
        <p:txBody>
          <a:bodyPr>
            <a:normAutofit/>
          </a:bodyPr>
          <a:lstStyle/>
          <a:p>
            <a:r>
              <a:rPr lang="hr-HR" dirty="0">
                <a:latin typeface="Arial" charset="0"/>
              </a:rPr>
              <a:t>Primjer u živo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19535" y="1268760"/>
            <a:ext cx="9397394" cy="53167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sz="3000" dirty="0">
                <a:latin typeface="Arial" panose="020B0604020202020204" pitchFamily="34" charset="0"/>
                <a:cs typeface="Arial" panose="020B0604020202020204" pitchFamily="34" charset="0"/>
              </a:rPr>
              <a:t>Koje elemente multimedije ste vidjeli na predavanju?</a:t>
            </a:r>
          </a:p>
          <a:p>
            <a:r>
              <a:rPr lang="vi-VN" sz="2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Tekst: </a:t>
            </a:r>
            <a:r>
              <a:rPr lang="vi-VN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Koristi se za objašnjavanje pojmova, upute i skripte.</a:t>
            </a:r>
          </a:p>
          <a:p>
            <a:r>
              <a:rPr lang="vi-VN" sz="2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Slika: </a:t>
            </a:r>
            <a:r>
              <a:rPr lang="vi-VN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Prikazuje dijagrame, grafikone i ilustracije za bolji vizualni dojam.</a:t>
            </a:r>
          </a:p>
          <a:p>
            <a:r>
              <a:rPr lang="vi-VN" sz="2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Zvuk: </a:t>
            </a:r>
            <a:r>
              <a:rPr lang="vi-VN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Predavač govori, objašnjava i daje dodatne informacije.</a:t>
            </a:r>
          </a:p>
          <a:p>
            <a:r>
              <a:rPr lang="vi-VN" sz="2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Video: </a:t>
            </a:r>
            <a:r>
              <a:rPr lang="hr-HR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Uvodni video</a:t>
            </a:r>
            <a:endParaRPr lang="vi-VN" sz="2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sz="26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Animacija: </a:t>
            </a:r>
            <a:r>
              <a:rPr lang="hr-HR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Kroz prezentaciju</a:t>
            </a:r>
            <a:endParaRPr lang="vi-VN" sz="2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hr-HR" sz="24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244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2131" y="309717"/>
            <a:ext cx="9838877" cy="1097280"/>
          </a:xfrm>
        </p:spPr>
        <p:txBody>
          <a:bodyPr>
            <a:normAutofit/>
          </a:bodyPr>
          <a:lstStyle/>
          <a:p>
            <a:r>
              <a:rPr lang="hr-HR" sz="3200">
                <a:latin typeface="Arial" charset="0"/>
              </a:rPr>
              <a:t>Zaključak</a:t>
            </a:r>
            <a:endParaRPr lang="hr-HR" sz="3200" dirty="0"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92131" y="1234932"/>
            <a:ext cx="9064359" cy="5623068"/>
          </a:xfrm>
        </p:spPr>
        <p:txBody>
          <a:bodyPr>
            <a:normAutofit/>
          </a:bodyPr>
          <a:lstStyle/>
          <a:p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Multimedija je postala neizostavan dio suvremenog života i poslovanja, kombinirajući različite oblike medija poput teksta, slike, zvuka, videa i interaktivnih elemenata kako bi se stvorila bogatija komunikacija i interakcija. Kroz ovu prezentaciju naučili smo ključne pojmove multimedije, njezine komponente i ulogu u različitim područjima poput obrazovanja, zabave, marketinga i poslovne komunikacije. Razumijevanje osnovnih elemenata multimedije omogućava nam bolje korištenje tehnologije za kreiranje atraktivnih i učinkovitih sadržaja, što je danas ključna vještina u digitalnom svijetu.</a:t>
            </a:r>
          </a:p>
        </p:txBody>
      </p:sp>
    </p:spTree>
    <p:extLst>
      <p:ext uri="{BB962C8B-B14F-4D97-AF65-F5344CB8AC3E}">
        <p14:creationId xmlns:p14="http://schemas.microsoft.com/office/powerpoint/2010/main" val="191692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94118" y="737381"/>
            <a:ext cx="8229600" cy="4937760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  <a:defRPr/>
            </a:pPr>
            <a:endParaRPr lang="hr-HR" sz="2800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80000"/>
              </a:lnSpc>
              <a:defRPr/>
            </a:pPr>
            <a:endParaRPr lang="hr-HR" sz="4800" dirty="0"/>
          </a:p>
          <a:p>
            <a:pPr marL="0" indent="0" algn="ctr">
              <a:lnSpc>
                <a:spcPct val="80000"/>
              </a:lnSpc>
              <a:buNone/>
              <a:defRPr/>
            </a:pPr>
            <a:r>
              <a:rPr lang="hr-HR" sz="23900" dirty="0">
                <a:latin typeface="Curlz MT" panose="04040404050702020202" pitchFamily="82" charset="0"/>
                <a:ea typeface="ADLaM Display" panose="020B0604020202020204" pitchFamily="2" charset="0"/>
                <a:cs typeface="ADLaM Display" panose="020B0604020202020204" pitchFamily="2" charset="0"/>
              </a:rPr>
              <a:t>KRAJ</a:t>
            </a:r>
          </a:p>
          <a:p>
            <a:pPr marL="0" indent="0" algn="ctr">
              <a:lnSpc>
                <a:spcPct val="80000"/>
              </a:lnSpc>
              <a:buNone/>
              <a:defRPr/>
            </a:pPr>
            <a:r>
              <a:rPr lang="hr-HR" sz="4800" dirty="0">
                <a:latin typeface="Curlz MT" panose="04040404050702020202" pitchFamily="82" charset="0"/>
                <a:ea typeface="ADLaM Display" panose="020B0604020202020204" pitchFamily="2" charset="0"/>
                <a:cs typeface="ADLaM Display" panose="020B0604020202020204" pitchFamily="2" charset="0"/>
              </a:rPr>
              <a:t>Hvala na slušanju!</a:t>
            </a:r>
          </a:p>
        </p:txBody>
      </p:sp>
    </p:spTree>
    <p:extLst>
      <p:ext uri="{BB962C8B-B14F-4D97-AF65-F5344CB8AC3E}">
        <p14:creationId xmlns:p14="http://schemas.microsoft.com/office/powerpoint/2010/main" val="218115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41744a-391e-4a25-927f-1fb68203ca4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4526B780CB7E40AAED50781EDEFDF6" ma:contentTypeVersion="11" ma:contentTypeDescription="Create a new document." ma:contentTypeScope="" ma:versionID="652a6c9b069fcbcef5d118dcb9439fc3">
  <xsd:schema xmlns:xsd="http://www.w3.org/2001/XMLSchema" xmlns:xs="http://www.w3.org/2001/XMLSchema" xmlns:p="http://schemas.microsoft.com/office/2006/metadata/properties" xmlns:ns2="c041744a-391e-4a25-927f-1fb68203ca47" targetNamespace="http://schemas.microsoft.com/office/2006/metadata/properties" ma:root="true" ma:fieldsID="d0c96a76697c2d10d4b6b4107c53825d" ns2:_="">
    <xsd:import namespace="c041744a-391e-4a25-927f-1fb68203ca47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1744a-391e-4a25-927f-1fb68203ca47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0d909bf-645b-46a2-8bb9-ccdb743347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335426-D373-48AA-B660-BF898FF3E4F4}">
  <ds:schemaRefs>
    <ds:schemaRef ds:uri="http://schemas.microsoft.com/office/2006/metadata/properties"/>
    <ds:schemaRef ds:uri="http://schemas.microsoft.com/office/infopath/2007/PartnerControls"/>
    <ds:schemaRef ds:uri="c041744a-391e-4a25-927f-1fb68203ca47"/>
  </ds:schemaRefs>
</ds:datastoreItem>
</file>

<file path=customXml/itemProps2.xml><?xml version="1.0" encoding="utf-8"?>
<ds:datastoreItem xmlns:ds="http://schemas.openxmlformats.org/officeDocument/2006/customXml" ds:itemID="{E17EBD43-7EE8-4A71-AAE1-D6310D0B9D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245765-61FB-4FA9-BB6B-9C72BA452F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41744a-391e-4a25-927f-1fb68203ca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12918</TotalTime>
  <Words>769</Words>
  <Application>Microsoft Macintosh PowerPoint</Application>
  <PresentationFormat>Widescreen</PresentationFormat>
  <Paragraphs>88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Bodoni MT Black</vt:lpstr>
      <vt:lpstr>Calibri</vt:lpstr>
      <vt:lpstr>Curlz MT</vt:lpstr>
      <vt:lpstr>Grandview Display</vt:lpstr>
      <vt:lpstr>MT Extra</vt:lpstr>
      <vt:lpstr>Rockwell Extra Bold</vt:lpstr>
      <vt:lpstr>Wingdings</vt:lpstr>
      <vt:lpstr>DashVTI</vt:lpstr>
      <vt:lpstr>Osnovni elementi multimedije</vt:lpstr>
      <vt:lpstr>Sadržaj</vt:lpstr>
      <vt:lpstr>Ishodi prezentacije</vt:lpstr>
      <vt:lpstr>Tekst </vt:lpstr>
      <vt:lpstr>Slika</vt:lpstr>
      <vt:lpstr>Zvuk</vt:lpstr>
      <vt:lpstr>Animacija</vt:lpstr>
      <vt:lpstr>Video</vt:lpstr>
      <vt:lpstr>Video</vt:lpstr>
      <vt:lpstr>Interaktivnost</vt:lpstr>
      <vt:lpstr>Primjer u živo</vt:lpstr>
      <vt:lpstr>Zaključak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VIRTUALBOX</dc:title>
  <dc:creator>OGNJEN</dc:creator>
  <cp:lastModifiedBy>Matija Šimić</cp:lastModifiedBy>
  <cp:revision>112</cp:revision>
  <dcterms:created xsi:type="dcterms:W3CDTF">2024-07-02T10:01:58Z</dcterms:created>
  <dcterms:modified xsi:type="dcterms:W3CDTF">2026-03-12T16:04:31Z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0x010100C74526B780CB7E40AAED50781EDEFDF6</vt:lpwstr>
  </property>
</Properties>
</file>