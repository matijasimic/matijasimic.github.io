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8.xml" ContentType="application/vnd.openxmlformats-officedocument.presentationml.slide+xml"/>
  <Override PartName="/ppt/slides/slide24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62" r:id="rId3"/>
    <p:sldId id="357" r:id="rId4"/>
    <p:sldId id="358" r:id="rId5"/>
    <p:sldId id="383" r:id="rId6"/>
    <p:sldId id="384" r:id="rId7"/>
    <p:sldId id="303" r:id="rId8"/>
    <p:sldId id="385" r:id="rId9"/>
    <p:sldId id="299" r:id="rId10"/>
    <p:sldId id="300" r:id="rId11"/>
    <p:sldId id="301" r:id="rId12"/>
    <p:sldId id="302" r:id="rId13"/>
    <p:sldId id="297" r:id="rId14"/>
    <p:sldId id="386" r:id="rId15"/>
    <p:sldId id="387" r:id="rId16"/>
    <p:sldId id="388" r:id="rId17"/>
    <p:sldId id="389" r:id="rId18"/>
    <p:sldId id="390" r:id="rId19"/>
    <p:sldId id="391" r:id="rId20"/>
    <p:sldId id="394" r:id="rId21"/>
    <p:sldId id="392" r:id="rId22"/>
    <p:sldId id="393" r:id="rId23"/>
    <p:sldId id="296" r:id="rId24"/>
    <p:sldId id="289" r:id="rId25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57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54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28039-CACB-4FB7-BFCF-0AD938369F9D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454DF-51D3-4511-B9FB-536168BA82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075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454DF-51D3-4511-B9FB-536168BA82FE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90727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71964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52482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27635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20000"/>
              </a:lnSpc>
              <a:defRPr/>
            </a:pPr>
            <a:r>
              <a:rPr lang="en-US" sz="3100" dirty="0">
                <a:latin typeface="Calibri" pitchFamily="34" charset="0"/>
                <a:cs typeface="Calibri" pitchFamily="34" charset="0"/>
              </a:rPr>
              <a:t>Mean Time Between Failure (MTBF</a:t>
            </a:r>
            <a:r>
              <a:rPr lang="hr-HR" sz="3100" dirty="0">
                <a:latin typeface="Calibri" pitchFamily="34" charset="0"/>
                <a:cs typeface="Calibri" pitchFamily="34" charset="0"/>
              </a:rPr>
              <a:t>) = </a:t>
            </a:r>
            <a:r>
              <a:rPr lang="en-US" sz="3100" dirty="0">
                <a:latin typeface="Calibri" pitchFamily="34" charset="0"/>
                <a:cs typeface="Calibri" pitchFamily="34" charset="0"/>
              </a:rPr>
              <a:t>total time in service / number of failures </a:t>
            </a:r>
            <a:endParaRPr lang="hr-HR" sz="3100" dirty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sz="3100" dirty="0">
                <a:latin typeface="Calibri" pitchFamily="34" charset="0"/>
                <a:cs typeface="Calibri" pitchFamily="34" charset="0"/>
              </a:rPr>
              <a:t>Failure Rate (λ)</a:t>
            </a:r>
            <a:r>
              <a:rPr lang="hr-HR" sz="3100" dirty="0">
                <a:latin typeface="Calibri" pitchFamily="34" charset="0"/>
                <a:cs typeface="Calibri" pitchFamily="34" charset="0"/>
              </a:rPr>
              <a:t> =</a:t>
            </a:r>
            <a:r>
              <a:rPr lang="en-US" sz="3100" dirty="0">
                <a:latin typeface="Calibri" pitchFamily="34" charset="0"/>
                <a:cs typeface="Calibri" pitchFamily="34" charset="0"/>
              </a:rPr>
              <a:t> number of failures / total time in service</a:t>
            </a:r>
            <a:endParaRPr lang="hr-HR" sz="3100" dirty="0">
              <a:latin typeface="Calibri" pitchFamily="34" charset="0"/>
              <a:cs typeface="Calibri" pitchFamily="34" charset="0"/>
            </a:endParaRP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71964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38840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01026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45796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56372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81749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28966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978682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30454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FAC3C764-7653-478C-A58E-4C7A524CB4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CF4ECC-BE25-430F-BD9B-5B6AAD0ADD3C}" type="slidenum">
              <a:rPr lang="hr-HR" altLang="sr-Latn-RS" smtClean="0"/>
              <a:pPr>
                <a:spcBef>
                  <a:spcPct val="0"/>
                </a:spcBef>
              </a:pPr>
              <a:t>15</a:t>
            </a:fld>
            <a:endParaRPr lang="hr-HR" altLang="sr-Latn-R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E9CE701-44D0-4534-BF57-A130CF766F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05663EC2-FC45-44F6-A382-8984D77DD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r-HR" altLang="sr-Latn-R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279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16370523-971F-489D-B002-02FCB36005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84CE93-6AFA-4494-B058-4B2B2CA946D6}" type="slidenum">
              <a:rPr lang="hr-HR" altLang="sr-Latn-RS" smtClean="0"/>
              <a:pPr>
                <a:spcBef>
                  <a:spcPct val="0"/>
                </a:spcBef>
              </a:pPr>
              <a:t>16</a:t>
            </a:fld>
            <a:endParaRPr lang="hr-HR" altLang="sr-Latn-R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36C83CD-BFE5-4FE6-924E-E64479229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50E4A65-248C-4A02-8ED8-48DCE5628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hr-HR" altLang="sr-Latn-RS" dirty="0">
                <a:latin typeface="Arial" panose="020B0604020202020204" pitchFamily="34" charset="0"/>
              </a:rPr>
              <a:t>R - </a:t>
            </a:r>
            <a:r>
              <a:rPr lang="hr-H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</a:t>
            </a:r>
            <a:endParaRPr lang="hr-HR" altLang="sr-Latn-R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995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55953D9E-EDD2-4917-AECB-61574C7870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BCD7D79-9ECD-4651-9FAF-5C21617B9F87}" type="slidenum">
              <a:rPr lang="hr-HR" altLang="sr-Latn-RS" smtClean="0"/>
              <a:pPr>
                <a:spcBef>
                  <a:spcPct val="0"/>
                </a:spcBef>
              </a:pPr>
              <a:t>17</a:t>
            </a:fld>
            <a:endParaRPr lang="hr-HR" altLang="sr-Latn-R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87C37A1-193A-4A82-803C-10593D98EE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D88E4A5F-B971-4350-AA48-8F9AAA236C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r-HR" altLang="sr-Latn-R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334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FEB2BE67-E919-4053-82B7-372EF0B4E0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6467F9-C5F7-4908-8282-EC3A7A9156F6}" type="slidenum">
              <a:rPr lang="hr-HR" altLang="sr-Latn-RS" smtClean="0"/>
              <a:pPr>
                <a:spcBef>
                  <a:spcPct val="0"/>
                </a:spcBef>
              </a:pPr>
              <a:t>18</a:t>
            </a:fld>
            <a:endParaRPr lang="hr-HR" altLang="sr-Latn-R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F340402-85F0-4C31-A317-30DF1210D2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8A02316-B229-48DA-91B5-A7E36027C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r-HR" altLang="sr-Latn-R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8355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C4B146B7-70A5-443E-9D46-3129EACB8C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B12621-8FE7-41FF-A9F4-760C5200F01A}" type="slidenum">
              <a:rPr lang="hr-HR" altLang="sr-Latn-RS" smtClean="0"/>
              <a:pPr>
                <a:spcBef>
                  <a:spcPct val="0"/>
                </a:spcBef>
              </a:pPr>
              <a:t>19</a:t>
            </a:fld>
            <a:endParaRPr lang="hr-HR" altLang="sr-Latn-R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38FA82F1-4332-495F-BA43-2433028CF9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A76CEDB2-335E-4726-AD8A-1DD51D2853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r-HR" altLang="sr-Latn-R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4508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A7F26-EA63-986A-1CAE-9389038C4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2EF48A92-DD82-F4AE-B59F-78BA036940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B12621-8FE7-41FF-A9F4-760C5200F01A}" type="slidenum">
              <a:rPr lang="hr-HR" altLang="sr-Latn-RS" smtClean="0"/>
              <a:pPr>
                <a:spcBef>
                  <a:spcPct val="0"/>
                </a:spcBef>
              </a:pPr>
              <a:t>20</a:t>
            </a:fld>
            <a:endParaRPr lang="hr-HR" altLang="sr-Latn-R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FCFD1EE0-DD02-ED39-D916-15157A3356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0545A63C-7AB7-CEDB-44BA-3668DCF939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r-HR" altLang="sr-Latn-R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9444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2C8EF5D9-7C0C-4153-B708-BCC66C65EF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883D683-4BB9-4D84-A623-EB59B730F670}" type="slidenum">
              <a:rPr lang="hr-HR" altLang="sr-Latn-RS" smtClean="0"/>
              <a:pPr>
                <a:spcBef>
                  <a:spcPct val="0"/>
                </a:spcBef>
              </a:pPr>
              <a:t>21</a:t>
            </a:fld>
            <a:endParaRPr lang="hr-HR" altLang="sr-Latn-R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C8AEDC42-A26C-4C6E-8170-57E447D197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45712B4E-99D2-4D84-946A-57D73B3D7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r-HR" altLang="sr-Latn-R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3452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532349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75091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316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6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2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9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91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6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1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5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7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57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7">
            <a:extLst>
              <a:ext uri="{FF2B5EF4-FFF2-40B4-BE49-F238E27FC236}">
                <a16:creationId xmlns:a16="http://schemas.microsoft.com/office/drawing/2014/main" id="{59A9681A-2486-4655-A876-E26402CA2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10DE59D-5C3F-A39A-D3CC-EBEBF41F89B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221"/>
          <a:stretch/>
        </p:blipFill>
        <p:spPr bwMode="auto">
          <a:xfrm>
            <a:off x="2" y="152"/>
            <a:ext cx="12191998" cy="6857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19">
            <a:extLst>
              <a:ext uri="{FF2B5EF4-FFF2-40B4-BE49-F238E27FC236}">
                <a16:creationId xmlns:a16="http://schemas.microsoft.com/office/drawing/2014/main" id="{C9BB6818-31C2-4340-98F8-64FF7F46A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64DDC21-F0E0-7F18-321D-A12A6E446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758629" cy="2696866"/>
          </a:xfrm>
        </p:spPr>
        <p:txBody>
          <a:bodyPr anchor="t">
            <a:normAutofit/>
          </a:bodyPr>
          <a:lstStyle/>
          <a:p>
            <a:r>
              <a:rPr lang="hr-HR" dirty="0">
                <a:solidFill>
                  <a:srgbClr val="FFFFFF"/>
                </a:solidFill>
              </a:rPr>
              <a:t>Pouzdanost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107203C5-DC1F-00CF-2EE2-3AC930F1F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402572" cy="1287887"/>
          </a:xfrm>
        </p:spPr>
        <p:txBody>
          <a:bodyPr anchor="b">
            <a:normAutofit/>
          </a:bodyPr>
          <a:lstStyle/>
          <a:p>
            <a:r>
              <a:rPr lang="hr-HR" dirty="0">
                <a:solidFill>
                  <a:srgbClr val="FFFFFF"/>
                </a:solidFill>
              </a:rPr>
              <a:t>Ognjen Roglić</a:t>
            </a:r>
          </a:p>
          <a:p>
            <a:r>
              <a:rPr lang="hr-HR" dirty="0">
                <a:solidFill>
                  <a:srgbClr val="FFFFFF"/>
                </a:solidFill>
              </a:rPr>
              <a:t>DIOIS [11]</a:t>
            </a:r>
          </a:p>
        </p:txBody>
      </p:sp>
      <p:cxnSp>
        <p:nvCxnSpPr>
          <p:cNvPr id="26" name="Straight Connector 2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777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80930" y="1219160"/>
            <a:ext cx="8229600" cy="493776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Pouzdanost sustava odnosi se na sposobnost računalnih sustava da kontinuirano i ispravno rade tijekom vremena, bez prekida ili grešaka. Učenici će kroz ovaj modul naučiti ključne koncepte vezane uz dizajn, održavanje i analizu sustava kako bi osigurali visoku dostupnost i otpornost na kvarove. Na kraju modula, učenici će biti sposobni identificirati faktore koji utječu na pouzdanost, te implementirati mjere koje će poboljšati stabilnost i sigurnost sustava.</a:t>
            </a:r>
            <a:endParaRPr lang="hr-HR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96" y="22856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Sadržaj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897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12350" y="944840"/>
            <a:ext cx="9400480" cy="532179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Učenici će: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Razumjeti temeljne pojmove i principe pouzdanosti računalnih sustava.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Analizirati faktore koji utječu na stabilnost i sigurnost sustava.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Prepoznati različite vrste kvarova i metode za njihovu prevenciju.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Primijeniti tehnike za povećanje dostupnosti i otpornosti sustava na greške.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Koristiti alate za praćenje performansi sustava i identificiranje potencijalnih problema.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Implementirati sigurnosne mjere za zaštitu podataka i neprekinuti rad sustava.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466" y="21418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Ishodi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6386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96" y="31705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Uvodni video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61054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76400" y="1196380"/>
            <a:ext cx="9067800" cy="4937760"/>
          </a:xfrm>
        </p:spPr>
        <p:txBody>
          <a:bodyPr>
            <a:normAutofit/>
          </a:bodyPr>
          <a:lstStyle/>
          <a:p>
            <a:r>
              <a:rPr lang="hr-HR" sz="3600" b="1" dirty="0">
                <a:latin typeface="Calibri" pitchFamily="34" charset="0"/>
                <a:cs typeface="Calibri" pitchFamily="34" charset="0"/>
              </a:rPr>
              <a:t>Pouzdanost</a:t>
            </a:r>
            <a:r>
              <a:rPr lang="hr-HR" sz="3600" dirty="0">
                <a:latin typeface="Calibri" pitchFamily="34" charset="0"/>
                <a:cs typeface="Calibri" pitchFamily="34" charset="0"/>
              </a:rPr>
              <a:t> je vjerojatnost da će sustav raditi na predviđeni način u određenom vremenu i u predviđenim radnim uvjetima, uz minimalne prekide uzrokovane pogreškama u dizajnu ili radu.</a:t>
            </a:r>
          </a:p>
          <a:p>
            <a:pPr lvl="0"/>
            <a:endParaRPr lang="hr-HR" sz="4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450" y="20578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Pouzdanost</a:t>
            </a:r>
          </a:p>
        </p:txBody>
      </p:sp>
    </p:spTree>
    <p:extLst>
      <p:ext uri="{BB962C8B-B14F-4D97-AF65-F5344CB8AC3E}">
        <p14:creationId xmlns:p14="http://schemas.microsoft.com/office/powerpoint/2010/main" val="414205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1" y="1219160"/>
            <a:ext cx="8037860" cy="518164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hr-HR" sz="3200" dirty="0">
                <a:latin typeface="Calibri" pitchFamily="34" charset="0"/>
                <a:cs typeface="Calibri" pitchFamily="34" charset="0"/>
              </a:rPr>
              <a:t>Teorija pouzdanosti treba postati oruđe koje će sistemskim administratorima omogućiti da na temelju poznavanja informacijskog sustava predvide njegovo ponašanje, otkriju i identificiraju područje povećanog rizika te time planiraju održavanje sustava.</a:t>
            </a:r>
          </a:p>
          <a:p>
            <a:pPr>
              <a:lnSpc>
                <a:spcPct val="120000"/>
              </a:lnSpc>
              <a:defRPr/>
            </a:pPr>
            <a:endParaRPr lang="hr-HR" sz="3600" b="1" dirty="0"/>
          </a:p>
          <a:p>
            <a:pPr marL="0" indent="0">
              <a:buNone/>
              <a:defRPr/>
            </a:pPr>
            <a:endParaRPr lang="hr-HR" sz="3300" b="1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  <a:defRPr/>
            </a:pPr>
            <a:endParaRPr lang="hr-HR" sz="33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Naslov 4">
            <a:extLst>
              <a:ext uri="{FF2B5EF4-FFF2-40B4-BE49-F238E27FC236}">
                <a16:creationId xmlns:a16="http://schemas.microsoft.com/office/drawing/2014/main" id="{F8A4E5AC-7475-BE86-D91C-86630D78B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39" y="228601"/>
            <a:ext cx="10890929" cy="1097280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Teorija pouzdanosti</a:t>
            </a:r>
          </a:p>
        </p:txBody>
      </p:sp>
    </p:spTree>
    <p:extLst>
      <p:ext uri="{BB962C8B-B14F-4D97-AF65-F5344CB8AC3E}">
        <p14:creationId xmlns:p14="http://schemas.microsoft.com/office/powerpoint/2010/main" val="108687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1" y="1219160"/>
            <a:ext cx="8037860" cy="498733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hr-HR" sz="3600" dirty="0">
                <a:latin typeface="Arial" panose="020B0604020202020204" pitchFamily="34" charset="0"/>
                <a:cs typeface="Arial" panose="020B0604020202020204" pitchFamily="34" charset="0"/>
              </a:rPr>
              <a:t>Teorija pouzdanosti daje niz alata, metodologija i uvida koji omogućuju analizu, procjenu i poboljšanje pouzdanosti sustava i komponenti. </a:t>
            </a:r>
            <a:endParaRPr lang="hr-H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/>
            </a:pPr>
            <a:endParaRPr lang="hr-HR" sz="33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Naslov 4">
            <a:extLst>
              <a:ext uri="{FF2B5EF4-FFF2-40B4-BE49-F238E27FC236}">
                <a16:creationId xmlns:a16="http://schemas.microsoft.com/office/drawing/2014/main" id="{F8A4E5AC-7475-BE86-D91C-86630D78B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069" y="240031"/>
            <a:ext cx="10890929" cy="1097280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Teorija pouzdanosti</a:t>
            </a:r>
          </a:p>
        </p:txBody>
      </p:sp>
    </p:spTree>
    <p:extLst>
      <p:ext uri="{BB962C8B-B14F-4D97-AF65-F5344CB8AC3E}">
        <p14:creationId xmlns:p14="http://schemas.microsoft.com/office/powerpoint/2010/main" val="89778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BFC3B3E-73DE-4FED-809F-877C1B9C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0209" y="217171"/>
            <a:ext cx="10890929" cy="1097280"/>
          </a:xfrm>
        </p:spPr>
        <p:txBody>
          <a:bodyPr>
            <a:normAutofit/>
          </a:bodyPr>
          <a:lstStyle/>
          <a:p>
            <a:r>
              <a:rPr lang="hr-HR" sz="44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Sustavi prema pouzdanosti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38A634F-2B64-4668-80EE-FAEF1B1614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680208" y="1127760"/>
            <a:ext cx="9384031" cy="5638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r-HR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Visoko pouzdani sustavi</a:t>
            </a:r>
          </a:p>
          <a:p>
            <a:r>
              <a:rPr lang="hr-HR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Ovi sustavi imaju stroge zahtjeve za pouzdanošću zbog kritičnosti njihovih funkcija.</a:t>
            </a:r>
          </a:p>
          <a:p>
            <a:pPr marL="0" indent="0">
              <a:buNone/>
            </a:pPr>
            <a:endParaRPr lang="hr-HR" sz="9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Zrakoplovni sustavi:</a:t>
            </a:r>
            <a:r>
              <a:rPr lang="hr-HR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Avionski navigacijski i komunikacijski sustavi moraju raditi bez greške zbog sigurnosti putnika i posade.</a:t>
            </a:r>
          </a:p>
          <a:p>
            <a:pPr>
              <a:buFont typeface="Arial" panose="020B0604020202020204" pitchFamily="34" charset="0"/>
              <a:buChar char="•"/>
            </a:pPr>
            <a:endParaRPr lang="hr-HR" sz="1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Medicinski uređaji:</a:t>
            </a:r>
            <a:r>
              <a:rPr lang="hr-HR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Uređaji poput srčanih stimulatora, ventilatora i MRI strojeva zahtijevaju visoku pouzdanost jer se koriste za očuvanje života i zdravlja pacijenata.</a:t>
            </a:r>
          </a:p>
          <a:p>
            <a:pPr>
              <a:buFont typeface="Arial" panose="020B0604020202020204" pitchFamily="34" charset="0"/>
              <a:buChar char="•"/>
            </a:pPr>
            <a:endParaRPr lang="hr-HR" sz="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Nuklearne elektrane:</a:t>
            </a:r>
            <a:r>
              <a:rPr lang="hr-HR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Kontrolni i sigurnosni sustavi moraju biti izuzetno pouzdani kako bi se spriječile katastrofalne nesreće.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79862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BFC3B3E-73DE-4FED-809F-877C1B9C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499" y="121920"/>
            <a:ext cx="9726931" cy="1097280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Sustavi prema pouzdanosti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38A634F-2B64-4668-80EE-FAEF1B1614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14499" y="1013460"/>
            <a:ext cx="8957310" cy="5638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2. Sustavi srednje pouzdanosti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Ovi sustavi imaju visoke, ali ne tako stroge zahtjeve za pouzdanošću.</a:t>
            </a:r>
          </a:p>
          <a:p>
            <a:endParaRPr lang="hr-H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Telekomunikacijski sustavi: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Mobilne mreže i internet infrastruktura trebaju biti pouzdane za osiguranje kontinuirane komunikacije, ali povremeni prekidi su prihvatljivi.</a:t>
            </a:r>
          </a:p>
          <a:p>
            <a:pPr>
              <a:buFont typeface="Arial" panose="020B0604020202020204" pitchFamily="34" charset="0"/>
              <a:buChar char="•"/>
            </a:pPr>
            <a:endParaRPr lang="hr-H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Bankarski sustavi: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Financijski sustavi i bankomati trebaju visoku pouzdanost radi sigurnosti transakcija i dostupnosti usluga, ali su planirani prekidi za održavanje uobičajeni.</a:t>
            </a:r>
          </a:p>
          <a:p>
            <a:pPr>
              <a:buFont typeface="Arial" panose="020B0604020202020204" pitchFamily="34" charset="0"/>
              <a:buChar char="•"/>
            </a:pPr>
            <a:endParaRPr lang="hr-H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Energetske mreže: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Električne mreže i postrojenja trebaju visoku pouzdanost za kontinuirano napajanje, ali planirani prekidi za održavanje su prihvaćeni.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972851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BFC3B3E-73DE-4FED-809F-877C1B9C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39" y="217171"/>
            <a:ext cx="10890929" cy="1097280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Sustavi prema pouzdanosti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38A634F-2B64-4668-80EE-FAEF1B1614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691639" y="1002029"/>
            <a:ext cx="9094470" cy="56388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3. Sustavi niske pouzdanosti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Ovi sustavi mogu tolerirati povremene kvarove i zastoje bez značajnog utjecaja na korisnike ili poslovanje.</a:t>
            </a: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Kancelarijski informatički sustavi: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Radne stanice, printeri i uredska oprema mogu imati povremene kvarove bez značajnog utjecaja na poslovanje.</a:t>
            </a:r>
          </a:p>
          <a:p>
            <a:pPr>
              <a:buFont typeface="Arial" panose="020B0604020202020204" pitchFamily="34" charset="0"/>
              <a:buChar char="•"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Kućni elektronički uređaji: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Televizori, kućna računala i kućanski aparati imaju niže zahtjeve za pouzdanošću jer prekidi ne ugrožavaju sigurnost ili ključne funkcije.</a:t>
            </a:r>
          </a:p>
          <a:p>
            <a:pPr>
              <a:buFont typeface="Arial" panose="020B0604020202020204" pitchFamily="34" charset="0"/>
              <a:buChar char="•"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Gaming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sustavi: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Konzole za videoigre i online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gaming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platforme trebaju određenu razinu pouzdanosti, ali povremeni kvarovi i zastoji nisu kritični.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77797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BFC3B3E-73DE-4FED-809F-877C1B9C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39" y="274321"/>
            <a:ext cx="10890929" cy="1097280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Sustavi prema pouzdanosti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38A634F-2B64-4668-80EE-FAEF1B1614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691639" y="1127760"/>
            <a:ext cx="8991600" cy="56388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r-HR" b="1" dirty="0"/>
              <a:t>4. 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Mission-Critical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sustavi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Ovi sustavi su od ključne važnosti za određene operacije i njihovi kvarovi mogu imati ozbiljne posljedice.</a:t>
            </a: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Vojni sustavi: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Oružani sustavi, komunikacijski sustavi i sustavi za praćenje trebaju visoku pouzdanost zbog sigurnosti i učinkovitosti vojnih operacija.</a:t>
            </a:r>
          </a:p>
          <a:p>
            <a:pPr>
              <a:buFont typeface="Arial" panose="020B0604020202020204" pitchFamily="34" charset="0"/>
              <a:buChar char="•"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Hitne službe: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Sustavi za hitne službe, uključujući vatrogasne, policijske i medicinske hitne službe, trebaju visoku pouzdanost za brzo i učinkovito reagiranje na hitne situacije.</a:t>
            </a:r>
          </a:p>
          <a:p>
            <a:pPr>
              <a:buFont typeface="Arial" panose="020B0604020202020204" pitchFamily="34" charset="0"/>
              <a:buChar char="•"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Automobilski sustavi: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Moderni automobili s autonomnim ili polu-autonomnim sustavima vožnje zahtijevaju visoku pouzdanost zbog sigurnosti putnika.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57535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BFC3B3E-73DE-4FED-809F-877C1B9C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929" y="217171"/>
            <a:ext cx="9624061" cy="1097280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Sustavi prema pouzdanosti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38A634F-2B64-4668-80EE-FAEF1B1614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25929" y="1093470"/>
            <a:ext cx="9368790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b="1" dirty="0"/>
              <a:t>5. 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Infrastruktura kritična za poslovanje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Sustavi koji su ključni za neometano poslovanje organizacija.</a:t>
            </a: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Data centri: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Data centri i cloud infrastruktura trebaju visoku pouzdanost za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hostanje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aplikacija i pohranu podataka, s minimalnim vremenom zastoja.</a:t>
            </a:r>
          </a:p>
          <a:p>
            <a:pPr>
              <a:buFont typeface="Arial" panose="020B0604020202020204" pitchFamily="34" charset="0"/>
              <a:buChar char="•"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ERP sustavi: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Sustavi za planiranje resursa poduzeća (ERP) trebaju visoku pouzdanost za podršku ključnim poslovnim procesima kao što su financije, nabava i proizvodnja.</a:t>
            </a:r>
          </a:p>
          <a:p>
            <a:pPr>
              <a:buFont typeface="Arial" panose="020B0604020202020204" pitchFamily="34" charset="0"/>
              <a:buChar char="•"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E-</a:t>
            </a:r>
            <a:r>
              <a:rPr lang="hr-HR" b="1" dirty="0" err="1">
                <a:latin typeface="Arial" panose="020B0604020202020204" pitchFamily="34" charset="0"/>
                <a:cs typeface="Arial" panose="020B0604020202020204" pitchFamily="34" charset="0"/>
              </a:rPr>
              <a:t>commerce</a:t>
            </a: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 platforme: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Online trgovine trebaju visoku pouzdanost za obradu narudžbi i plaćanja te osiguranje pozitivnog korisničkog iskustva.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91313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EF6AF10-667A-4D58-9C03-D30E747D7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069" y="171451"/>
            <a:ext cx="9955531" cy="1097280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Cijena pada sustava</a:t>
            </a:r>
          </a:p>
        </p:txBody>
      </p:sp>
      <p:pic>
        <p:nvPicPr>
          <p:cNvPr id="5" name="Rezervirano mjesto sadržaja 4">
            <a:extLst>
              <a:ext uri="{FF2B5EF4-FFF2-40B4-BE49-F238E27FC236}">
                <a16:creationId xmlns:a16="http://schemas.microsoft.com/office/drawing/2014/main" id="{A86AE00C-9A64-4887-8C4E-02ACBFA9B49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489" y="1538178"/>
            <a:ext cx="7233022" cy="4299171"/>
          </a:xfrm>
        </p:spPr>
      </p:pic>
    </p:spTree>
    <p:extLst>
      <p:ext uri="{BB962C8B-B14F-4D97-AF65-F5344CB8AC3E}">
        <p14:creationId xmlns:p14="http://schemas.microsoft.com/office/powerpoint/2010/main" val="3883779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209" y="166504"/>
            <a:ext cx="8903971" cy="1097280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Blok dijagram pouzdanosti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77070" y="1263784"/>
            <a:ext cx="8792860" cy="5594216"/>
          </a:xfrm>
        </p:spPr>
        <p:txBody>
          <a:bodyPr vert="horz">
            <a:normAutofit/>
          </a:bodyPr>
          <a:lstStyle/>
          <a:p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Ovisi o pouzdanosti elemenata od kojih se sustav sastoji</a:t>
            </a:r>
          </a:p>
          <a:p>
            <a:endParaRPr lang="hr-H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Međusobnu ovisnost tih pouzdanosti opisuje blok-dijagram pouzdanosti (engl. </a:t>
            </a:r>
            <a:r>
              <a:rPr lang="hr-HR" sz="3200" dirty="0" err="1">
                <a:latin typeface="Arial" panose="020B0604020202020204" pitchFamily="34" charset="0"/>
                <a:cs typeface="Arial" panose="020B0604020202020204" pitchFamily="34" charset="0"/>
              </a:rPr>
              <a:t>Reliability</a:t>
            </a: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3200" dirty="0" err="1">
                <a:latin typeface="Arial" panose="020B0604020202020204" pitchFamily="34" charset="0"/>
                <a:cs typeface="Arial" panose="020B0604020202020204" pitchFamily="34" charset="0"/>
              </a:rPr>
              <a:t>Block</a:t>
            </a: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3200" dirty="0" err="1">
                <a:latin typeface="Arial" panose="020B0604020202020204" pitchFamily="34" charset="0"/>
                <a:cs typeface="Arial" panose="020B0604020202020204" pitchFamily="34" charset="0"/>
              </a:rPr>
              <a:t>Diagram</a:t>
            </a: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 – RBD) (to nije fizičko predstavljanje sustava)</a:t>
            </a:r>
          </a:p>
          <a:p>
            <a:endParaRPr lang="hr-HR" sz="4000" dirty="0">
              <a:latin typeface="Calibri" pitchFamily="34" charset="0"/>
              <a:cs typeface="Calibri" pitchFamily="34" charset="0"/>
            </a:endParaRPr>
          </a:p>
          <a:p>
            <a:endParaRPr lang="hr-HR" sz="40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065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>
            <a:extLst>
              <a:ext uri="{FF2B5EF4-FFF2-40B4-BE49-F238E27FC236}">
                <a16:creationId xmlns:a16="http://schemas.microsoft.com/office/drawing/2014/main" id="{EAF0E45C-BEFD-4E70-9D15-6881D314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EA8527-EA8C-4204-A7C5-24E627643235}" type="slidenum">
              <a:rPr lang="hr-HR" altLang="sr-Latn-R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hr-HR" altLang="sr-Latn-RS" sz="1200">
              <a:latin typeface="Arial" panose="020B0604020202020204" pitchFamily="34" charset="0"/>
            </a:endParaRPr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5AE32F87-1D59-46DD-A1CB-2EC694421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8" y="-361442"/>
            <a:ext cx="856932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r-HR" altLang="sr-Latn-R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-"/>
            </a:pPr>
            <a:endParaRPr lang="hr-HR" altLang="sr-Latn-RS" sz="1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hr-HR" altLang="sr-Latn-RS" sz="40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Blok dijagram pouzdanosti</a:t>
            </a:r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D81DF3F9-71B8-4988-9205-CB68373F3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013" y="80803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r-HR" altLang="sr-Latn-RS" sz="1600">
              <a:latin typeface="Arial" panose="020B0604020202020204" pitchFamily="34" charset="0"/>
            </a:endParaRP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206CA505-D062-405F-8D22-FFB84B5FA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1144588"/>
            <a:ext cx="8815681" cy="51233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>
            <a:normAutofit/>
          </a:bodyPr>
          <a:lstStyle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4000">
                <a:latin typeface="Calibri" pitchFamily="34" charset="0"/>
                <a:cs typeface="Calibri" pitchFamily="34" charset="0"/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smtClean="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smtClean="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smtClean="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smtClean="0"/>
            </a:lvl9pPr>
          </a:lstStyle>
          <a:p>
            <a:r>
              <a:rPr lang="hr-HR" altLang="sr-Latn-RS" sz="2400" dirty="0">
                <a:latin typeface="Arial" panose="020B0604020202020204" pitchFamily="34" charset="0"/>
                <a:cs typeface="Arial" panose="020B0604020202020204" pitchFamily="34" charset="0"/>
              </a:rPr>
              <a:t>Ako rad sustava ovisi o radu neke komponente onda je ona u blok-dijagramu spojena serijski.</a:t>
            </a:r>
          </a:p>
          <a:p>
            <a:r>
              <a:rPr lang="hr-HR" altLang="sr-Latn-RS" sz="2400" dirty="0">
                <a:latin typeface="Arial" panose="020B0604020202020204" pitchFamily="34" charset="0"/>
                <a:cs typeface="Arial" panose="020B0604020202020204" pitchFamily="34" charset="0"/>
              </a:rPr>
              <a:t>Ako barem jedna od više komponenti u sustavu mora raditi da bi sustav bio u funkciji, tada je ona u blok dijagramu spojena paralelno.</a:t>
            </a:r>
          </a:p>
          <a:p>
            <a:r>
              <a:rPr lang="hr-HR" altLang="sr-Latn-RS" sz="2400" dirty="0">
                <a:latin typeface="Arial" panose="020B0604020202020204" pitchFamily="34" charset="0"/>
                <a:cs typeface="Arial" panose="020B0604020202020204" pitchFamily="34" charset="0"/>
              </a:rPr>
              <a:t>Primjer:</a:t>
            </a:r>
          </a:p>
        </p:txBody>
      </p:sp>
      <p:grpSp>
        <p:nvGrpSpPr>
          <p:cNvPr id="16390" name="Group 17">
            <a:extLst>
              <a:ext uri="{FF2B5EF4-FFF2-40B4-BE49-F238E27FC236}">
                <a16:creationId xmlns:a16="http://schemas.microsoft.com/office/drawing/2014/main" id="{90C318A1-F113-4C2C-8870-BE07E0041A31}"/>
              </a:ext>
            </a:extLst>
          </p:cNvPr>
          <p:cNvGrpSpPr>
            <a:grpSpLocks/>
          </p:cNvGrpSpPr>
          <p:nvPr/>
        </p:nvGrpSpPr>
        <p:grpSpPr bwMode="auto">
          <a:xfrm>
            <a:off x="2259013" y="3596825"/>
            <a:ext cx="7993062" cy="1655762"/>
            <a:chOff x="340" y="2478"/>
            <a:chExt cx="5035" cy="1043"/>
          </a:xfrm>
        </p:grpSpPr>
        <p:sp>
          <p:nvSpPr>
            <p:cNvPr id="16392" name="Rectangle 6">
              <a:extLst>
                <a:ext uri="{FF2B5EF4-FFF2-40B4-BE49-F238E27FC236}">
                  <a16:creationId xmlns:a16="http://schemas.microsoft.com/office/drawing/2014/main" id="{E20D21E5-7BAC-492F-8150-2C921AB50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2886"/>
              <a:ext cx="1089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hr-HR" altLang="sr-Latn-RS" sz="2000">
                  <a:latin typeface="Arial" panose="020B0604020202020204" pitchFamily="34" charset="0"/>
                </a:rPr>
                <a:t>Komponenta 1</a:t>
              </a:r>
            </a:p>
          </p:txBody>
        </p:sp>
        <p:sp>
          <p:nvSpPr>
            <p:cNvPr id="16393" name="Rectangle 8">
              <a:extLst>
                <a:ext uri="{FF2B5EF4-FFF2-40B4-BE49-F238E27FC236}">
                  <a16:creationId xmlns:a16="http://schemas.microsoft.com/office/drawing/2014/main" id="{61B34723-4D06-45A0-B97C-8EA84A310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2478"/>
              <a:ext cx="1089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hr-HR" altLang="sr-Latn-RS" sz="2000" dirty="0">
                  <a:latin typeface="Arial" panose="020B0604020202020204" pitchFamily="34" charset="0"/>
                </a:rPr>
                <a:t>Komponenta 2</a:t>
              </a:r>
            </a:p>
          </p:txBody>
        </p:sp>
        <p:sp>
          <p:nvSpPr>
            <p:cNvPr id="16394" name="Rectangle 9">
              <a:extLst>
                <a:ext uri="{FF2B5EF4-FFF2-40B4-BE49-F238E27FC236}">
                  <a16:creationId xmlns:a16="http://schemas.microsoft.com/office/drawing/2014/main" id="{BF43962C-F199-4A24-BD56-99A39BBE4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3249"/>
              <a:ext cx="1089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hr-HR" altLang="sr-Latn-RS" sz="2000">
                  <a:latin typeface="Arial" panose="020B0604020202020204" pitchFamily="34" charset="0"/>
                </a:rPr>
                <a:t>Komponenta 3</a:t>
              </a:r>
            </a:p>
          </p:txBody>
        </p:sp>
        <p:sp>
          <p:nvSpPr>
            <p:cNvPr id="16395" name="Rectangle 10">
              <a:extLst>
                <a:ext uri="{FF2B5EF4-FFF2-40B4-BE49-F238E27FC236}">
                  <a16:creationId xmlns:a16="http://schemas.microsoft.com/office/drawing/2014/main" id="{EF8E3E69-3E51-42B7-8B19-E32CFF99B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2840"/>
              <a:ext cx="1089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hr-HR" altLang="sr-Latn-RS" sz="2000">
                  <a:latin typeface="Arial" panose="020B0604020202020204" pitchFamily="34" charset="0"/>
                </a:rPr>
                <a:t>Komponenta 4</a:t>
              </a:r>
            </a:p>
          </p:txBody>
        </p:sp>
        <p:sp>
          <p:nvSpPr>
            <p:cNvPr id="16396" name="Rectangle 11">
              <a:extLst>
                <a:ext uri="{FF2B5EF4-FFF2-40B4-BE49-F238E27FC236}">
                  <a16:creationId xmlns:a16="http://schemas.microsoft.com/office/drawing/2014/main" id="{380B12EA-0AC2-49FF-8E67-9470798A2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2840"/>
              <a:ext cx="1089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hr-HR" altLang="sr-Latn-RS" sz="2000">
                  <a:latin typeface="Arial" panose="020B0604020202020204" pitchFamily="34" charset="0"/>
                </a:rPr>
                <a:t>Komponenta 5</a:t>
              </a:r>
            </a:p>
          </p:txBody>
        </p:sp>
        <p:sp>
          <p:nvSpPr>
            <p:cNvPr id="16397" name="Line 12">
              <a:extLst>
                <a:ext uri="{FF2B5EF4-FFF2-40B4-BE49-F238E27FC236}">
                  <a16:creationId xmlns:a16="http://schemas.microsoft.com/office/drawing/2014/main" id="{58F4E609-C0EB-4E13-AB0E-84A85E6F53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9" y="2614"/>
              <a:ext cx="226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16398" name="Line 13">
              <a:extLst>
                <a:ext uri="{FF2B5EF4-FFF2-40B4-BE49-F238E27FC236}">
                  <a16:creationId xmlns:a16="http://schemas.microsoft.com/office/drawing/2014/main" id="{F858F626-B2DE-4556-A036-DB4CC0036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3022"/>
              <a:ext cx="226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16399" name="Line 14">
              <a:extLst>
                <a:ext uri="{FF2B5EF4-FFF2-40B4-BE49-F238E27FC236}">
                  <a16:creationId xmlns:a16="http://schemas.microsoft.com/office/drawing/2014/main" id="{C90C237E-85E2-4B25-AE49-D543F3765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2568"/>
              <a:ext cx="227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16400" name="Line 15">
              <a:extLst>
                <a:ext uri="{FF2B5EF4-FFF2-40B4-BE49-F238E27FC236}">
                  <a16:creationId xmlns:a16="http://schemas.microsoft.com/office/drawing/2014/main" id="{E572D1C4-3866-4B66-8E37-C228000D2C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4" y="3022"/>
              <a:ext cx="22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16401" name="Line 16">
              <a:extLst>
                <a:ext uri="{FF2B5EF4-FFF2-40B4-BE49-F238E27FC236}">
                  <a16:creationId xmlns:a16="http://schemas.microsoft.com/office/drawing/2014/main" id="{C7D7330A-D58B-4E20-8222-E5717553B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2976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16391" name="Text Box 18">
            <a:extLst>
              <a:ext uri="{FF2B5EF4-FFF2-40B4-BE49-F238E27FC236}">
                <a16:creationId xmlns:a16="http://schemas.microsoft.com/office/drawing/2014/main" id="{ED7337CB-98F8-450D-866C-8952FDBDA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5435178"/>
            <a:ext cx="8372475" cy="9461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>
            <a:norm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800">
                <a:latin typeface="Calibri" pitchFamily="34" charset="0"/>
                <a:cs typeface="Calibri" pitchFamily="34" charset="0"/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sz="160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sz="140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sz="140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sz="1200"/>
            </a:lvl9pPr>
          </a:lstStyle>
          <a:p>
            <a:r>
              <a:rPr lang="hr-HR" altLang="sr-Latn-RS" sz="2400" dirty="0">
                <a:latin typeface="Arial" panose="020B0604020202020204" pitchFamily="34" charset="0"/>
                <a:cs typeface="Arial" panose="020B0604020202020204" pitchFamily="34" charset="0"/>
              </a:rPr>
              <a:t>Napomena: Sustav je u funkciji ako postoji barem jedan put od početka do kraja.</a:t>
            </a:r>
          </a:p>
        </p:txBody>
      </p:sp>
    </p:spTree>
    <p:extLst>
      <p:ext uri="{BB962C8B-B14F-4D97-AF65-F5344CB8AC3E}">
        <p14:creationId xmlns:p14="http://schemas.microsoft.com/office/powerpoint/2010/main" val="3744694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3B9D6EAD-F1E9-47F4-AB46-2E1FF8119A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088E59-A9B8-496F-952A-1821652BB44B}" type="slidenum">
              <a:rPr lang="hr-HR" altLang="sr-Latn-R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hr-HR" altLang="sr-Latn-RS" sz="1200">
              <a:latin typeface="Arial" panose="020B0604020202020204" pitchFamily="34" charset="0"/>
            </a:endParaRPr>
          </a:p>
        </p:txBody>
      </p:sp>
      <p:sp>
        <p:nvSpPr>
          <p:cNvPr id="18436" name="Text Box 3">
            <a:extLst>
              <a:ext uri="{FF2B5EF4-FFF2-40B4-BE49-F238E27FC236}">
                <a16:creationId xmlns:a16="http://schemas.microsoft.com/office/drawing/2014/main" id="{86E5F8B5-82D3-48AB-9A2E-5D07BFB35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013" y="80803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r-HR" altLang="sr-Latn-RS" sz="1600">
              <a:latin typeface="Arial" panose="020B0604020202020204" pitchFamily="34" charset="0"/>
            </a:endParaRPr>
          </a:p>
        </p:txBody>
      </p:sp>
      <p:grpSp>
        <p:nvGrpSpPr>
          <p:cNvPr id="18438" name="Group 11">
            <a:extLst>
              <a:ext uri="{FF2B5EF4-FFF2-40B4-BE49-F238E27FC236}">
                <a16:creationId xmlns:a16="http://schemas.microsoft.com/office/drawing/2014/main" id="{A8CFA5E9-B7C2-4D53-B567-4F0E4365A240}"/>
              </a:ext>
            </a:extLst>
          </p:cNvPr>
          <p:cNvGrpSpPr>
            <a:grpSpLocks/>
          </p:cNvGrpSpPr>
          <p:nvPr/>
        </p:nvGrpSpPr>
        <p:grpSpPr bwMode="auto">
          <a:xfrm>
            <a:off x="2443163" y="1220109"/>
            <a:ext cx="6243637" cy="901437"/>
            <a:chOff x="521" y="1026"/>
            <a:chExt cx="3130" cy="363"/>
          </a:xfrm>
        </p:grpSpPr>
        <p:sp>
          <p:nvSpPr>
            <p:cNvPr id="18440" name="Rectangle 5">
              <a:extLst>
                <a:ext uri="{FF2B5EF4-FFF2-40B4-BE49-F238E27FC236}">
                  <a16:creationId xmlns:a16="http://schemas.microsoft.com/office/drawing/2014/main" id="{BB642418-BD94-4FD4-9D00-AA62A4B19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1026"/>
              <a:ext cx="635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hr-HR" altLang="sr-Latn-RS" sz="2800" dirty="0">
                  <a:latin typeface="Arial" panose="020B0604020202020204" pitchFamily="34" charset="0"/>
                </a:rPr>
                <a:t>K1</a:t>
              </a:r>
            </a:p>
          </p:txBody>
        </p:sp>
        <p:sp>
          <p:nvSpPr>
            <p:cNvPr id="18441" name="Rectangle 6">
              <a:extLst>
                <a:ext uri="{FF2B5EF4-FFF2-40B4-BE49-F238E27FC236}">
                  <a16:creationId xmlns:a16="http://schemas.microsoft.com/office/drawing/2014/main" id="{0D42D076-BA85-4FD8-AB45-2C116A49C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026"/>
              <a:ext cx="635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hr-HR" altLang="sr-Latn-RS" sz="2800" dirty="0">
                  <a:latin typeface="Arial" panose="020B0604020202020204" pitchFamily="34" charset="0"/>
                </a:rPr>
                <a:t>K2</a:t>
              </a:r>
            </a:p>
          </p:txBody>
        </p:sp>
        <p:sp>
          <p:nvSpPr>
            <p:cNvPr id="18442" name="Rectangle 7">
              <a:extLst>
                <a:ext uri="{FF2B5EF4-FFF2-40B4-BE49-F238E27FC236}">
                  <a16:creationId xmlns:a16="http://schemas.microsoft.com/office/drawing/2014/main" id="{C55119E7-C29D-45A7-A61B-AE988C150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1026"/>
              <a:ext cx="635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hr-HR" altLang="sr-Latn-RS" sz="2800">
                  <a:latin typeface="Arial" panose="020B0604020202020204" pitchFamily="34" charset="0"/>
                </a:rPr>
                <a:t>Kn</a:t>
              </a:r>
            </a:p>
          </p:txBody>
        </p:sp>
        <p:sp>
          <p:nvSpPr>
            <p:cNvPr id="18443" name="Line 8">
              <a:extLst>
                <a:ext uri="{FF2B5EF4-FFF2-40B4-BE49-F238E27FC236}">
                  <a16:creationId xmlns:a16="http://schemas.microsoft.com/office/drawing/2014/main" id="{2ABB3803-7CC3-4024-8201-5DCEF757B1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6" y="1207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18444" name="Line 10">
              <a:extLst>
                <a:ext uri="{FF2B5EF4-FFF2-40B4-BE49-F238E27FC236}">
                  <a16:creationId xmlns:a16="http://schemas.microsoft.com/office/drawing/2014/main" id="{50B8C2A0-1C94-4E9E-94EB-F6C43C350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4" y="1207"/>
              <a:ext cx="862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18439" name="Text Box 12">
            <a:extLst>
              <a:ext uri="{FF2B5EF4-FFF2-40B4-BE49-F238E27FC236}">
                <a16:creationId xmlns:a16="http://schemas.microsoft.com/office/drawing/2014/main" id="{FB2B61F1-5D17-4928-9C70-41F5E0CF5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616" y="2293442"/>
            <a:ext cx="8914768" cy="407803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>
            <a:norm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>
                <a:latin typeface="Calibri" pitchFamily="34" charset="0"/>
                <a:cs typeface="Calibri" pitchFamily="34" charset="0"/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sz="160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sz="140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sz="140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sz="1200"/>
            </a:lvl9pPr>
          </a:lstStyle>
          <a:p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Svaka od komponenti K1, K2, … Kn mora raditi da bi sustav bio u funkciji</a:t>
            </a:r>
          </a:p>
          <a:p>
            <a:r>
              <a:rPr lang="hr-HR" alt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Ukupna pouzdanost sustava </a:t>
            </a:r>
            <a:r>
              <a:rPr lang="hr-HR" altLang="sr-Latn-RS" b="1" dirty="0" err="1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hr-HR" alt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je:</a:t>
            </a:r>
          </a:p>
          <a:p>
            <a:endParaRPr lang="hr-HR" alt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altLang="sr-Latn-R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hr-HR" altLang="sr-Latn-RS" sz="2800" b="1" dirty="0">
                <a:latin typeface="Arial" panose="020B0604020202020204" pitchFamily="34" charset="0"/>
                <a:cs typeface="Arial" panose="020B0604020202020204" pitchFamily="34" charset="0"/>
              </a:rPr>
              <a:t> = R1 x R2 x …</a:t>
            </a:r>
            <a:r>
              <a:rPr lang="hr-HR" altLang="sr-Latn-R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Ri</a:t>
            </a:r>
            <a:r>
              <a:rPr lang="hr-HR" altLang="sr-Latn-RS" sz="2800" b="1" dirty="0">
                <a:latin typeface="Arial" panose="020B0604020202020204" pitchFamily="34" charset="0"/>
                <a:cs typeface="Arial" panose="020B0604020202020204" pitchFamily="34" charset="0"/>
              </a:rPr>
              <a:t> x …. Rn</a:t>
            </a:r>
          </a:p>
          <a:p>
            <a:endParaRPr lang="hr-HR" alt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Gdje su: R1, R2, </a:t>
            </a:r>
            <a:r>
              <a:rPr lang="hr-HR" alt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Ri</a:t>
            </a: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 pouzdanosti pojedinih komponenata</a:t>
            </a:r>
          </a:p>
          <a:p>
            <a:r>
              <a:rPr lang="hr-HR" alt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Pouzdanost sustava uvijek je manja od najmanje pouzdanosti  u seriji.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58B4D9E-A505-4256-BF2D-B385D7AD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6" y="169968"/>
            <a:ext cx="8229600" cy="710495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Sustav u seriji</a:t>
            </a:r>
          </a:p>
        </p:txBody>
      </p:sp>
    </p:spTree>
    <p:extLst>
      <p:ext uri="{BB962C8B-B14F-4D97-AF65-F5344CB8AC3E}">
        <p14:creationId xmlns:p14="http://schemas.microsoft.com/office/powerpoint/2010/main" val="378506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F1CCB576-6AAC-49A1-8154-D819764C4D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AFED67-BFF2-4056-A953-3AE7B274CD86}" type="slidenum">
              <a:rPr lang="hr-HR" altLang="sr-Latn-R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hr-HR" altLang="sr-Latn-RS" sz="1200">
              <a:latin typeface="Arial" panose="020B0604020202020204" pitchFamily="34" charset="0"/>
            </a:endParaRPr>
          </a:p>
        </p:txBody>
      </p:sp>
      <p:sp>
        <p:nvSpPr>
          <p:cNvPr id="20484" name="Text Box 3">
            <a:extLst>
              <a:ext uri="{FF2B5EF4-FFF2-40B4-BE49-F238E27FC236}">
                <a16:creationId xmlns:a16="http://schemas.microsoft.com/office/drawing/2014/main" id="{D32A02DB-F5A8-4F10-8010-F55D48936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013" y="80803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r-HR" altLang="sr-Latn-RS" sz="1600">
              <a:latin typeface="Arial" panose="020B0604020202020204" pitchFamily="34" charset="0"/>
            </a:endParaRP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920C6F03-8973-4951-8FD3-605EBF147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7681" y="254845"/>
            <a:ext cx="80851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hr-HR" altLang="sr-Latn-RS" sz="40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Primjer</a:t>
            </a:r>
            <a:endParaRPr lang="hr-HR" altLang="sr-Latn-R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6" name="Text Box 6">
            <a:extLst>
              <a:ext uri="{FF2B5EF4-FFF2-40B4-BE49-F238E27FC236}">
                <a16:creationId xmlns:a16="http://schemas.microsoft.com/office/drawing/2014/main" id="{5C790990-6AC1-4085-BEC3-96EB15808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678" y="989012"/>
            <a:ext cx="9373552" cy="50609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>
            <a:norm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>
                <a:latin typeface="Calibri" pitchFamily="34" charset="0"/>
                <a:cs typeface="Calibri" pitchFamily="34" charset="0"/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sz="160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sz="140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sz="140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sz="1200"/>
            </a:lvl9pPr>
          </a:lstStyle>
          <a:p>
            <a:endParaRPr lang="hr-HR" altLang="sr-Latn-RS" sz="2800" dirty="0"/>
          </a:p>
          <a:p>
            <a:r>
              <a:rPr lang="hr-HR" altLang="sr-Latn-RS" sz="2800" dirty="0">
                <a:latin typeface="Arial" panose="020B0604020202020204" pitchFamily="34" charset="0"/>
                <a:cs typeface="Arial" panose="020B0604020202020204" pitchFamily="34" charset="0"/>
              </a:rPr>
              <a:t>Imamo sustav koji se sastoji od tri neovisne serijski spojene komponente čija je pouzdanost nakon t =1000 h slijedeća: R1(t)=95%, R2(t)=90% i R3(t)=85%. Kolika je pouzdanost sustava nakon vremena t?</a:t>
            </a:r>
          </a:p>
          <a:p>
            <a:endParaRPr lang="hr-HR" altLang="sr-Latn-R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altLang="sr-Latn-RS" sz="2800" dirty="0" err="1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hr-HR" altLang="sr-Latn-RS" sz="2800" dirty="0">
                <a:latin typeface="Arial" panose="020B0604020202020204" pitchFamily="34" charset="0"/>
                <a:cs typeface="Arial" panose="020B0604020202020204" pitchFamily="34" charset="0"/>
              </a:rPr>
              <a:t> = R1 x R2 x R3 = 0,95x 0,90 x 0,85 = 0,72675 = 72,68 %</a:t>
            </a:r>
          </a:p>
        </p:txBody>
      </p:sp>
    </p:spTree>
    <p:extLst>
      <p:ext uri="{BB962C8B-B14F-4D97-AF65-F5344CB8AC3E}">
        <p14:creationId xmlns:p14="http://schemas.microsoft.com/office/powerpoint/2010/main" val="366785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7C3E5637-8F72-40B8-8034-364D52FD38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D50A05-C9BC-48CB-B16B-D4A4D3CDC7F9}" type="slidenum">
              <a:rPr lang="hr-HR" altLang="sr-Latn-R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hr-HR" altLang="sr-Latn-RS" sz="1200">
              <a:latin typeface="Arial" panose="020B0604020202020204" pitchFamily="34" charset="0"/>
            </a:endParaRPr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5C105C24-CC4C-451C-ABF3-3553606F1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555625"/>
            <a:ext cx="85693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-"/>
            </a:pPr>
            <a:endParaRPr lang="hr-HR" altLang="sr-Latn-RS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-"/>
            </a:pPr>
            <a:endParaRPr lang="hr-HR" altLang="sr-Latn-RS" sz="16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-"/>
            </a:pPr>
            <a:endParaRPr lang="hr-HR" altLang="sr-Latn-RS" sz="1600">
              <a:latin typeface="Arial" panose="020B0604020202020204" pitchFamily="34" charset="0"/>
            </a:endParaRPr>
          </a:p>
        </p:txBody>
      </p:sp>
      <p:sp>
        <p:nvSpPr>
          <p:cNvPr id="22532" name="Text Box 3">
            <a:extLst>
              <a:ext uri="{FF2B5EF4-FFF2-40B4-BE49-F238E27FC236}">
                <a16:creationId xmlns:a16="http://schemas.microsoft.com/office/drawing/2014/main" id="{EE33E4B5-79CB-4741-A91C-544C04143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013" y="80803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r-HR" altLang="sr-Latn-RS" sz="1600">
              <a:latin typeface="Arial" panose="020B0604020202020204" pitchFamily="34" charset="0"/>
            </a:endParaRPr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1AD35282-3AA0-4356-AF8B-28D42101B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6" y="633526"/>
            <a:ext cx="9210727" cy="1354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>
            <a:normAutofit lnSpcReduction="10000"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>
                <a:latin typeface="Calibri" pitchFamily="34" charset="0"/>
                <a:cs typeface="Calibri" pitchFamily="34" charset="0"/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sz="160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sz="140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sz="140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sz="1200"/>
            </a:lvl9pPr>
          </a:lstStyle>
          <a:p>
            <a:pPr marL="0" indent="0">
              <a:buNone/>
            </a:pPr>
            <a:endParaRPr lang="hr-HR" altLang="sr-Latn-RS" sz="2800" dirty="0"/>
          </a:p>
          <a:p>
            <a:r>
              <a:rPr lang="hr-HR" altLang="sr-Latn-RS" sz="2800" dirty="0">
                <a:latin typeface="Arial" panose="020B0604020202020204" pitchFamily="34" charset="0"/>
                <a:cs typeface="Arial" panose="020B0604020202020204" pitchFamily="34" charset="0"/>
              </a:rPr>
              <a:t>Redundantne komponente osiguravaju veću pouzdanost</a:t>
            </a:r>
          </a:p>
        </p:txBody>
      </p:sp>
      <p:grpSp>
        <p:nvGrpSpPr>
          <p:cNvPr id="22534" name="Group 16">
            <a:extLst>
              <a:ext uri="{FF2B5EF4-FFF2-40B4-BE49-F238E27FC236}">
                <a16:creationId xmlns:a16="http://schemas.microsoft.com/office/drawing/2014/main" id="{B5844097-7B85-44B6-8531-3548185290FE}"/>
              </a:ext>
            </a:extLst>
          </p:cNvPr>
          <p:cNvGrpSpPr>
            <a:grpSpLocks/>
          </p:cNvGrpSpPr>
          <p:nvPr/>
        </p:nvGrpSpPr>
        <p:grpSpPr bwMode="auto">
          <a:xfrm>
            <a:off x="4509987" y="2049159"/>
            <a:ext cx="2616398" cy="2759681"/>
            <a:chOff x="567" y="1842"/>
            <a:chExt cx="1542" cy="1543"/>
          </a:xfrm>
        </p:grpSpPr>
        <p:sp>
          <p:nvSpPr>
            <p:cNvPr id="22536" name="Rectangle 5">
              <a:extLst>
                <a:ext uri="{FF2B5EF4-FFF2-40B4-BE49-F238E27FC236}">
                  <a16:creationId xmlns:a16="http://schemas.microsoft.com/office/drawing/2014/main" id="{834ED539-D677-4C75-B475-FBFB639E3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1842"/>
              <a:ext cx="816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hr-HR" altLang="sr-Latn-RS" sz="2800">
                  <a:latin typeface="Arial" panose="020B0604020202020204" pitchFamily="34" charset="0"/>
                </a:rPr>
                <a:t>K1</a:t>
              </a:r>
            </a:p>
          </p:txBody>
        </p:sp>
        <p:sp>
          <p:nvSpPr>
            <p:cNvPr id="22537" name="Rectangle 6">
              <a:extLst>
                <a:ext uri="{FF2B5EF4-FFF2-40B4-BE49-F238E27FC236}">
                  <a16:creationId xmlns:a16="http://schemas.microsoft.com/office/drawing/2014/main" id="{32D98803-8342-4947-811E-A1C681BB9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2432"/>
              <a:ext cx="816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hr-HR" altLang="sr-Latn-RS" sz="2800">
                  <a:latin typeface="Arial" panose="020B0604020202020204" pitchFamily="34" charset="0"/>
                </a:rPr>
                <a:t>K2</a:t>
              </a:r>
            </a:p>
          </p:txBody>
        </p:sp>
        <p:sp>
          <p:nvSpPr>
            <p:cNvPr id="22538" name="Rectangle 7">
              <a:extLst>
                <a:ext uri="{FF2B5EF4-FFF2-40B4-BE49-F238E27FC236}">
                  <a16:creationId xmlns:a16="http://schemas.microsoft.com/office/drawing/2014/main" id="{D4AFFB1A-D74C-4497-8703-23409F6DE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3067"/>
              <a:ext cx="816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Garamond" panose="020204040303010108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Garamond" panose="020204040303010108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Garamond" panose="020204040303010108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Garamond" panose="020204040303010108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hr-HR" altLang="sr-Latn-RS" sz="2800">
                  <a:latin typeface="Arial" panose="020B0604020202020204" pitchFamily="34" charset="0"/>
                </a:rPr>
                <a:t>K3</a:t>
              </a:r>
            </a:p>
          </p:txBody>
        </p:sp>
        <p:sp>
          <p:nvSpPr>
            <p:cNvPr id="22539" name="Line 8">
              <a:extLst>
                <a:ext uri="{FF2B5EF4-FFF2-40B4-BE49-F238E27FC236}">
                  <a16:creationId xmlns:a16="http://schemas.microsoft.com/office/drawing/2014/main" id="{A8A301F4-94F5-4860-A3A0-7739B5C39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1979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22540" name="Line 9">
              <a:extLst>
                <a:ext uri="{FF2B5EF4-FFF2-40B4-BE49-F238E27FC236}">
                  <a16:creationId xmlns:a16="http://schemas.microsoft.com/office/drawing/2014/main" id="{EB286731-BEF5-4B9C-B2B5-1F8DEC79D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1979"/>
              <a:ext cx="0" cy="1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22541" name="Line 10">
              <a:extLst>
                <a:ext uri="{FF2B5EF4-FFF2-40B4-BE49-F238E27FC236}">
                  <a16:creationId xmlns:a16="http://schemas.microsoft.com/office/drawing/2014/main" id="{4E40ACD1-D8AB-4ADE-BBCA-7902F9D2A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3203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22542" name="Line 11">
              <a:extLst>
                <a:ext uri="{FF2B5EF4-FFF2-40B4-BE49-F238E27FC236}">
                  <a16:creationId xmlns:a16="http://schemas.microsoft.com/office/drawing/2014/main" id="{8FBCF24D-5C90-479F-BF1C-A08FA8191A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7" y="2614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22543" name="Line 12">
              <a:extLst>
                <a:ext uri="{FF2B5EF4-FFF2-40B4-BE49-F238E27FC236}">
                  <a16:creationId xmlns:a16="http://schemas.microsoft.com/office/drawing/2014/main" id="{9CB02302-3160-470A-9274-9C95981C49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1979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22544" name="Line 13">
              <a:extLst>
                <a:ext uri="{FF2B5EF4-FFF2-40B4-BE49-F238E27FC236}">
                  <a16:creationId xmlns:a16="http://schemas.microsoft.com/office/drawing/2014/main" id="{19C17728-17FA-4293-A84B-1A4B6C1111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1979"/>
              <a:ext cx="0" cy="1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22545" name="Line 14">
              <a:extLst>
                <a:ext uri="{FF2B5EF4-FFF2-40B4-BE49-F238E27FC236}">
                  <a16:creationId xmlns:a16="http://schemas.microsoft.com/office/drawing/2014/main" id="{850EF206-5404-4AA7-AD88-BA7B48589F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46" y="3203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22546" name="Line 15">
              <a:extLst>
                <a:ext uri="{FF2B5EF4-FFF2-40B4-BE49-F238E27FC236}">
                  <a16:creationId xmlns:a16="http://schemas.microsoft.com/office/drawing/2014/main" id="{CEEE1857-5279-4076-8013-87BD63A68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568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22535" name="Text Box 17">
            <a:extLst>
              <a:ext uri="{FF2B5EF4-FFF2-40B4-BE49-F238E27FC236}">
                <a16:creationId xmlns:a16="http://schemas.microsoft.com/office/drawing/2014/main" id="{6443CDC1-E6AD-4E81-ADD0-2EB4EC3A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5013325"/>
            <a:ext cx="7310120" cy="13430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>
            <a:norm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>
                <a:latin typeface="Calibri" pitchFamily="34" charset="0"/>
                <a:cs typeface="Calibri" pitchFamily="34" charset="0"/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sz="160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sz="140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sz="140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sz="1200"/>
            </a:lvl9pPr>
          </a:lstStyle>
          <a:p>
            <a:r>
              <a:rPr lang="hr-HR" altLang="sr-Latn-RS" sz="3200" dirty="0">
                <a:latin typeface="Arial" panose="020B0604020202020204" pitchFamily="34" charset="0"/>
                <a:cs typeface="Arial" panose="020B0604020202020204" pitchFamily="34" charset="0"/>
              </a:rPr>
              <a:t>Uvodimo pojam nepouzdanosti (F)</a:t>
            </a:r>
          </a:p>
          <a:p>
            <a:pPr marL="0" indent="0" algn="ctr">
              <a:buNone/>
            </a:pPr>
            <a:r>
              <a:rPr lang="hr-HR" altLang="sr-Latn-RS" sz="3200" b="1" dirty="0">
                <a:latin typeface="Arial" panose="020B0604020202020204" pitchFamily="34" charset="0"/>
                <a:cs typeface="Arial" panose="020B0604020202020204" pitchFamily="34" charset="0"/>
              </a:rPr>
              <a:t>F = 1 – R =&gt; R = 1 – F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D9AD7A-2C12-4EE8-A52A-CC503186A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6" y="164117"/>
            <a:ext cx="8229600" cy="736758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Sustav u paraleli</a:t>
            </a:r>
          </a:p>
        </p:txBody>
      </p:sp>
    </p:spTree>
    <p:extLst>
      <p:ext uri="{BB962C8B-B14F-4D97-AF65-F5344CB8AC3E}">
        <p14:creationId xmlns:p14="http://schemas.microsoft.com/office/powerpoint/2010/main" val="3923245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5465E680-F88C-4D52-9E33-1BEF1503A5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AC4117-A08E-49F2-8D69-43F746CD604B}" type="slidenum">
              <a:rPr lang="hr-HR" altLang="sr-Latn-R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hr-HR" altLang="sr-Latn-RS" sz="1200">
              <a:latin typeface="Arial" panose="020B0604020202020204" pitchFamily="34" charset="0"/>
            </a:endParaRPr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0646E905-79B1-4E5C-8E8D-E761945FA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679" y="216903"/>
            <a:ext cx="85693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hr-HR" sz="4000" b="1" dirty="0">
                <a:latin typeface="Arial" charset="0"/>
              </a:rPr>
              <a:t>Pouzdanost sustava u paraleli</a:t>
            </a:r>
            <a:endParaRPr lang="hr-HR" altLang="sr-Latn-RS" sz="4000" b="1" dirty="0">
              <a:latin typeface="Arial" panose="020B0604020202020204" pitchFamily="34" charset="0"/>
            </a:endParaRPr>
          </a:p>
        </p:txBody>
      </p:sp>
      <p:sp>
        <p:nvSpPr>
          <p:cNvPr id="24580" name="Text Box 3">
            <a:extLst>
              <a:ext uri="{FF2B5EF4-FFF2-40B4-BE49-F238E27FC236}">
                <a16:creationId xmlns:a16="http://schemas.microsoft.com/office/drawing/2014/main" id="{93745BC5-1FFD-4B8C-8670-8A9A02668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013" y="80803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r-HR" altLang="sr-Latn-RS" sz="1600">
              <a:latin typeface="Arial" panose="020B0604020202020204" pitchFamily="34" charset="0"/>
            </a:endParaRPr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9942BD77-CCC1-459D-82A1-DD22700B2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861" y="1604012"/>
            <a:ext cx="8640959" cy="50370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>
            <a:norm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800">
                <a:latin typeface="Calibri" pitchFamily="34" charset="0"/>
                <a:cs typeface="Calibri" pitchFamily="34" charset="0"/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sz="160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sz="140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sz="140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sz="1200"/>
            </a:lvl9pPr>
          </a:lstStyle>
          <a:p>
            <a:pPr marL="0" indent="0">
              <a:buNone/>
            </a:pP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r>
              <a:rPr lang="hr-HR" alt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 = 1 – </a:t>
            </a:r>
            <a:r>
              <a:rPr lang="hr-HR" alt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Fs</a:t>
            </a: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 = 1 – F1 x F2 x … </a:t>
            </a:r>
            <a:r>
              <a:rPr lang="hr-HR" alt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Fn</a:t>
            </a: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                  	= 1 – [ (1- R1) x (1- R2) x … (1- Rn)]</a:t>
            </a:r>
          </a:p>
          <a:p>
            <a:pPr marL="0" indent="0">
              <a:buNone/>
            </a:pPr>
            <a:endParaRPr lang="hr-HR" alt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alt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Sustavi u paraleli koristi se u avio industriji, medicini i računalstvu</a:t>
            </a:r>
          </a:p>
          <a:p>
            <a:endParaRPr lang="hr-HR" alt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alt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181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DF936-360A-B1C0-61FD-1D581A98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3E8ED9B1-3D9D-0318-0CA4-7A694FC463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AC4117-A08E-49F2-8D69-43F746CD604B}" type="slidenum">
              <a:rPr lang="hr-HR" altLang="sr-Latn-RS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hr-HR" altLang="sr-Latn-RS" sz="1200">
              <a:latin typeface="Arial" panose="020B0604020202020204" pitchFamily="34" charset="0"/>
            </a:endParaRPr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67F67758-6F0D-AC33-1600-C87BDE56B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679" y="216903"/>
            <a:ext cx="85693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hr-HR" sz="4000" b="1" dirty="0">
                <a:latin typeface="Arial" charset="0"/>
              </a:rPr>
              <a:t>Pouzdanost sustava u paraleli</a:t>
            </a:r>
            <a:endParaRPr lang="hr-HR" altLang="sr-Latn-RS" sz="4000" b="1" dirty="0">
              <a:latin typeface="Arial" panose="020B0604020202020204" pitchFamily="34" charset="0"/>
            </a:endParaRPr>
          </a:p>
        </p:txBody>
      </p:sp>
      <p:sp>
        <p:nvSpPr>
          <p:cNvPr id="24580" name="Text Box 3">
            <a:extLst>
              <a:ext uri="{FF2B5EF4-FFF2-40B4-BE49-F238E27FC236}">
                <a16:creationId xmlns:a16="http://schemas.microsoft.com/office/drawing/2014/main" id="{C50E74BF-DB0F-5072-A43A-F7545E08B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013" y="80803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r-HR" altLang="sr-Latn-RS" sz="1600">
              <a:latin typeface="Arial" panose="020B0604020202020204" pitchFamily="34" charset="0"/>
            </a:endParaRPr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433CF38B-5F18-D9DE-978D-8605B8BE6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861" y="1501827"/>
            <a:ext cx="8640959" cy="50370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>
            <a:norm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800">
                <a:latin typeface="Calibri" pitchFamily="34" charset="0"/>
                <a:cs typeface="Calibri" pitchFamily="34" charset="0"/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sz="160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sz="140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sz="140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sz="1200"/>
            </a:lvl9pPr>
          </a:lstStyle>
          <a:p>
            <a:pPr marL="0" indent="0">
              <a:buNone/>
            </a:pP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Imamo sustav koji se sastoji od tri neovisne paralelno spojene komponente čija je pouzdanost nakon t =1000 h slijedeća: R1(t)=95%, R2(t)=90% i R3(t)=85%. Kolika je pouzdanost sustava nakon vremena t?</a:t>
            </a:r>
          </a:p>
          <a:p>
            <a:pPr marL="0" indent="0" algn="ctr">
              <a:buNone/>
            </a:pPr>
            <a:r>
              <a:rPr lang="hr-HR" alt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 = 1 – </a:t>
            </a:r>
            <a:r>
              <a:rPr lang="hr-HR" alt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Fs</a:t>
            </a: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 = 1 – F1 x F2 x … </a:t>
            </a:r>
            <a:r>
              <a:rPr lang="hr-HR" alt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Fn</a:t>
            </a: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ctr">
              <a:buNone/>
            </a:pP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= 1 – [ (1- R1) x (1- R2) x … (1- Rn)]</a:t>
            </a:r>
          </a:p>
          <a:p>
            <a:pPr marL="0" indent="0" algn="ctr">
              <a:buNone/>
            </a:pP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= 1 – [ (1- 0,95) x (1- 0,90) x (1- 0,85)]</a:t>
            </a:r>
          </a:p>
          <a:p>
            <a:pPr marL="0" indent="0" algn="ctr">
              <a:buNone/>
            </a:pP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=0,99925=99,925%</a:t>
            </a:r>
          </a:p>
          <a:p>
            <a:pPr marL="0" indent="0">
              <a:buNone/>
            </a:pPr>
            <a:endParaRPr lang="hr-HR" alt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alt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798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3">
            <a:extLst>
              <a:ext uri="{FF2B5EF4-FFF2-40B4-BE49-F238E27FC236}">
                <a16:creationId xmlns:a16="http://schemas.microsoft.com/office/drawing/2014/main" id="{C227B4A0-6917-4C6A-B9E1-D0B16DD88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013" y="80803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r-HR" altLang="sr-Latn-RS" sz="1600">
              <a:latin typeface="Arial" panose="020B0604020202020204" pitchFamily="34" charset="0"/>
            </a:endParaRPr>
          </a:p>
        </p:txBody>
      </p:sp>
      <p:sp>
        <p:nvSpPr>
          <p:cNvPr id="26630" name="Rectangle 5">
            <a:extLst>
              <a:ext uri="{FF2B5EF4-FFF2-40B4-BE49-F238E27FC236}">
                <a16:creationId xmlns:a16="http://schemas.microsoft.com/office/drawing/2014/main" id="{E3AB7E4E-A114-4BC4-9D6C-E0FB9A4B7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2834" y="1557339"/>
            <a:ext cx="1298575" cy="4651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hr-HR" altLang="sr-Latn-RS" sz="2800">
                <a:latin typeface="Arial" panose="020B0604020202020204" pitchFamily="34" charset="0"/>
              </a:rPr>
              <a:t>K1</a:t>
            </a:r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C5E69ABE-1AE3-4876-B9EE-06D9B8D9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4021" y="1557339"/>
            <a:ext cx="1298575" cy="4651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hr-HR" altLang="sr-Latn-RS" sz="2800">
                <a:latin typeface="Arial" panose="020B0604020202020204" pitchFamily="34" charset="0"/>
              </a:rPr>
              <a:t>K2</a:t>
            </a:r>
          </a:p>
        </p:txBody>
      </p:sp>
      <p:sp>
        <p:nvSpPr>
          <p:cNvPr id="26632" name="Rectangle 7">
            <a:extLst>
              <a:ext uri="{FF2B5EF4-FFF2-40B4-BE49-F238E27FC236}">
                <a16:creationId xmlns:a16="http://schemas.microsoft.com/office/drawing/2014/main" id="{3B9CE287-ED6F-404F-A61E-D10CCE56C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971" y="2819400"/>
            <a:ext cx="1298575" cy="4651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hr-HR" altLang="sr-Latn-RS" sz="2800">
                <a:latin typeface="Arial" panose="020B0604020202020204" pitchFamily="34" charset="0"/>
              </a:rPr>
              <a:t>K3</a:t>
            </a:r>
          </a:p>
        </p:txBody>
      </p:sp>
      <p:sp>
        <p:nvSpPr>
          <p:cNvPr id="26633" name="Line 8">
            <a:extLst>
              <a:ext uri="{FF2B5EF4-FFF2-40B4-BE49-F238E27FC236}">
                <a16:creationId xmlns:a16="http://schemas.microsoft.com/office/drawing/2014/main" id="{B4E8530F-9BD4-4FF7-BD7A-A8D992E2D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7395" y="1755775"/>
            <a:ext cx="325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26634" name="Line 9">
            <a:extLst>
              <a:ext uri="{FF2B5EF4-FFF2-40B4-BE49-F238E27FC236}">
                <a16:creationId xmlns:a16="http://schemas.microsoft.com/office/drawing/2014/main" id="{C97C7554-77CE-4BD3-98B1-E68DABCA5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1408" y="1755775"/>
            <a:ext cx="5826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26635" name="Line 10">
            <a:extLst>
              <a:ext uri="{FF2B5EF4-FFF2-40B4-BE49-F238E27FC236}">
                <a16:creationId xmlns:a16="http://schemas.microsoft.com/office/drawing/2014/main" id="{60509FFA-B0A4-40C0-86FA-F5AAC057F4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4184" y="1755776"/>
            <a:ext cx="454025" cy="17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26636" name="Line 11">
            <a:extLst>
              <a:ext uri="{FF2B5EF4-FFF2-40B4-BE49-F238E27FC236}">
                <a16:creationId xmlns:a16="http://schemas.microsoft.com/office/drawing/2014/main" id="{F383B29A-DC03-4EE4-A2D8-E99FDB58A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7395" y="1755775"/>
            <a:ext cx="0" cy="1328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26637" name="Line 12">
            <a:extLst>
              <a:ext uri="{FF2B5EF4-FFF2-40B4-BE49-F238E27FC236}">
                <a16:creationId xmlns:a16="http://schemas.microsoft.com/office/drawing/2014/main" id="{7D89BB0A-2B5A-4B64-9695-8BFAA225C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7396" y="3084513"/>
            <a:ext cx="1298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26638" name="Line 13">
            <a:extLst>
              <a:ext uri="{FF2B5EF4-FFF2-40B4-BE49-F238E27FC236}">
                <a16:creationId xmlns:a16="http://schemas.microsoft.com/office/drawing/2014/main" id="{2830E406-77FF-4AEE-8C57-829C9471C1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4546" y="3068639"/>
            <a:ext cx="1363663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26639" name="Line 14">
            <a:extLst>
              <a:ext uri="{FF2B5EF4-FFF2-40B4-BE49-F238E27FC236}">
                <a16:creationId xmlns:a16="http://schemas.microsoft.com/office/drawing/2014/main" id="{79D1CDF0-2062-40DA-9979-FE31B8E90A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8208" y="1773238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26640" name="Text Box 16">
            <a:extLst>
              <a:ext uri="{FF2B5EF4-FFF2-40B4-BE49-F238E27FC236}">
                <a16:creationId xmlns:a16="http://schemas.microsoft.com/office/drawing/2014/main" id="{5988BC72-6556-4854-A41F-977752132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9315" y="3865562"/>
            <a:ext cx="6146798" cy="205560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>
            <a:normAutofit fontScale="92500" lnSpcReduction="20000"/>
          </a:bodyPr>
          <a:lstStyle>
            <a:defPPr>
              <a:defRPr lang="sr-Latn-RS"/>
            </a:defPPr>
            <a:lvl1pPr indent="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800">
                <a:latin typeface="Calibri" pitchFamily="34" charset="0"/>
                <a:cs typeface="Calibri" pitchFamily="34" charset="0"/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sz="160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sz="140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sz="140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sz="1200"/>
            </a:lvl9pPr>
          </a:lstStyle>
          <a:p>
            <a:pPr algn="ctr"/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R12 = R1 x R2 = 0,95 x 0,90=0,855</a:t>
            </a:r>
          </a:p>
          <a:p>
            <a:pPr algn="ctr"/>
            <a:endParaRPr lang="hr-HR" alt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hr-HR" alt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 = 1- [(1- R12) x (1- R3)] =</a:t>
            </a:r>
          </a:p>
          <a:p>
            <a:pPr algn="ctr"/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= 1- [(1- 0,855) x (1- 0,85)] </a:t>
            </a:r>
          </a:p>
          <a:p>
            <a:pPr algn="ctr"/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= 0,97825 =97,825%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20A30BB-A145-4FF5-9080-D1E520E8C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250" y="-40162"/>
            <a:ext cx="8229600" cy="990600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Kombinirani sustavi</a:t>
            </a:r>
          </a:p>
        </p:txBody>
      </p:sp>
    </p:spTree>
    <p:extLst>
      <p:ext uri="{BB962C8B-B14F-4D97-AF65-F5344CB8AC3E}">
        <p14:creationId xmlns:p14="http://schemas.microsoft.com/office/powerpoint/2010/main" val="205058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2E309E7A-5FAE-4B1E-A2D5-8B629CCBD5A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604010" y="1479042"/>
            <a:ext cx="8145780" cy="3566160"/>
          </a:xfrm>
        </p:spPr>
        <p:txBody>
          <a:bodyPr/>
          <a:lstStyle/>
          <a:p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Windows </a:t>
            </a:r>
            <a:r>
              <a:rPr lang="hr-HR" sz="2800" dirty="0" err="1">
                <a:latin typeface="Arial" panose="020B0604020202020204" pitchFamily="34" charset="0"/>
                <a:cs typeface="Arial" panose="020B0604020202020204" pitchFamily="34" charset="0"/>
              </a:rPr>
              <a:t>failover</a:t>
            </a: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800" dirty="0" err="1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endParaRPr lang="hr-H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Network </a:t>
            </a:r>
            <a:r>
              <a:rPr lang="hr-HR" sz="2800" dirty="0" err="1"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800" dirty="0" err="1">
                <a:latin typeface="Arial" panose="020B0604020202020204" pitchFamily="34" charset="0"/>
                <a:cs typeface="Arial" panose="020B0604020202020204" pitchFamily="34" charset="0"/>
              </a:rPr>
              <a:t>Balancing</a:t>
            </a:r>
            <a:endParaRPr lang="hr-H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hr-HR" sz="28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hr-HR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D55E60-0511-401E-A8B7-74278E984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010" y="91440"/>
            <a:ext cx="7357110" cy="775762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Domaća zadaća</a:t>
            </a:r>
          </a:p>
        </p:txBody>
      </p:sp>
    </p:spTree>
    <p:extLst>
      <p:ext uri="{BB962C8B-B14F-4D97-AF65-F5344CB8AC3E}">
        <p14:creationId xmlns:p14="http://schemas.microsoft.com/office/powerpoint/2010/main" val="1858275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299" y="194309"/>
            <a:ext cx="8739895" cy="714929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82299" y="1344890"/>
            <a:ext cx="9427661" cy="50901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U zaključku, pouzdanost sustava ključna je za osiguranje neprekinutog rada, zaštitu podataka i pružanje kvalitetnih usluga korisnicima. Razumijevanje faktora koji utječu na stabilnost sustava i primjena odgovarajućih tehnika prevencije kvarova omogućuje bolju otpornost na greške. Kroz stalno praćenje i održavanje sustava, moguće je smanjiti rizik od prekida u radu i osigurati visoku razinu dostupnosti, što je od ključne važnosti u suvremenom digitalnom svijetu.</a:t>
            </a:r>
            <a:endParaRPr lang="hr-HR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910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299" y="0"/>
            <a:ext cx="9988592" cy="1097280"/>
          </a:xfrm>
        </p:spPr>
        <p:txBody>
          <a:bodyPr vert="horz" anchor="b" anchorCtr="0">
            <a:normAutofit/>
          </a:bodyPr>
          <a:lstStyle/>
          <a:p>
            <a:endParaRPr lang="hr-HR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7F9AEB6-A31E-45E5-8531-91940CAA1DE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2231496" y="1364085"/>
            <a:ext cx="8421264" cy="40457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hr-HR" altLang="sr-Latn-RS" sz="23900" b="1" dirty="0">
                <a:latin typeface="Cochocib Script Latin Pro" panose="020B0604020202020204" pitchFamily="2" charset="0"/>
                <a:cs typeface="Calibri" pitchFamily="34" charset="0"/>
              </a:rPr>
              <a:t>KRAJ</a:t>
            </a:r>
          </a:p>
        </p:txBody>
      </p:sp>
    </p:spTree>
    <p:extLst>
      <p:ext uri="{BB962C8B-B14F-4D97-AF65-F5344CB8AC3E}">
        <p14:creationId xmlns:p14="http://schemas.microsoft.com/office/powerpoint/2010/main" val="394436241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4526B780CB7E40AAED50781EDEFDF6" ma:contentTypeVersion="3" ma:contentTypeDescription="Stvaranje novog dokumenta." ma:contentTypeScope="" ma:versionID="cb71b5a7b0bc5bc9bc84eb17535dd6ea">
  <xsd:schema xmlns:xsd="http://www.w3.org/2001/XMLSchema" xmlns:xs="http://www.w3.org/2001/XMLSchema" xmlns:p="http://schemas.microsoft.com/office/2006/metadata/properties" xmlns:ns2="c041744a-391e-4a25-927f-1fb68203ca47" targetNamespace="http://schemas.microsoft.com/office/2006/metadata/properties" ma:root="true" ma:fieldsID="cdfac31b053126c546b04e5083fe936b" ns2:_="">
    <xsd:import namespace="c041744a-391e-4a25-927f-1fb68203ca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1744a-391e-4a25-927f-1fb68203c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D5F1DA-BD6B-4AE1-B73E-F98CADABC68D}"/>
</file>

<file path=customXml/itemProps2.xml><?xml version="1.0" encoding="utf-8"?>
<ds:datastoreItem xmlns:ds="http://schemas.openxmlformats.org/officeDocument/2006/customXml" ds:itemID="{28A27355-26F5-4ECC-BF6A-707F7D23D83D}"/>
</file>

<file path=customXml/itemProps3.xml><?xml version="1.0" encoding="utf-8"?>
<ds:datastoreItem xmlns:ds="http://schemas.openxmlformats.org/officeDocument/2006/customXml" ds:itemID="{C268FD88-A003-4957-8F1E-6ED19E3B95B7}"/>
</file>

<file path=docProps/app.xml><?xml version="1.0" encoding="utf-8"?>
<Properties xmlns="http://schemas.openxmlformats.org/officeDocument/2006/extended-properties" xmlns:vt="http://schemas.openxmlformats.org/officeDocument/2006/docPropsVTypes">
  <TotalTime>14806</TotalTime>
  <Words>1290</Words>
  <Application>Microsoft Office PowerPoint</Application>
  <PresentationFormat>Široki zaslon</PresentationFormat>
  <Paragraphs>166</Paragraphs>
  <Slides>24</Slides>
  <Notes>22</Notes>
  <HiddenSlides>0</HiddenSlides>
  <MMClips>0</MMClips>
  <ScaleCrop>false</ScaleCrop>
  <HeadingPairs>
    <vt:vector size="6" baseType="variant">
      <vt:variant>
        <vt:lpstr>Korišteni fontovi</vt:lpstr>
      </vt:variant>
      <vt:variant>
        <vt:i4>5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24</vt:i4>
      </vt:variant>
    </vt:vector>
  </HeadingPairs>
  <TitlesOfParts>
    <vt:vector size="30" baseType="lpstr">
      <vt:lpstr>Arial</vt:lpstr>
      <vt:lpstr>Calibri</vt:lpstr>
      <vt:lpstr>Cochocib Script Latin Pro</vt:lpstr>
      <vt:lpstr>Grandview Display</vt:lpstr>
      <vt:lpstr>Tahoma</vt:lpstr>
      <vt:lpstr>DashVTI</vt:lpstr>
      <vt:lpstr>Pouzdanost</vt:lpstr>
      <vt:lpstr>Sadržaj</vt:lpstr>
      <vt:lpstr>Ishodi</vt:lpstr>
      <vt:lpstr>Uvodni video</vt:lpstr>
      <vt:lpstr>Pouzdanost</vt:lpstr>
      <vt:lpstr>Teorija pouzdanosti</vt:lpstr>
      <vt:lpstr>Teorija pouzdanosti</vt:lpstr>
      <vt:lpstr>Sustavi prema pouzdanosti</vt:lpstr>
      <vt:lpstr>Sustavi prema pouzdanosti</vt:lpstr>
      <vt:lpstr>Sustavi prema pouzdanosti</vt:lpstr>
      <vt:lpstr>Sustavi prema pouzdanosti</vt:lpstr>
      <vt:lpstr>Sustavi prema pouzdanosti</vt:lpstr>
      <vt:lpstr>Cijena pada sustava</vt:lpstr>
      <vt:lpstr>Blok dijagram pouzdanosti</vt:lpstr>
      <vt:lpstr>PowerPoint prezentacija</vt:lpstr>
      <vt:lpstr>Sustav u seriji</vt:lpstr>
      <vt:lpstr>PowerPoint prezentacija</vt:lpstr>
      <vt:lpstr>Sustav u paraleli</vt:lpstr>
      <vt:lpstr>PowerPoint prezentacija</vt:lpstr>
      <vt:lpstr>PowerPoint prezentacija</vt:lpstr>
      <vt:lpstr>Kombinirani sustavi</vt:lpstr>
      <vt:lpstr>Domaća zadaća</vt:lpstr>
      <vt:lpstr>Zaključak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VIRTUALBOX</dc:title>
  <dc:creator>OGNJEN</dc:creator>
  <cp:lastModifiedBy>Ognjen Roglić</cp:lastModifiedBy>
  <cp:revision>169</cp:revision>
  <dcterms:created xsi:type="dcterms:W3CDTF">2024-07-02T10:01:58Z</dcterms:created>
  <dcterms:modified xsi:type="dcterms:W3CDTF">2025-12-10T08:30:42Z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