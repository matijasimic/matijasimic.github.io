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62" r:id="rId3"/>
    <p:sldId id="357" r:id="rId4"/>
    <p:sldId id="358" r:id="rId5"/>
    <p:sldId id="395" r:id="rId6"/>
    <p:sldId id="269" r:id="rId7"/>
    <p:sldId id="396" r:id="rId8"/>
    <p:sldId id="298" r:id="rId9"/>
    <p:sldId id="397" r:id="rId10"/>
    <p:sldId id="288" r:id="rId11"/>
    <p:sldId id="398" r:id="rId12"/>
    <p:sldId id="399" r:id="rId13"/>
    <p:sldId id="400" r:id="rId14"/>
    <p:sldId id="401" r:id="rId15"/>
    <p:sldId id="304" r:id="rId16"/>
    <p:sldId id="307" r:id="rId17"/>
    <p:sldId id="305" r:id="rId18"/>
    <p:sldId id="289" r:id="rId19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til 2 - Istic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57" autoAdjust="0"/>
    <p:restoredTop sz="81961" autoAdjust="0"/>
  </p:normalViewPr>
  <p:slideViewPr>
    <p:cSldViewPr snapToGrid="0">
      <p:cViewPr varScale="1">
        <p:scale>
          <a:sx n="67" d="100"/>
          <a:sy n="67" d="100"/>
        </p:scale>
        <p:origin x="96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28039-CACB-4FB7-BFCF-0AD938369F9D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454DF-51D3-4511-B9FB-536168BA82F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0754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454DF-51D3-4511-B9FB-536168BA82FE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190727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71964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52482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27635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84469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38840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  <a:p>
            <a:r>
              <a:rPr lang="hr-HR" dirty="0"/>
              <a:t>No, za razliku od pouzdanosti, raspoloživost nam je bitnija s obzirom na to </a:t>
            </a:r>
            <a:r>
              <a:rPr lang="hr-HR"/>
              <a:t>da je usko </a:t>
            </a:r>
            <a:r>
              <a:rPr lang="hr-HR" dirty="0"/>
              <a:t>povezana s održavanjem samog sustava.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20805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  <a:p>
            <a:r>
              <a:rPr lang="hr-HR" dirty="0"/>
              <a:t>No, za razliku od pouzdanosti, raspoloživost nam je bitnija s obzirom na to </a:t>
            </a:r>
            <a:r>
              <a:rPr lang="hr-HR"/>
              <a:t>da je usko </a:t>
            </a:r>
            <a:r>
              <a:rPr lang="hr-HR" dirty="0"/>
              <a:t>povezana s održavanjem samog sustava.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73827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  <a:p>
            <a:r>
              <a:rPr lang="hr-HR" dirty="0"/>
              <a:t>No, za razliku od pouzdanosti, raspoloživost nam je bitnija s obzirom na to </a:t>
            </a:r>
            <a:r>
              <a:rPr lang="hr-HR"/>
              <a:t>da je usko </a:t>
            </a:r>
            <a:r>
              <a:rPr lang="hr-HR" dirty="0"/>
              <a:t>povezana s održavanjem samog sustava.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195788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30454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388637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604871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131366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271434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450877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930167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367894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75091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09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6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316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46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23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9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91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63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10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5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571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57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7">
            <a:extLst>
              <a:ext uri="{FF2B5EF4-FFF2-40B4-BE49-F238E27FC236}">
                <a16:creationId xmlns:a16="http://schemas.microsoft.com/office/drawing/2014/main" id="{59A9681A-2486-4655-A876-E26402CA2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10DE59D-5C3F-A39A-D3CC-EBEBF41F89B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221"/>
          <a:stretch/>
        </p:blipFill>
        <p:spPr bwMode="auto">
          <a:xfrm>
            <a:off x="2" y="152"/>
            <a:ext cx="12191998" cy="6857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ctangle 19">
            <a:extLst>
              <a:ext uri="{FF2B5EF4-FFF2-40B4-BE49-F238E27FC236}">
                <a16:creationId xmlns:a16="http://schemas.microsoft.com/office/drawing/2014/main" id="{C9BB6818-31C2-4340-98F8-64FF7F46A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D64DDC21-F0E0-7F18-321D-A12A6E446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758629" cy="2696866"/>
          </a:xfrm>
        </p:spPr>
        <p:txBody>
          <a:bodyPr anchor="t">
            <a:normAutofit/>
          </a:bodyPr>
          <a:lstStyle/>
          <a:p>
            <a:r>
              <a:rPr lang="hr-HR" dirty="0">
                <a:solidFill>
                  <a:srgbClr val="FFFFFF"/>
                </a:solidFill>
              </a:rPr>
              <a:t>Raspoloživost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107203C5-DC1F-00CF-2EE2-3AC930F1F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402572" cy="1287887"/>
          </a:xfrm>
        </p:spPr>
        <p:txBody>
          <a:bodyPr anchor="b">
            <a:normAutofit/>
          </a:bodyPr>
          <a:lstStyle/>
          <a:p>
            <a:r>
              <a:rPr lang="hr-HR" dirty="0">
                <a:solidFill>
                  <a:srgbClr val="FFFFFF"/>
                </a:solidFill>
              </a:rPr>
              <a:t>Ognjen Roglić</a:t>
            </a:r>
          </a:p>
          <a:p>
            <a:r>
              <a:rPr lang="hr-HR" dirty="0">
                <a:solidFill>
                  <a:srgbClr val="FFFFFF"/>
                </a:solidFill>
              </a:rPr>
              <a:t>DIOIS [13]</a:t>
            </a:r>
          </a:p>
        </p:txBody>
      </p:sp>
      <p:cxnSp>
        <p:nvCxnSpPr>
          <p:cNvPr id="26" name="Straight Connector 21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777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80930" y="1219160"/>
            <a:ext cx="8605174" cy="493776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Raspoloživost sustava odnosi se na sposobnost sustava da bude dostupan i funkcionalan za korisnike tijekom određenog vremenskog razdoblja. U današnjem digitalnom svijetu, gdje se oslanjamo na tehnologiju u svakodnevnom životu, visoka raspoloživost postaje kritična za poslovne operacije i pružanje usluga. U ovoj prezentaciji, istražit ćemo ključne faktore koji utječu na raspoloživost, metode za osiguranje kontinuiranog rada te načine prevencije i oporavka od kvarova.</a:t>
            </a:r>
            <a:endParaRPr lang="hr-HR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96" y="228560"/>
            <a:ext cx="8229600" cy="990600"/>
          </a:xfrm>
        </p:spPr>
        <p:txBody>
          <a:bodyPr>
            <a:normAutofit/>
          </a:bodyPr>
          <a:lstStyle/>
          <a:p>
            <a:r>
              <a:rPr lang="hr-HR" dirty="0">
                <a:latin typeface="Arial" charset="0"/>
              </a:rPr>
              <a:t>Sadržaj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2897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12350" y="944840"/>
            <a:ext cx="9400480" cy="532179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Učenici će:</a:t>
            </a:r>
          </a:p>
          <a:p>
            <a:pPr marL="457200" lvl="0" indent="-457200">
              <a:buFont typeface="+mj-lt"/>
              <a:buAutoNum type="arabicPeriod"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Razumjeti temeljne koncepte i važnost raspoloživosti računalnih sustava.</a:t>
            </a:r>
          </a:p>
          <a:p>
            <a:pPr marL="457200" lvl="0" indent="-457200">
              <a:buFont typeface="+mj-lt"/>
              <a:buAutoNum type="arabicPeriod"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Prepoznati faktore koji mogu utjecati na dostupnost sustava.</a:t>
            </a:r>
          </a:p>
          <a:p>
            <a:pPr marL="457200" lvl="0" indent="-457200">
              <a:buFont typeface="+mj-lt"/>
              <a:buAutoNum type="arabicPeriod"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Analizirati različite metode za poboljšanje raspoloživosti, poput redundantnih sustava i sustava za oporavak od grešaka.</a:t>
            </a:r>
          </a:p>
          <a:p>
            <a:pPr marL="457200" lvl="0" indent="-457200">
              <a:buFont typeface="+mj-lt"/>
              <a:buAutoNum type="arabicPeriod"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Primijeniti tehnike za praćenje i mjerenje raspoloživosti sustava.</a:t>
            </a:r>
          </a:p>
          <a:p>
            <a:pPr marL="457200" lvl="0" indent="-457200">
              <a:buFont typeface="+mj-lt"/>
              <a:buAutoNum type="arabicPeriod"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Razviti planove za oporavak u slučaju prekida rada kako bi se minimizirao utjecaj na korisnike.</a:t>
            </a:r>
          </a:p>
          <a:p>
            <a:pPr marL="457200" lvl="0" indent="-457200">
              <a:buFont typeface="+mj-lt"/>
              <a:buAutoNum type="arabicPeriod"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Identificirati i implementirati najbolje prakse za povećanje dostupnosti u različitim IT okruženjima.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466" y="214180"/>
            <a:ext cx="8229600" cy="990600"/>
          </a:xfrm>
        </p:spPr>
        <p:txBody>
          <a:bodyPr>
            <a:normAutofit/>
          </a:bodyPr>
          <a:lstStyle/>
          <a:p>
            <a:r>
              <a:rPr lang="hr-HR" dirty="0">
                <a:latin typeface="Arial" charset="0"/>
              </a:rPr>
              <a:t>Ishodi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16386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96" y="317050"/>
            <a:ext cx="8229600" cy="990600"/>
          </a:xfrm>
        </p:spPr>
        <p:txBody>
          <a:bodyPr>
            <a:normAutofit/>
          </a:bodyPr>
          <a:lstStyle/>
          <a:p>
            <a:r>
              <a:rPr lang="hr-HR" dirty="0">
                <a:latin typeface="Arial" charset="0"/>
              </a:rPr>
              <a:t>Uvodni video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61054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55480" y="1268760"/>
            <a:ext cx="9174420" cy="4937760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  <a:defRPr/>
            </a:pPr>
            <a:r>
              <a:rPr lang="hr-H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Raspoloživost sustava </a:t>
            </a:r>
            <a:r>
              <a:rPr lang="hr-H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(eng.  </a:t>
            </a:r>
            <a:r>
              <a:rPr lang="hr-H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availability</a:t>
            </a:r>
            <a:r>
              <a:rPr lang="hr-H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se definira kao sposobnost sustava, usluge ili komponente da bude operativan i funkcionalan tijekom određenog vremenskog razdoblja. </a:t>
            </a:r>
          </a:p>
          <a:p>
            <a:pPr lvl="1">
              <a:lnSpc>
                <a:spcPct val="120000"/>
              </a:lnSpc>
              <a:defRPr/>
            </a:pPr>
            <a:endParaRPr lang="hr-HR" sz="3200" dirty="0"/>
          </a:p>
          <a:p>
            <a:pPr lvl="0"/>
            <a:endParaRPr lang="hr-HR" sz="4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730" y="156180"/>
            <a:ext cx="8229600" cy="990600"/>
          </a:xfrm>
        </p:spPr>
        <p:txBody>
          <a:bodyPr>
            <a:normAutofit/>
          </a:bodyPr>
          <a:lstStyle/>
          <a:p>
            <a:r>
              <a:rPr lang="hr-HR" dirty="0">
                <a:latin typeface="Arial" charset="0"/>
              </a:rPr>
              <a:t>Što je raspoloživost sustava?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76014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069" y="262891"/>
            <a:ext cx="9989821" cy="834389"/>
          </a:xfrm>
        </p:spPr>
        <p:txBody>
          <a:bodyPr>
            <a:noAutofit/>
          </a:bodyPr>
          <a:lstStyle/>
          <a:p>
            <a:r>
              <a:rPr lang="hr-HR" dirty="0">
                <a:latin typeface="Arial" charset="0"/>
              </a:rPr>
              <a:t>Važnost raspoloživosti za poslovanje</a:t>
            </a:r>
            <a:endParaRPr lang="hr-HR" dirty="0"/>
          </a:p>
        </p:txBody>
      </p:sp>
      <p:sp>
        <p:nvSpPr>
          <p:cNvPr id="5" name="Rezervirano mjesto sadržaja 4">
            <a:extLst>
              <a:ext uri="{FF2B5EF4-FFF2-40B4-BE49-F238E27FC236}">
                <a16:creationId xmlns:a16="http://schemas.microsoft.com/office/drawing/2014/main" id="{C3E243F8-3202-DD8B-F3E5-412E23BE3F9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03069" y="1216152"/>
            <a:ext cx="9452610" cy="5150358"/>
          </a:xfrm>
        </p:spPr>
        <p:txBody>
          <a:bodyPr>
            <a:normAutofit/>
          </a:bodyPr>
          <a:lstStyle/>
          <a:p>
            <a:r>
              <a:rPr lang="hr-HR" b="1" u="sng" dirty="0">
                <a:latin typeface="Arial" panose="020B0604020202020204" pitchFamily="34" charset="0"/>
                <a:cs typeface="Arial" panose="020B0604020202020204" pitchFamily="34" charset="0"/>
              </a:rPr>
              <a:t>Pouzdanost i povjerenje Korisnika</a:t>
            </a:r>
            <a:endParaRPr lang="hr-HR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Povjerenje korisnika: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Visoka raspoloživost sustava povećava povjerenje korisnika i klijenata u pouzdanost usluga.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Zadovoljstvo korisnika: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Zadovoljstvo korisnika raste s manjim brojem zastoja i prekida usluge.</a:t>
            </a:r>
          </a:p>
          <a:p>
            <a:pPr>
              <a:buFont typeface="Arial" panose="020B0604020202020204" pitchFamily="34" charset="0"/>
              <a:buChar char="•"/>
            </a:pP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b="1" u="sng" dirty="0">
                <a:latin typeface="Arial" panose="020B0604020202020204" pitchFamily="34" charset="0"/>
                <a:cs typeface="Arial" panose="020B0604020202020204" pitchFamily="34" charset="0"/>
              </a:rPr>
              <a:t>Financijski utjecaj</a:t>
            </a:r>
            <a:endParaRPr lang="hr-HR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Gubitak prihoda: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Zastoji mogu dovesti do značajnih financijskih gubitaka zbog neostvarenih prodaja ili prekida poslovanja.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Troškovi oporavka: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Popravak i oporavak nakon zastoja mogu biti skupi, uključujući troškove rada, rezervnih dijelova i izgubljenih podataka.</a:t>
            </a:r>
          </a:p>
          <a:p>
            <a:pPr>
              <a:buFont typeface="Arial" panose="020B0604020202020204" pitchFamily="34" charset="0"/>
              <a:buChar char="•"/>
            </a:pPr>
            <a:endParaRPr lang="hr-HR" dirty="0"/>
          </a:p>
          <a:p>
            <a:pPr marL="0" indent="0">
              <a:buNone/>
            </a:pPr>
            <a:endParaRPr lang="hr-HR" dirty="0"/>
          </a:p>
          <a:p>
            <a:pPr marL="0" indent="0">
              <a:buNone/>
            </a:pPr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2038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DD8B74-E334-4B95-BED4-F4528628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489" y="80010"/>
            <a:ext cx="9566911" cy="834390"/>
          </a:xfrm>
        </p:spPr>
        <p:txBody>
          <a:bodyPr vert="horz" anchor="b" anchorCtr="0">
            <a:normAutofit/>
          </a:bodyPr>
          <a:lstStyle/>
          <a:p>
            <a:r>
              <a:rPr lang="hr-HR" dirty="0">
                <a:latin typeface="Arial" charset="0"/>
              </a:rPr>
              <a:t>Važnost raspoloživosti za poslovanje</a:t>
            </a:r>
          </a:p>
        </p:txBody>
      </p:sp>
      <p:sp>
        <p:nvSpPr>
          <p:cNvPr id="5" name="Rezervirano mjesto sadržaja 4">
            <a:extLst>
              <a:ext uri="{FF2B5EF4-FFF2-40B4-BE49-F238E27FC236}">
                <a16:creationId xmlns:a16="http://schemas.microsoft.com/office/drawing/2014/main" id="{87F635A6-61B0-5729-C11D-1EE171AD562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14500" y="1193292"/>
            <a:ext cx="8961120" cy="5321808"/>
          </a:xfrm>
        </p:spPr>
        <p:txBody>
          <a:bodyPr>
            <a:normAutofit/>
          </a:bodyPr>
          <a:lstStyle/>
          <a:p>
            <a:r>
              <a:rPr lang="hr-HR" b="1" u="sng" dirty="0">
                <a:latin typeface="Arial" panose="020B0604020202020204" pitchFamily="34" charset="0"/>
                <a:cs typeface="Arial" panose="020B0604020202020204" pitchFamily="34" charset="0"/>
              </a:rPr>
              <a:t>Reputacija trgovačke marke (Brand)</a:t>
            </a:r>
            <a:endParaRPr lang="hr-HR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Učinak na reputaciju: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Česti zastoji mogu narušiti reputaciju tvrtke, smanjiti povjerenje klijenata i utjecati na percepciju branda.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Konkurentska prednost: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Tvrtke s visokom raspoloživošću sustava mogu steći konkurentsku prednost na tržištu.</a:t>
            </a:r>
          </a:p>
          <a:p>
            <a:pPr>
              <a:buFont typeface="Arial" panose="020B0604020202020204" pitchFamily="34" charset="0"/>
              <a:buChar char="•"/>
            </a:pP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b="1" u="sng" dirty="0">
                <a:latin typeface="Arial" panose="020B0604020202020204" pitchFamily="34" charset="0"/>
                <a:cs typeface="Arial" panose="020B0604020202020204" pitchFamily="34" charset="0"/>
              </a:rPr>
              <a:t>Poslovni kontinuitet i produktivnost</a:t>
            </a:r>
            <a:endParaRPr lang="hr-HR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Kontinuitet poslovanja: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Visoka raspoloživost osigurava neprekidan rad poslovnih procesa, što je ključno za poslovnu kontinuitet.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Produktivnost zaposlenika: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Manje zastoja i prekida rada povećava produktivnost zaposlenika, koji mogu raditi bez smetnji.</a:t>
            </a:r>
          </a:p>
          <a:p>
            <a:pPr>
              <a:buFont typeface="Arial" panose="020B0604020202020204" pitchFamily="34" charset="0"/>
              <a:buChar char="•"/>
            </a:pPr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61323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DD8B74-E334-4B95-BED4-F4528628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955" y="114299"/>
            <a:ext cx="10890929" cy="868681"/>
          </a:xfrm>
        </p:spPr>
        <p:txBody>
          <a:bodyPr vert="horz" anchor="b" anchorCtr="0">
            <a:normAutofit/>
          </a:bodyPr>
          <a:lstStyle/>
          <a:p>
            <a:r>
              <a:rPr lang="hr-HR" dirty="0">
                <a:latin typeface="Arial" charset="0"/>
              </a:rPr>
              <a:t>Važnost raspoloživosti za poslovanje</a:t>
            </a:r>
          </a:p>
        </p:txBody>
      </p:sp>
      <p:sp>
        <p:nvSpPr>
          <p:cNvPr id="5" name="Rezervirano mjesto sadržaja 4">
            <a:extLst>
              <a:ext uri="{FF2B5EF4-FFF2-40B4-BE49-F238E27FC236}">
                <a16:creationId xmlns:a16="http://schemas.microsoft.com/office/drawing/2014/main" id="{87F635A6-61B0-5729-C11D-1EE171AD562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24956" y="1364742"/>
            <a:ext cx="8790644" cy="4933188"/>
          </a:xfrm>
        </p:spPr>
        <p:txBody>
          <a:bodyPr/>
          <a:lstStyle/>
          <a:p>
            <a:r>
              <a:rPr lang="hr-HR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Usklađenost s regulativama</a:t>
            </a:r>
            <a:endParaRPr lang="hr-HR" sz="24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Regulatorni zahtjevi: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 Mnoge industrije imaju stroge regulatorne zahtjeve za raspoloživost i kontinuitet usluga.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Izbjegavanje kazni: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 Osiguravanjem visoke raspoloživosti, tvrtke mogu izbjeći kazne i sankcije zbog neispunjavanja regulatornih standarda.</a:t>
            </a:r>
          </a:p>
          <a:p>
            <a:pPr marL="0" indent="0">
              <a:buNone/>
            </a:pPr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120001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DD8B74-E334-4B95-BED4-F4528628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49" y="0"/>
            <a:ext cx="9873659" cy="880110"/>
          </a:xfrm>
        </p:spPr>
        <p:txBody>
          <a:bodyPr vert="horz" anchor="b" anchorCtr="0">
            <a:normAutofit/>
          </a:bodyPr>
          <a:lstStyle/>
          <a:p>
            <a:r>
              <a:rPr lang="hr-HR" dirty="0">
                <a:latin typeface="Arial" charset="0"/>
              </a:rPr>
              <a:t>Važnost raspoloživosti za poslovanje</a:t>
            </a:r>
          </a:p>
        </p:txBody>
      </p:sp>
      <p:sp>
        <p:nvSpPr>
          <p:cNvPr id="5" name="Rezervirano mjesto sadržaja 4">
            <a:extLst>
              <a:ext uri="{FF2B5EF4-FFF2-40B4-BE49-F238E27FC236}">
                <a16:creationId xmlns:a16="http://schemas.microsoft.com/office/drawing/2014/main" id="{87F635A6-61B0-5729-C11D-1EE171AD562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657349" y="1387602"/>
            <a:ext cx="9269731" cy="5058918"/>
          </a:xfrm>
        </p:spPr>
        <p:txBody>
          <a:bodyPr/>
          <a:lstStyle/>
          <a:p>
            <a:r>
              <a:rPr lang="hr-HR" sz="2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Ključne poruke: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Raspoloživost sustava je ključna za poslovni uspjeh i održavanje povjerenja korisnika.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Visoka raspoloživost smanjuje financijske gubitke, povećava reputaciju i produktivnost te osigurava usklađenost s regulatornim zahtjevima.</a:t>
            </a:r>
          </a:p>
          <a:p>
            <a:pPr marL="0" indent="0">
              <a:buNone/>
            </a:pPr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440513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DD8B74-E334-4B95-BED4-F4528628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639" y="217169"/>
            <a:ext cx="9624061" cy="742951"/>
          </a:xfrm>
        </p:spPr>
        <p:txBody>
          <a:bodyPr vert="horz" anchor="b" anchorCtr="0">
            <a:normAutofit/>
          </a:bodyPr>
          <a:lstStyle/>
          <a:p>
            <a:r>
              <a:rPr lang="hr-HR" dirty="0">
                <a:latin typeface="Arial" charset="0"/>
              </a:rPr>
              <a:t>Ključne komponente raspoloživosti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FE8ABD4-2FF2-C125-EF9D-C97400805A21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1691639" y="1224766"/>
            <a:ext cx="9166861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sr-Latn-RS" altLang="sr-Latn-R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Uptime</a:t>
            </a:r>
            <a:r>
              <a:rPr lang="sr-Latn-RS" altLang="sr-Latn-RS" sz="24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sr-Latn-RS" altLang="sr-Latn-R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Vrijeme</a:t>
            </a:r>
            <a:r>
              <a:rPr lang="sr-Latn-RS" altLang="sr-Latn-RS" sz="2400" b="1" dirty="0">
                <a:latin typeface="Arial" panose="020B0604020202020204" pitchFamily="34" charset="0"/>
                <a:cs typeface="Arial" panose="020B0604020202020204" pitchFamily="34" charset="0"/>
              </a:rPr>
              <a:t> rada):</a:t>
            </a:r>
            <a:r>
              <a:rPr lang="sr-Latn-RS" altLang="sr-Latn-R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n-NO" sz="2400" dirty="0">
                <a:latin typeface="Arial" panose="020B0604020202020204" pitchFamily="34" charset="0"/>
                <a:cs typeface="Arial" panose="020B0604020202020204" pitchFamily="34" charset="0"/>
              </a:rPr>
              <a:t>Vrijeme tijekom kojeg sustav, usluga ili komponenta radi bez prekida.</a:t>
            </a:r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sr-Latn-RS" altLang="sr-Latn-R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sr-Latn-RS" altLang="sr-Latn-R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Downtime</a:t>
            </a:r>
            <a:r>
              <a:rPr lang="sr-Latn-RS" altLang="sr-Latn-RS" sz="24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sr-Latn-RS" altLang="sr-Latn-R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Vrijeme</a:t>
            </a:r>
            <a:r>
              <a:rPr lang="sr-Latn-RS" altLang="sr-Latn-RS" sz="2400" b="1" dirty="0">
                <a:latin typeface="Arial" panose="020B0604020202020204" pitchFamily="34" charset="0"/>
                <a:cs typeface="Arial" panose="020B0604020202020204" pitchFamily="34" charset="0"/>
              </a:rPr>
              <a:t> zastoja):</a:t>
            </a:r>
            <a:r>
              <a:rPr lang="sr-Latn-RS" altLang="sr-Latn-R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Vrijeme tijekom kojeg sustav, usluga ili komponenta nije dostupan zbog kvara, održavanja ili drugih razloga.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sr-Latn-RS" altLang="sr-Latn-R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sr-Latn-RS" altLang="sr-Latn-RS" sz="2400" b="1" dirty="0">
                <a:latin typeface="Arial" panose="020B0604020202020204" pitchFamily="34" charset="0"/>
                <a:cs typeface="Arial" panose="020B0604020202020204" pitchFamily="34" charset="0"/>
              </a:rPr>
              <a:t>MTBF (</a:t>
            </a:r>
            <a:r>
              <a:rPr lang="sr-Latn-RS" altLang="sr-Latn-R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  <a:r>
              <a:rPr lang="sr-Latn-RS" altLang="sr-Latn-RS" sz="2400" b="1" dirty="0">
                <a:latin typeface="Arial" panose="020B0604020202020204" pitchFamily="34" charset="0"/>
                <a:cs typeface="Arial" panose="020B0604020202020204" pitchFamily="34" charset="0"/>
              </a:rPr>
              <a:t> Time </a:t>
            </a:r>
            <a:r>
              <a:rPr lang="sr-Latn-RS" altLang="sr-Latn-R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sr-Latn-RS" altLang="sr-Latn-R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Latn-RS" altLang="sr-Latn-R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Failures</a:t>
            </a:r>
            <a:r>
              <a:rPr lang="sr-Latn-RS" altLang="sr-Latn-RS" sz="2400" b="1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lang="sr-Latn-RS" altLang="sr-Latn-R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Prosječno vrijeme između dva uzastopna kvara sustava. Veće MTBF vrijednosti ukazuju na veću pouzdanost sustava.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sr-Latn-RS" altLang="sr-Latn-R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sr-Latn-RS" altLang="sr-Latn-RS" sz="2400" b="1" dirty="0">
                <a:latin typeface="Arial" panose="020B0604020202020204" pitchFamily="34" charset="0"/>
                <a:cs typeface="Arial" panose="020B0604020202020204" pitchFamily="34" charset="0"/>
              </a:rPr>
              <a:t>MTTR (</a:t>
            </a:r>
            <a:r>
              <a:rPr lang="sr-Latn-RS" altLang="sr-Latn-R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  <a:r>
              <a:rPr lang="sr-Latn-RS" altLang="sr-Latn-RS" sz="2400" b="1" dirty="0">
                <a:latin typeface="Arial" panose="020B0604020202020204" pitchFamily="34" charset="0"/>
                <a:cs typeface="Arial" panose="020B0604020202020204" pitchFamily="34" charset="0"/>
              </a:rPr>
              <a:t> Time to </a:t>
            </a:r>
            <a:r>
              <a:rPr lang="sr-Latn-RS" altLang="sr-Latn-R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Repair</a:t>
            </a:r>
            <a:r>
              <a:rPr lang="sr-Latn-RS" altLang="sr-Latn-RS" sz="2400" b="1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lang="sr-Latn-RS" altLang="sr-Latn-R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Prosječno vrijeme potrebno za popravak sustava nakon kvara. Kraći MTTR ukazuje na bržu sposobnost oporavka sustava.</a:t>
            </a:r>
            <a:endParaRPr lang="sr-Latn-RS" altLang="sr-Latn-R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044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DD8B74-E334-4B95-BED4-F4528628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779" y="217169"/>
            <a:ext cx="9361171" cy="697231"/>
          </a:xfrm>
        </p:spPr>
        <p:txBody>
          <a:bodyPr vert="horz" anchor="b" anchorCtr="0">
            <a:noAutofit/>
          </a:bodyPr>
          <a:lstStyle/>
          <a:p>
            <a:r>
              <a:rPr lang="hr-HR" dirty="0">
                <a:latin typeface="Arial" charset="0"/>
              </a:rPr>
              <a:t>Izračun raspoloživosti (%)</a:t>
            </a:r>
          </a:p>
        </p:txBody>
      </p:sp>
      <p:sp>
        <p:nvSpPr>
          <p:cNvPr id="6" name="Rezervirano mjesto sadržaja 5">
            <a:extLst>
              <a:ext uri="{FF2B5EF4-FFF2-40B4-BE49-F238E27FC236}">
                <a16:creationId xmlns:a16="http://schemas.microsoft.com/office/drawing/2014/main" id="{4D54B238-923C-D273-2F8E-5C66CE9CA58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3406" y="1196752"/>
            <a:ext cx="8452184" cy="4937760"/>
          </a:xfrm>
        </p:spPr>
        <p:txBody>
          <a:bodyPr>
            <a:normAutofit fontScale="55000" lnSpcReduction="20000"/>
          </a:bodyPr>
          <a:lstStyle/>
          <a:p>
            <a:r>
              <a:rPr lang="hr-HR" sz="3800" dirty="0">
                <a:latin typeface="Arial" panose="020B0604020202020204" pitchFamily="34" charset="0"/>
                <a:cs typeface="Arial" panose="020B0604020202020204" pitchFamily="34" charset="0"/>
              </a:rPr>
              <a:t>Raspoloživost se često izražava kao postotak pomoću sljedeće formule:</a:t>
            </a:r>
          </a:p>
          <a:p>
            <a:endParaRPr lang="hr-HR" sz="3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3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3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3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3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3800" dirty="0">
                <a:latin typeface="Arial" panose="020B0604020202020204" pitchFamily="34" charset="0"/>
                <a:cs typeface="Arial" panose="020B0604020202020204" pitchFamily="34" charset="0"/>
              </a:rPr>
              <a:t>Gdje je: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3800" b="1" dirty="0">
                <a:latin typeface="Arial" panose="020B0604020202020204" pitchFamily="34" charset="0"/>
                <a:cs typeface="Arial" panose="020B0604020202020204" pitchFamily="34" charset="0"/>
              </a:rPr>
              <a:t>Vrijeme rada</a:t>
            </a:r>
            <a:r>
              <a:rPr lang="hr-HR" sz="3800" dirty="0">
                <a:latin typeface="Arial" panose="020B0604020202020204" pitchFamily="34" charset="0"/>
                <a:cs typeface="Arial" panose="020B0604020202020204" pitchFamily="34" charset="0"/>
              </a:rPr>
              <a:t>: Ukupno vrijeme tijekom kojeg je sustav operativan.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3800" b="1" dirty="0">
                <a:latin typeface="Arial" panose="020B0604020202020204" pitchFamily="34" charset="0"/>
                <a:cs typeface="Arial" panose="020B0604020202020204" pitchFamily="34" charset="0"/>
              </a:rPr>
              <a:t>Ukupno vrijeme</a:t>
            </a:r>
            <a:r>
              <a:rPr lang="hr-HR" sz="3800" dirty="0">
                <a:latin typeface="Arial" panose="020B0604020202020204" pitchFamily="34" charset="0"/>
                <a:cs typeface="Arial" panose="020B0604020202020204" pitchFamily="34" charset="0"/>
              </a:rPr>
              <a:t>: Zbroj vremena rada i vremena zastoja (uključujući planirano i neplanirano održavanje).</a:t>
            </a:r>
          </a:p>
          <a:p>
            <a:endParaRPr lang="hr-HR" dirty="0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DA9BE385-0799-D6A7-08A2-276739C12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598" y="2647206"/>
            <a:ext cx="5616624" cy="8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977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DD8B74-E334-4B95-BED4-F4528628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19" y="125731"/>
            <a:ext cx="10252711" cy="800100"/>
          </a:xfrm>
        </p:spPr>
        <p:txBody>
          <a:bodyPr vert="horz" anchor="b" anchorCtr="0">
            <a:normAutofit/>
          </a:bodyPr>
          <a:lstStyle/>
          <a:p>
            <a:r>
              <a:rPr lang="hr-HR" dirty="0">
                <a:latin typeface="Arial" charset="0"/>
              </a:rPr>
              <a:t>Primjer izračuna</a:t>
            </a:r>
          </a:p>
        </p:txBody>
      </p:sp>
      <p:sp>
        <p:nvSpPr>
          <p:cNvPr id="6" name="Rezervirano mjesto sadržaja 5">
            <a:extLst>
              <a:ext uri="{FF2B5EF4-FFF2-40B4-BE49-F238E27FC236}">
                <a16:creationId xmlns:a16="http://schemas.microsoft.com/office/drawing/2014/main" id="{4D54B238-923C-D273-2F8E-5C66CE9CA58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692743" y="1071021"/>
            <a:ext cx="8806514" cy="5661248"/>
          </a:xfrm>
        </p:spPr>
        <p:txBody>
          <a:bodyPr>
            <a:normAutofit fontScale="77500" lnSpcReduction="20000"/>
          </a:bodyPr>
          <a:lstStyle/>
          <a:p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Ako sustav radi 24 sata dnevno tijekom mjeseca, a u tom mjesecu je imao 2 sata neplaniranog zastoja i 1 sat planiranog održavanja, izračun raspoloživosti bi izgledao ovako:</a:t>
            </a:r>
          </a:p>
          <a:p>
            <a:endParaRPr lang="hr-H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Ukupno vrijeme u mjesecu: 30 dana * 24 sata = 720 sati</a:t>
            </a:r>
          </a:p>
          <a:p>
            <a:pPr>
              <a:buFont typeface="Arial" panose="020B0604020202020204" pitchFamily="34" charset="0"/>
              <a:buChar char="•"/>
            </a:pPr>
            <a:endParaRPr lang="hr-H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Vrijeme rada: 720 sati - 2 sata (neplanirani zastoj) - 1 sat (planirano održavanje) = 717 sati</a:t>
            </a:r>
          </a:p>
          <a:p>
            <a:endParaRPr lang="hr-H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Raspoloživost je:</a:t>
            </a:r>
          </a:p>
          <a:p>
            <a:endParaRPr lang="hr-H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(Izračunajte svoju osobnu raspoloživost kod kuće, uključite planirane i neplanirane zastoje)</a:t>
            </a:r>
          </a:p>
          <a:p>
            <a:endParaRPr lang="hr-HR" dirty="0"/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BA0EE769-6747-7609-245E-82890C0D3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569" y="4725145"/>
            <a:ext cx="5386527" cy="69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15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DD8B74-E334-4B95-BED4-F4528628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069" y="91439"/>
            <a:ext cx="9041131" cy="891541"/>
          </a:xfrm>
        </p:spPr>
        <p:txBody>
          <a:bodyPr vert="horz" anchor="b" anchorCtr="0">
            <a:normAutofit/>
          </a:bodyPr>
          <a:lstStyle/>
          <a:p>
            <a:r>
              <a:rPr lang="hr-HR" dirty="0">
                <a:latin typeface="Arial" charset="0"/>
              </a:rPr>
              <a:t>Klasifikacija raspoloživosti</a:t>
            </a:r>
          </a:p>
        </p:txBody>
      </p:sp>
      <p:sp>
        <p:nvSpPr>
          <p:cNvPr id="7" name="Rezervirano mjesto sadržaja 6">
            <a:extLst>
              <a:ext uri="{FF2B5EF4-FFF2-40B4-BE49-F238E27FC236}">
                <a16:creationId xmlns:a16="http://schemas.microsoft.com/office/drawing/2014/main" id="{544B45E9-4100-503A-582E-B76BEC48AFF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03069" y="1101851"/>
            <a:ext cx="9281161" cy="5310379"/>
          </a:xfrm>
        </p:spPr>
        <p:txBody>
          <a:bodyPr>
            <a:normAutofit lnSpcReduction="10000"/>
          </a:bodyPr>
          <a:lstStyle/>
          <a:p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Raspoloživost sustava se često klasificira prema postotku vremena kada je sustav dostupan:</a:t>
            </a:r>
          </a:p>
          <a:p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99,9% (tri devetke) 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– Sustav može biti </a:t>
            </a:r>
            <a:r>
              <a:rPr lang="hr-HR" sz="2400" u="sng" dirty="0">
                <a:latin typeface="Arial" panose="020B0604020202020204" pitchFamily="34" charset="0"/>
                <a:cs typeface="Arial" panose="020B0604020202020204" pitchFamily="34" charset="0"/>
              </a:rPr>
              <a:t>nedostupan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hr-HR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8,76 sati 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godišnje</a:t>
            </a:r>
          </a:p>
          <a:p>
            <a:pPr>
              <a:buFont typeface="Arial" panose="020B0604020202020204" pitchFamily="34" charset="0"/>
              <a:buChar char="•"/>
            </a:pPr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99,99 (četiri devetke) 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- Sustav može biti </a:t>
            </a:r>
            <a:r>
              <a:rPr lang="hr-HR" sz="2400" u="sng" dirty="0">
                <a:latin typeface="Arial" panose="020B0604020202020204" pitchFamily="34" charset="0"/>
                <a:cs typeface="Arial" panose="020B0604020202020204" pitchFamily="34" charset="0"/>
              </a:rPr>
              <a:t>nedostupan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hr-HR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52,56 minuta 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godišnje</a:t>
            </a:r>
          </a:p>
          <a:p>
            <a:pPr>
              <a:buFont typeface="Arial" panose="020B0604020202020204" pitchFamily="34" charset="0"/>
              <a:buChar char="•"/>
            </a:pPr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99,999 (pet devetki) 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- Sustav može biti </a:t>
            </a:r>
            <a:r>
              <a:rPr lang="hr-HR" sz="2400" u="sng" dirty="0">
                <a:latin typeface="Arial" panose="020B0604020202020204" pitchFamily="34" charset="0"/>
                <a:cs typeface="Arial" panose="020B0604020202020204" pitchFamily="34" charset="0"/>
              </a:rPr>
              <a:t>nedostupan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hr-HR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5,26 minuta 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godišnje</a:t>
            </a:r>
          </a:p>
          <a:p>
            <a:pPr>
              <a:buFont typeface="Arial" panose="020B0604020202020204" pitchFamily="34" charset="0"/>
              <a:buChar char="•"/>
            </a:pPr>
            <a:endParaRPr lang="hr-HR" sz="2400" dirty="0"/>
          </a:p>
          <a:p>
            <a:pPr>
              <a:buFont typeface="Arial" panose="020B0604020202020204" pitchFamily="34" charset="0"/>
              <a:buChar char="•"/>
            </a:pPr>
            <a:endParaRPr lang="hr-HR" sz="2400" dirty="0"/>
          </a:p>
          <a:p>
            <a:endParaRPr lang="hr-HR" sz="2400" dirty="0"/>
          </a:p>
          <a:p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2555943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DD8B74-E334-4B95-BED4-F4528628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49" y="0"/>
            <a:ext cx="9304021" cy="971551"/>
          </a:xfrm>
        </p:spPr>
        <p:txBody>
          <a:bodyPr vert="horz" anchor="b" anchorCtr="0">
            <a:normAutofit/>
          </a:bodyPr>
          <a:lstStyle/>
          <a:p>
            <a:r>
              <a:rPr lang="hr-HR" dirty="0">
                <a:latin typeface="Arial" charset="0"/>
              </a:rPr>
              <a:t>Strategija</a:t>
            </a:r>
          </a:p>
        </p:txBody>
      </p:sp>
      <p:sp>
        <p:nvSpPr>
          <p:cNvPr id="7" name="Rezervirano mjesto sadržaja 6">
            <a:extLst>
              <a:ext uri="{FF2B5EF4-FFF2-40B4-BE49-F238E27FC236}">
                <a16:creationId xmlns:a16="http://schemas.microsoft.com/office/drawing/2014/main" id="{544B45E9-4100-503A-582E-B76BEC48AFF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12595" y="1177290"/>
            <a:ext cx="8766810" cy="50223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r-HR" sz="3200" b="1" dirty="0">
                <a:latin typeface="Arial" panose="020B0604020202020204" pitchFamily="34" charset="0"/>
                <a:cs typeface="Arial" panose="020B0604020202020204" pitchFamily="34" charset="0"/>
              </a:rPr>
              <a:t>Kako povećati raspoloživost?</a:t>
            </a:r>
          </a:p>
          <a:p>
            <a:pPr>
              <a:buFont typeface="Arial" panose="020B0604020202020204" pitchFamily="34" charset="0"/>
              <a:buChar char="•"/>
            </a:pPr>
            <a:endParaRPr lang="hr-H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sz="3200" dirty="0">
                <a:latin typeface="Arial" panose="020B0604020202020204" pitchFamily="34" charset="0"/>
                <a:cs typeface="Arial" panose="020B0604020202020204" pitchFamily="34" charset="0"/>
              </a:rPr>
              <a:t>Redundantni sustavi i komponente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3200" dirty="0">
                <a:latin typeface="Arial" panose="020B0604020202020204" pitchFamily="34" charset="0"/>
                <a:cs typeface="Arial" panose="020B0604020202020204" pitchFamily="34" charset="0"/>
              </a:rPr>
              <a:t>Redovito održavanje i ažuriranje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3200" dirty="0">
                <a:latin typeface="Arial" panose="020B0604020202020204" pitchFamily="34" charset="0"/>
                <a:cs typeface="Arial" panose="020B0604020202020204" pitchFamily="34" charset="0"/>
              </a:rPr>
              <a:t>Backup sustavi i </a:t>
            </a:r>
            <a:r>
              <a:rPr lang="hr-HR" sz="3200" dirty="0" err="1">
                <a:latin typeface="Arial" panose="020B0604020202020204" pitchFamily="34" charset="0"/>
                <a:cs typeface="Arial" panose="020B0604020202020204" pitchFamily="34" charset="0"/>
              </a:rPr>
              <a:t>disaster</a:t>
            </a:r>
            <a:r>
              <a:rPr lang="hr-H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3200" dirty="0" err="1">
                <a:latin typeface="Arial" panose="020B0604020202020204" pitchFamily="34" charset="0"/>
                <a:cs typeface="Arial" panose="020B0604020202020204" pitchFamily="34" charset="0"/>
              </a:rPr>
              <a:t>recovery</a:t>
            </a:r>
            <a:r>
              <a:rPr lang="hr-HR" sz="3200" dirty="0">
                <a:latin typeface="Arial" panose="020B0604020202020204" pitchFamily="34" charset="0"/>
                <a:cs typeface="Arial" panose="020B0604020202020204" pitchFamily="34" charset="0"/>
              </a:rPr>
              <a:t> planovi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3200" dirty="0">
                <a:latin typeface="Arial" panose="020B0604020202020204" pitchFamily="34" charset="0"/>
                <a:cs typeface="Arial" panose="020B0604020202020204" pitchFamily="34" charset="0"/>
              </a:rPr>
              <a:t>Nadzor i proaktivno održavanje sustava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3200" dirty="0">
                <a:latin typeface="Arial" panose="020B0604020202020204" pitchFamily="34" charset="0"/>
                <a:cs typeface="Arial" panose="020B0604020202020204" pitchFamily="34" charset="0"/>
              </a:rPr>
              <a:t>Najam sustava od trećih strana</a:t>
            </a:r>
          </a:p>
          <a:p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78234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DD8B74-E334-4B95-BED4-F4528628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5929" y="0"/>
            <a:ext cx="9109711" cy="880111"/>
          </a:xfrm>
        </p:spPr>
        <p:txBody>
          <a:bodyPr vert="horz" anchor="b" anchorCtr="0">
            <a:normAutofit/>
          </a:bodyPr>
          <a:lstStyle/>
          <a:p>
            <a:r>
              <a:rPr lang="hr-HR" dirty="0">
                <a:latin typeface="Arial" charset="0"/>
              </a:rPr>
              <a:t>Mjerenje i praćenje raspoloživosti</a:t>
            </a:r>
          </a:p>
        </p:txBody>
      </p:sp>
      <p:sp>
        <p:nvSpPr>
          <p:cNvPr id="7" name="Rezervirano mjesto sadržaja 6">
            <a:extLst>
              <a:ext uri="{FF2B5EF4-FFF2-40B4-BE49-F238E27FC236}">
                <a16:creationId xmlns:a16="http://schemas.microsoft.com/office/drawing/2014/main" id="{544B45E9-4100-503A-582E-B76BEC48AFF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25929" y="1330452"/>
            <a:ext cx="9189721" cy="5196078"/>
          </a:xfrm>
        </p:spPr>
        <p:txBody>
          <a:bodyPr/>
          <a:lstStyle/>
          <a:p>
            <a:pPr marL="0" indent="0">
              <a:buNone/>
            </a:pPr>
            <a:r>
              <a:rPr lang="hr-HR" sz="3200" b="1" dirty="0">
                <a:latin typeface="Arial" panose="020B0604020202020204" pitchFamily="34" charset="0"/>
                <a:cs typeface="Arial" panose="020B0604020202020204" pitchFamily="34" charset="0"/>
              </a:rPr>
              <a:t>Kako povećati raspoloživost?</a:t>
            </a:r>
          </a:p>
          <a:p>
            <a:pPr marL="0" indent="0">
              <a:buNone/>
            </a:pPr>
            <a:endParaRPr lang="hr-H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sz="3200" dirty="0">
                <a:latin typeface="Arial" panose="020B0604020202020204" pitchFamily="34" charset="0"/>
                <a:cs typeface="Arial" panose="020B0604020202020204" pitchFamily="34" charset="0"/>
              </a:rPr>
              <a:t>Korištenje alata za nadzor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3200" dirty="0">
                <a:latin typeface="Arial" panose="020B0604020202020204" pitchFamily="34" charset="0"/>
                <a:cs typeface="Arial" panose="020B0604020202020204" pitchFamily="34" charset="0"/>
              </a:rPr>
              <a:t>Praćenje ključnih pokazatelja performansi (KPI)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3200" dirty="0">
                <a:latin typeface="Arial" panose="020B0604020202020204" pitchFamily="34" charset="0"/>
                <a:cs typeface="Arial" panose="020B0604020202020204" pitchFamily="34" charset="0"/>
              </a:rPr>
              <a:t>Redovito izvještavanje i analiza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3200" dirty="0">
                <a:latin typeface="Arial" panose="020B0604020202020204" pitchFamily="34" charset="0"/>
                <a:cs typeface="Arial" panose="020B0604020202020204" pitchFamily="34" charset="0"/>
              </a:rPr>
              <a:t>Primjena metrika za kontinuirano poboljšanje</a:t>
            </a:r>
          </a:p>
          <a:p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297560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DD8B74-E334-4B95-BED4-F4528628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0209" y="148589"/>
            <a:ext cx="7063741" cy="822961"/>
          </a:xfrm>
        </p:spPr>
        <p:txBody>
          <a:bodyPr vert="horz" anchor="b" anchorCtr="0">
            <a:normAutofit/>
          </a:bodyPr>
          <a:lstStyle/>
          <a:p>
            <a:r>
              <a:rPr lang="hr-HR" dirty="0">
                <a:latin typeface="Arial" charset="0"/>
              </a:rPr>
              <a:t>SLA</a:t>
            </a:r>
          </a:p>
        </p:txBody>
      </p:sp>
      <p:sp>
        <p:nvSpPr>
          <p:cNvPr id="7" name="Rezervirano mjesto sadržaja 6">
            <a:extLst>
              <a:ext uri="{FF2B5EF4-FFF2-40B4-BE49-F238E27FC236}">
                <a16:creationId xmlns:a16="http://schemas.microsoft.com/office/drawing/2014/main" id="{544B45E9-4100-503A-582E-B76BEC48AFF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60220" y="1387602"/>
            <a:ext cx="9429750" cy="3566160"/>
          </a:xfrm>
        </p:spPr>
        <p:txBody>
          <a:bodyPr/>
          <a:lstStyle/>
          <a:p>
            <a:r>
              <a:rPr lang="hr-HR" sz="3200" dirty="0">
                <a:latin typeface="Arial" panose="020B0604020202020204" pitchFamily="34" charset="0"/>
                <a:cs typeface="Arial" panose="020B0604020202020204" pitchFamily="34" charset="0"/>
              </a:rPr>
              <a:t>Što je to SLA</a:t>
            </a:r>
            <a:r>
              <a:rPr lang="hr-HR" dirty="0"/>
              <a:t>?</a:t>
            </a:r>
          </a:p>
          <a:p>
            <a:endParaRPr lang="hr-HR" dirty="0"/>
          </a:p>
          <a:p>
            <a:endParaRPr lang="hr-HR" dirty="0"/>
          </a:p>
        </p:txBody>
      </p:sp>
      <p:graphicFrame>
        <p:nvGraphicFramePr>
          <p:cNvPr id="2" name="Objekt 1">
            <a:extLst>
              <a:ext uri="{FF2B5EF4-FFF2-40B4-BE49-F238E27FC236}">
                <a16:creationId xmlns:a16="http://schemas.microsoft.com/office/drawing/2014/main" id="{4D7F3A8C-C0F1-712E-5DC3-FC2732CAC7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3240458"/>
              </p:ext>
            </p:extLst>
          </p:nvPr>
        </p:nvGraphicFramePr>
        <p:xfrm>
          <a:off x="5099482" y="2564904"/>
          <a:ext cx="2004630" cy="1736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3" imgW="914400" imgH="792360" progId="Word.Document.12">
                  <p:embed/>
                </p:oleObj>
              </mc:Choice>
              <mc:Fallback>
                <p:oleObj name="Document" showAsIcon="1" r:id="rId3" imgW="914400" imgH="792360" progId="Word.Document.12">
                  <p:embed/>
                  <p:pic>
                    <p:nvPicPr>
                      <p:cNvPr id="2" name="Objekt 1">
                        <a:extLst>
                          <a:ext uri="{FF2B5EF4-FFF2-40B4-BE49-F238E27FC236}">
                            <a16:creationId xmlns:a16="http://schemas.microsoft.com/office/drawing/2014/main" id="{4D7F3A8C-C0F1-712E-5DC3-FC2732CAC7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99482" y="2564904"/>
                        <a:ext cx="2004630" cy="17366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0827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DD8B74-E334-4B95-BED4-F4528628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779" y="114299"/>
            <a:ext cx="9304021" cy="868681"/>
          </a:xfrm>
        </p:spPr>
        <p:txBody>
          <a:bodyPr vert="horz" anchor="b" anchorCtr="0">
            <a:normAutofit/>
          </a:bodyPr>
          <a:lstStyle/>
          <a:p>
            <a:r>
              <a:rPr lang="hr-HR" dirty="0">
                <a:latin typeface="Arial" charset="0"/>
              </a:rPr>
              <a:t>Zaključak</a:t>
            </a:r>
          </a:p>
        </p:txBody>
      </p:sp>
      <p:sp>
        <p:nvSpPr>
          <p:cNvPr id="7" name="Rezervirano mjesto sadržaja 6">
            <a:extLst>
              <a:ext uri="{FF2B5EF4-FFF2-40B4-BE49-F238E27FC236}">
                <a16:creationId xmlns:a16="http://schemas.microsoft.com/office/drawing/2014/main" id="{544B45E9-4100-503A-582E-B76BEC48AFF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668779" y="1268730"/>
            <a:ext cx="9978391" cy="4892040"/>
          </a:xfrm>
        </p:spPr>
        <p:txBody>
          <a:bodyPr/>
          <a:lstStyle/>
          <a:p>
            <a:pPr marL="0" indent="0">
              <a:buNone/>
            </a:pPr>
            <a:r>
              <a:rPr lang="hr-HR" sz="2800" b="1" dirty="0">
                <a:latin typeface="Arial" panose="020B0604020202020204" pitchFamily="34" charset="0"/>
                <a:cs typeface="Arial" panose="020B0604020202020204" pitchFamily="34" charset="0"/>
              </a:rPr>
              <a:t>Što smo danas naučili?</a:t>
            </a:r>
          </a:p>
          <a:p>
            <a:pPr>
              <a:buFont typeface="Arial" panose="020B0604020202020204" pitchFamily="34" charset="0"/>
              <a:buChar char="•"/>
            </a:pPr>
            <a:endParaRPr lang="hr-H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Raspoloživost ima cijeli niz utjecaja na različite domene djelovanja tvrtke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Za visoku raspoloživost potrebno je kontinuirano praćenje i poboljšanje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Razmatranje budućih koraka za održavanje visoke raspoloživosti</a:t>
            </a:r>
          </a:p>
          <a:p>
            <a:pPr>
              <a:buFont typeface="Arial" panose="020B0604020202020204" pitchFamily="34" charset="0"/>
              <a:buChar char="•"/>
            </a:pPr>
            <a:endParaRPr lang="hr-HR" dirty="0"/>
          </a:p>
          <a:p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9752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299" y="0"/>
            <a:ext cx="9988592" cy="1097280"/>
          </a:xfrm>
        </p:spPr>
        <p:txBody>
          <a:bodyPr vert="horz" anchor="b" anchorCtr="0">
            <a:normAutofit/>
          </a:bodyPr>
          <a:lstStyle/>
          <a:p>
            <a:endParaRPr lang="hr-HR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7F9AEB6-A31E-45E5-8531-91940CAA1DE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2231496" y="1510215"/>
            <a:ext cx="8421264" cy="37534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hr-HR" altLang="sr-Latn-RS" sz="23900" b="1" dirty="0">
                <a:latin typeface="Forte" panose="03060902040502070203" pitchFamily="66" charset="0"/>
                <a:cs typeface="Calibri" pitchFamily="34" charset="0"/>
              </a:rPr>
              <a:t>KRAJ</a:t>
            </a:r>
          </a:p>
        </p:txBody>
      </p:sp>
    </p:spTree>
    <p:extLst>
      <p:ext uri="{BB962C8B-B14F-4D97-AF65-F5344CB8AC3E}">
        <p14:creationId xmlns:p14="http://schemas.microsoft.com/office/powerpoint/2010/main" val="394436241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74526B780CB7E40AAED50781EDEFDF6" ma:contentTypeVersion="3" ma:contentTypeDescription="Stvaranje novog dokumenta." ma:contentTypeScope="" ma:versionID="cb71b5a7b0bc5bc9bc84eb17535dd6ea">
  <xsd:schema xmlns:xsd="http://www.w3.org/2001/XMLSchema" xmlns:xs="http://www.w3.org/2001/XMLSchema" xmlns:p="http://schemas.microsoft.com/office/2006/metadata/properties" xmlns:ns2="c041744a-391e-4a25-927f-1fb68203ca47" targetNamespace="http://schemas.microsoft.com/office/2006/metadata/properties" ma:root="true" ma:fieldsID="cdfac31b053126c546b04e5083fe936b" ns2:_="">
    <xsd:import namespace="c041744a-391e-4a25-927f-1fb68203ca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1744a-391e-4a25-927f-1fb68203ca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3F210F-C8F8-4FED-A332-742CFD6121B3}"/>
</file>

<file path=customXml/itemProps2.xml><?xml version="1.0" encoding="utf-8"?>
<ds:datastoreItem xmlns:ds="http://schemas.openxmlformats.org/officeDocument/2006/customXml" ds:itemID="{539D3ABB-5F0E-462F-B980-E3C4123726A7}"/>
</file>

<file path=customXml/itemProps3.xml><?xml version="1.0" encoding="utf-8"?>
<ds:datastoreItem xmlns:ds="http://schemas.openxmlformats.org/officeDocument/2006/customXml" ds:itemID="{8380FD53-B081-4C73-BD95-6F45F82858ED}"/>
</file>

<file path=docProps/app.xml><?xml version="1.0" encoding="utf-8"?>
<Properties xmlns="http://schemas.openxmlformats.org/officeDocument/2006/extended-properties" xmlns:vt="http://schemas.openxmlformats.org/officeDocument/2006/docPropsVTypes">
  <TotalTime>16601</TotalTime>
  <Words>891</Words>
  <Application>Microsoft Office PowerPoint</Application>
  <PresentationFormat>Široki zaslon</PresentationFormat>
  <Paragraphs>131</Paragraphs>
  <Slides>18</Slides>
  <Notes>18</Notes>
  <HiddenSlides>0</HiddenSlides>
  <MMClips>0</MMClips>
  <ScaleCrop>false</ScaleCrop>
  <HeadingPairs>
    <vt:vector size="8" baseType="variant">
      <vt:variant>
        <vt:lpstr>Korišteni fontovi</vt:lpstr>
      </vt:variant>
      <vt:variant>
        <vt:i4>4</vt:i4>
      </vt:variant>
      <vt:variant>
        <vt:lpstr>Tema</vt:lpstr>
      </vt:variant>
      <vt:variant>
        <vt:i4>1</vt:i4>
      </vt:variant>
      <vt:variant>
        <vt:lpstr>Uloženi OLE poslužitelji</vt:lpstr>
      </vt:variant>
      <vt:variant>
        <vt:i4>1</vt:i4>
      </vt:variant>
      <vt:variant>
        <vt:lpstr>Naslovi slajdova</vt:lpstr>
      </vt:variant>
      <vt:variant>
        <vt:i4>18</vt:i4>
      </vt:variant>
    </vt:vector>
  </HeadingPairs>
  <TitlesOfParts>
    <vt:vector size="24" baseType="lpstr">
      <vt:lpstr>Arial</vt:lpstr>
      <vt:lpstr>Calibri</vt:lpstr>
      <vt:lpstr>Forte</vt:lpstr>
      <vt:lpstr>Grandview Display</vt:lpstr>
      <vt:lpstr>DashVTI</vt:lpstr>
      <vt:lpstr>Document</vt:lpstr>
      <vt:lpstr>Raspoloživost</vt:lpstr>
      <vt:lpstr>Sadržaj</vt:lpstr>
      <vt:lpstr>Ishodi</vt:lpstr>
      <vt:lpstr>Uvodni video</vt:lpstr>
      <vt:lpstr>Što je raspoloživost sustava?</vt:lpstr>
      <vt:lpstr>Važnost raspoloživosti za poslovanje</vt:lpstr>
      <vt:lpstr>Važnost raspoloživosti za poslovanje</vt:lpstr>
      <vt:lpstr>Važnost raspoloživosti za poslovanje</vt:lpstr>
      <vt:lpstr>Važnost raspoloživosti za poslovanje</vt:lpstr>
      <vt:lpstr>Ključne komponente raspoloživosti</vt:lpstr>
      <vt:lpstr>Izračun raspoloživosti (%)</vt:lpstr>
      <vt:lpstr>Primjer izračuna</vt:lpstr>
      <vt:lpstr>Klasifikacija raspoloživosti</vt:lpstr>
      <vt:lpstr>Strategija</vt:lpstr>
      <vt:lpstr>Mjerenje i praćenje raspoloživosti</vt:lpstr>
      <vt:lpstr>SLA</vt:lpstr>
      <vt:lpstr>Zaključak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VIRTUALBOX</dc:title>
  <dc:creator>OGNJEN</dc:creator>
  <cp:lastModifiedBy>Ognjen Roglić</cp:lastModifiedBy>
  <cp:revision>179</cp:revision>
  <dcterms:created xsi:type="dcterms:W3CDTF">2024-07-02T10:01:58Z</dcterms:created>
  <dcterms:modified xsi:type="dcterms:W3CDTF">2025-12-10T08:31:10Z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0x010100C74526B780CB7E40AAED50781EDEFDF6</vt:lpwstr>
  </property>
</Properties>
</file>