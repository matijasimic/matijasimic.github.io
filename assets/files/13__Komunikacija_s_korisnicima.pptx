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2" r:id="rId3"/>
    <p:sldId id="357" r:id="rId4"/>
    <p:sldId id="422" r:id="rId5"/>
    <p:sldId id="358" r:id="rId6"/>
    <p:sldId id="415" r:id="rId7"/>
    <p:sldId id="416" r:id="rId8"/>
    <p:sldId id="417" r:id="rId9"/>
    <p:sldId id="418" r:id="rId10"/>
    <p:sldId id="419" r:id="rId11"/>
    <p:sldId id="420" r:id="rId12"/>
    <p:sldId id="269" r:id="rId13"/>
    <p:sldId id="423" r:id="rId14"/>
    <p:sldId id="424" r:id="rId15"/>
    <p:sldId id="425" r:id="rId16"/>
    <p:sldId id="421" r:id="rId17"/>
    <p:sldId id="271" r:id="rId18"/>
    <p:sldId id="272" r:id="rId19"/>
    <p:sldId id="273" r:id="rId20"/>
    <p:sldId id="289" r:id="rId21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57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5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28039-CACB-4FB7-BFCF-0AD938369F9D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454DF-51D3-4511-B9FB-536168BA82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075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454DF-51D3-4511-B9FB-536168BA82FE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90727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71964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52482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77509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27635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63623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2825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10425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71964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75091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31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6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2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9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9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6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1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5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7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57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Protokolarne aktivnosti i Bonton u poslovanju">
            <a:extLst>
              <a:ext uri="{FF2B5EF4-FFF2-40B4-BE49-F238E27FC236}">
                <a16:creationId xmlns:a16="http://schemas.microsoft.com/office/drawing/2014/main" id="{266016E9-E245-EA66-3D4C-175481A23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73" b="28574"/>
          <a:stretch/>
        </p:blipFill>
        <p:spPr bwMode="auto">
          <a:xfrm>
            <a:off x="20" y="152"/>
            <a:ext cx="12191980" cy="6857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D64DDC21-F0E0-7F18-321D-A12A6E446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hr-HR" sz="6000" dirty="0">
                <a:solidFill>
                  <a:srgbClr val="FFFFFF"/>
                </a:solidFill>
              </a:rPr>
              <a:t>Komunikacija s korisnicima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107203C5-DC1F-00CF-2EE2-3AC930F1F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hr-HR" dirty="0">
                <a:solidFill>
                  <a:srgbClr val="FFFFFF"/>
                </a:solidFill>
              </a:rPr>
              <a:t>Ognjen Roglić</a:t>
            </a:r>
          </a:p>
          <a:p>
            <a:r>
              <a:rPr lang="hr-HR" dirty="0">
                <a:solidFill>
                  <a:srgbClr val="FFFFFF"/>
                </a:solidFill>
              </a:rPr>
              <a:t>DIOIS [24]</a:t>
            </a:r>
          </a:p>
        </p:txBody>
      </p:sp>
      <p:cxnSp>
        <p:nvCxnSpPr>
          <p:cNvPr id="6155" name="Straight Connector 6154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777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80930" y="1219160"/>
            <a:ext cx="8605174" cy="493776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Komunikacija s korisnicima ključna je komponenta svakog uspješnog poslovanja. Ona obuhvaća sve oblike interakcije između tvrtke i njezinih klijenata, uključujući osobni kontakt, telefonske pozive, e-poštu, chatove i društvene mreže. Cilj dobre komunikacije s korisnicima nije samo pružanje informacija ili podrške, već i stvaranje pozitivnog korisničkog iskustva, jačanje povjerenja i dugoročnih odnosa.</a:t>
            </a:r>
            <a:endParaRPr lang="hr-HR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96" y="22856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Sadržaj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897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94466" y="944840"/>
            <a:ext cx="9712674" cy="591316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Učenici će: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Razumijevanje važnosti komunikacije s korisnicima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– Učenici će shvatiti zašto je komunikacija s korisnicima ključna za uspjeh poslovanja i kako ona utječe na zadovoljstvo i lojalnost klijenata.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Usvajanje osnovnih principa uspješne komunikacije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– Učenici će naučiti osnovne principe, poput jasnoće, aktivnog slušanja, empatije i pravovremenog odgovora, koji doprinose učinkovitoj komunikaciji.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Razvijanje vještina rješavanja problema i pritužbi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– Učenici će naučiti kako pravilno postupiti u situacijama kada korisnik ima pritužbu ili problem, te kako pretvoriti negativno iskustvo u pozitivno.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Primjena različitih komunikacijskih kanala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– Učenici će se upoznati s različitim kanalima komunikacije (telefon, e-mail, chat, društvene mreže) i naučiti kako ih prilagoditi prema potrebama korisnika.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466" y="21418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Ishodi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6386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94466" y="944840"/>
            <a:ext cx="9712674" cy="591316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Učenici će:</a:t>
            </a:r>
          </a:p>
          <a:p>
            <a:pPr marL="457200" lvl="0" indent="-457200">
              <a:buFont typeface="+mj-lt"/>
              <a:buAutoNum type="arabicPeriod" startAt="5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Prepoznavanje važnosti profesionalnog tona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– Učenici će razumjeti važnost korištenja profesionalnog, ali i pristupačnog tona prilikom komuniciranja s korisnicima.</a:t>
            </a:r>
          </a:p>
          <a:p>
            <a:pPr marL="457200" lvl="0" indent="-457200">
              <a:buFont typeface="+mj-lt"/>
              <a:buAutoNum type="arabicPeriod" startAt="5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Jačanje vještina prilagodbe komunikacije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– Učenici će usvojiti tehnike prilagođavanja komunikacijskog stila ovisno o situaciji, tipu korisnika i specifičnim potrebama.</a:t>
            </a:r>
          </a:p>
          <a:p>
            <a:pPr marL="457200" lvl="0" indent="-457200">
              <a:buFont typeface="+mj-lt"/>
              <a:buAutoNum type="arabicPeriod" startAt="5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Razvoj povjerenja i pozitivnog korisničkog iskustva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– Učenici će naučiti kako svojim načinom komunikacije mogu izgraditi povjerenje korisnika i stvoriti dugoročne odnose.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466" y="21418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Ishodi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8606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96" y="31705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Uvodni video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6105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1" y="1219160"/>
            <a:ext cx="8229600" cy="4937760"/>
          </a:xfrm>
        </p:spPr>
        <p:txBody>
          <a:bodyPr>
            <a:normAutofit lnSpcReduction="10000"/>
          </a:bodyPr>
          <a:lstStyle/>
          <a:p>
            <a:r>
              <a:rPr lang="hr-HR" sz="4000" b="1" dirty="0">
                <a:latin typeface="Arial" panose="020B0604020202020204" pitchFamily="34" charset="0"/>
                <a:cs typeface="Arial" panose="020B0604020202020204" pitchFamily="34" charset="0"/>
              </a:rPr>
              <a:t>Što je to komunikacija?</a:t>
            </a:r>
          </a:p>
          <a:p>
            <a:endParaRPr lang="hr-H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3600" dirty="0">
                <a:latin typeface="Arial" panose="020B0604020202020204" pitchFamily="34" charset="0"/>
                <a:cs typeface="Arial" panose="020B0604020202020204" pitchFamily="34" charset="0"/>
              </a:rPr>
              <a:t>Komunikacija je sredstvo pomoću kojeg dvije ili više osoba razmjenjuju informacije i međusobno utječu na svoja mišljenja i ponašanja kao i stvaranje novog mišljenja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Komunikacija</a:t>
            </a:r>
          </a:p>
        </p:txBody>
      </p:sp>
    </p:spTree>
    <p:extLst>
      <p:ext uri="{BB962C8B-B14F-4D97-AF65-F5344CB8AC3E}">
        <p14:creationId xmlns:p14="http://schemas.microsoft.com/office/powerpoint/2010/main" val="60442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02270" y="1143000"/>
            <a:ext cx="8944387" cy="4937760"/>
          </a:xfrm>
        </p:spPr>
        <p:txBody>
          <a:bodyPr>
            <a:normAutofit fontScale="62500" lnSpcReduction="20000"/>
          </a:bodyPr>
          <a:lstStyle/>
          <a:p>
            <a:r>
              <a:rPr lang="hr-HR" sz="4000" b="1" dirty="0">
                <a:latin typeface="Arial" panose="020B0604020202020204" pitchFamily="34" charset="0"/>
                <a:cs typeface="Arial" panose="020B0604020202020204" pitchFamily="34" charset="0"/>
              </a:rPr>
              <a:t>Što je to komunikacija?</a:t>
            </a:r>
          </a:p>
          <a:p>
            <a:endParaRPr lang="hr-H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Komunikacija je proces razmjene informacija, poruka, osjećaja i misli</a:t>
            </a:r>
          </a:p>
          <a:p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Komunikacijom primamo i šaljemo poruke da bi nas razumjeli i da bismo mi razumjeli druge</a:t>
            </a:r>
          </a:p>
          <a:p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Znanost koja se bavi komunikacijom je </a:t>
            </a:r>
            <a:r>
              <a:rPr lang="hr-HR" sz="4000" b="1" dirty="0">
                <a:latin typeface="Arial" panose="020B0604020202020204" pitchFamily="34" charset="0"/>
                <a:cs typeface="Arial" panose="020B0604020202020204" pitchFamily="34" charset="0"/>
              </a:rPr>
              <a:t>komunikologija</a:t>
            </a:r>
          </a:p>
          <a:p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Komunikologija je znanstvena disciplina čiji su predmet izučavanja, u najširem smislu, poruke koje ljudi upućuju jedni drugima</a:t>
            </a:r>
          </a:p>
          <a:p>
            <a:pPr marL="0" indent="0">
              <a:buNone/>
            </a:pPr>
            <a:endParaRPr lang="hr-HR" sz="4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Komunikacija</a:t>
            </a:r>
          </a:p>
        </p:txBody>
      </p:sp>
    </p:spTree>
    <p:extLst>
      <p:ext uri="{BB962C8B-B14F-4D97-AF65-F5344CB8AC3E}">
        <p14:creationId xmlns:p14="http://schemas.microsoft.com/office/powerpoint/2010/main" val="126654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84283" y="1248656"/>
            <a:ext cx="9898117" cy="5535601"/>
          </a:xfrm>
        </p:spPr>
        <p:txBody>
          <a:bodyPr>
            <a:normAutofit fontScale="62500" lnSpcReduction="20000"/>
          </a:bodyPr>
          <a:lstStyle/>
          <a:p>
            <a:r>
              <a:rPr lang="hr-HR" sz="4000" b="1" dirty="0">
                <a:latin typeface="Arial" panose="020B0604020202020204" pitchFamily="34" charset="0"/>
                <a:cs typeface="Arial" panose="020B0604020202020204" pitchFamily="34" charset="0"/>
              </a:rPr>
              <a:t>Kakva može biti komunikacija?</a:t>
            </a:r>
          </a:p>
          <a:p>
            <a:endParaRPr lang="hr-H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Osnova je ljudskog odnosa, a može biti </a:t>
            </a:r>
            <a:r>
              <a:rPr lang="hr-HR" sz="4000" b="1" dirty="0">
                <a:latin typeface="Arial" panose="020B0604020202020204" pitchFamily="34" charset="0"/>
                <a:cs typeface="Arial" panose="020B0604020202020204" pitchFamily="34" charset="0"/>
              </a:rPr>
              <a:t>formalna</a:t>
            </a:r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hr-HR" sz="4000" b="1" dirty="0">
                <a:latin typeface="Arial" panose="020B0604020202020204" pitchFamily="34" charset="0"/>
                <a:cs typeface="Arial" panose="020B0604020202020204" pitchFamily="34" charset="0"/>
              </a:rPr>
              <a:t>neformalna</a:t>
            </a:r>
          </a:p>
          <a:p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S obzirom na </a:t>
            </a:r>
            <a:r>
              <a:rPr lang="hr-HR" sz="4000" b="1" dirty="0">
                <a:latin typeface="Arial" panose="020B0604020202020204" pitchFamily="34" charset="0"/>
                <a:cs typeface="Arial" panose="020B0604020202020204" pitchFamily="34" charset="0"/>
              </a:rPr>
              <a:t>odnos sudionika</a:t>
            </a:r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, možemo je podijeliti na horizontalnu i vertikalnu </a:t>
            </a:r>
          </a:p>
          <a:p>
            <a:pPr lvl="1"/>
            <a:r>
              <a:rPr lang="hr-HR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Vertikalna</a:t>
            </a:r>
            <a:r>
              <a:rPr lang="hr-HR" sz="3800" dirty="0">
                <a:latin typeface="Arial" panose="020B0604020202020204" pitchFamily="34" charset="0"/>
                <a:cs typeface="Arial" panose="020B0604020202020204" pitchFamily="34" charset="0"/>
              </a:rPr>
              <a:t> – npr. profesor – učenik, menadžer - zaposlenik</a:t>
            </a:r>
          </a:p>
          <a:p>
            <a:pPr lvl="1"/>
            <a:r>
              <a:rPr lang="hr-HR" sz="3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Horizontalna</a:t>
            </a:r>
            <a:r>
              <a:rPr lang="hr-HR" sz="3800" dirty="0">
                <a:latin typeface="Arial" panose="020B0604020202020204" pitchFamily="34" charset="0"/>
                <a:cs typeface="Arial" panose="020B0604020202020204" pitchFamily="34" charset="0"/>
              </a:rPr>
              <a:t> – npr. učenik – učenik, zaposlenici odjela međusobno</a:t>
            </a:r>
          </a:p>
          <a:p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S obzirom na </a:t>
            </a:r>
            <a:r>
              <a:rPr lang="hr-HR" sz="4000" b="1" dirty="0">
                <a:latin typeface="Arial" panose="020B0604020202020204" pitchFamily="34" charset="0"/>
                <a:cs typeface="Arial" panose="020B0604020202020204" pitchFamily="34" charset="0"/>
              </a:rPr>
              <a:t>sadržaj</a:t>
            </a:r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 može biti informacijska ili edukacijska</a:t>
            </a:r>
          </a:p>
          <a:p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S obzirom na </a:t>
            </a:r>
            <a:r>
              <a:rPr lang="hr-HR" sz="4000" b="1" dirty="0">
                <a:latin typeface="Arial" panose="020B0604020202020204" pitchFamily="34" charset="0"/>
                <a:cs typeface="Arial" panose="020B0604020202020204" pitchFamily="34" charset="0"/>
              </a:rPr>
              <a:t>način</a:t>
            </a:r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, ona je verbalna (jezik, govor, pismo) i neverbalna (govor tijela)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Vrste komunikacije</a:t>
            </a:r>
          </a:p>
        </p:txBody>
      </p:sp>
    </p:spTree>
    <p:extLst>
      <p:ext uri="{BB962C8B-B14F-4D97-AF65-F5344CB8AC3E}">
        <p14:creationId xmlns:p14="http://schemas.microsoft.com/office/powerpoint/2010/main" val="216405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0" y="1219160"/>
            <a:ext cx="8787071" cy="4937760"/>
          </a:xfrm>
        </p:spPr>
        <p:txBody>
          <a:bodyPr>
            <a:normAutofit fontScale="62500" lnSpcReduction="20000"/>
          </a:bodyPr>
          <a:lstStyle/>
          <a:p>
            <a:r>
              <a:rPr lang="hr-HR" sz="4000" b="1" dirty="0">
                <a:latin typeface="Arial" panose="020B0604020202020204" pitchFamily="34" charset="0"/>
                <a:cs typeface="Arial" panose="020B0604020202020204" pitchFamily="34" charset="0"/>
              </a:rPr>
              <a:t>Osnovne značajke ljudske komunikacije su:</a:t>
            </a:r>
          </a:p>
          <a:p>
            <a:endParaRPr lang="hr-HR" sz="4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88670" lvl="1" indent="-514350">
              <a:buFont typeface="+mj-lt"/>
              <a:buAutoNum type="arabicPeriod"/>
            </a:pPr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Ljudi komuniciraju iz više različitih razloga</a:t>
            </a:r>
          </a:p>
          <a:p>
            <a:pPr marL="788670" lvl="1" indent="-514350">
              <a:buFont typeface="+mj-lt"/>
              <a:buAutoNum type="arabicPeriod"/>
            </a:pPr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Rezultat komunikacije su namjerni ili nenamjerni učinci</a:t>
            </a:r>
          </a:p>
          <a:p>
            <a:pPr marL="788670" lvl="1" indent="-514350">
              <a:buFont typeface="+mj-lt"/>
              <a:buAutoNum type="arabicPeriod"/>
            </a:pPr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Komunikacija je obično obostrana i uključuje najmanje dvije osobe koje jedna na drugu utječu u nejednakoj mjeri</a:t>
            </a:r>
          </a:p>
          <a:p>
            <a:pPr marL="788670" lvl="1" indent="-514350">
              <a:buFont typeface="+mj-lt"/>
              <a:buAutoNum type="arabicPeriod"/>
            </a:pPr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Komunikacija se dogodila i onda kada nije bila uspješna</a:t>
            </a:r>
          </a:p>
          <a:p>
            <a:pPr marL="788670" lvl="1" indent="-514350">
              <a:buFont typeface="+mj-lt"/>
              <a:buAutoNum type="arabicPeriod"/>
            </a:pPr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Komunikacija uključuje uporabu simbola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99060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Značajke komunikacije</a:t>
            </a:r>
          </a:p>
        </p:txBody>
      </p:sp>
    </p:spTree>
    <p:extLst>
      <p:ext uri="{BB962C8B-B14F-4D97-AF65-F5344CB8AC3E}">
        <p14:creationId xmlns:p14="http://schemas.microsoft.com/office/powerpoint/2010/main" val="403731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344FAAA-1E89-44CB-96E5-710AB354D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299" y="250724"/>
            <a:ext cx="9848709" cy="948811"/>
          </a:xfrm>
        </p:spPr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Kako komunicirati s korisnikom?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D390EE8-C323-44B9-BFEB-B4098755FE3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682299" y="1199535"/>
            <a:ext cx="9575636" cy="4572000"/>
          </a:xfrm>
        </p:spPr>
        <p:txBody>
          <a:bodyPr>
            <a:normAutofit fontScale="92500"/>
          </a:bodyPr>
          <a:lstStyle/>
          <a:p>
            <a:endParaRPr lang="hr-HR" sz="3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sz="3100" b="1" dirty="0">
                <a:latin typeface="Arial" panose="020B0604020202020204" pitchFamily="34" charset="0"/>
                <a:cs typeface="Arial" panose="020B0604020202020204" pitchFamily="34" charset="0"/>
              </a:rPr>
              <a:t>Definicija: </a:t>
            </a:r>
            <a:r>
              <a:rPr lang="hr-HR" sz="3100" i="1" dirty="0">
                <a:latin typeface="Arial" panose="020B0604020202020204" pitchFamily="34" charset="0"/>
                <a:cs typeface="Arial" panose="020B0604020202020204" pitchFamily="34" charset="0"/>
              </a:rPr>
              <a:t>Komunikacija s korisnicima podrazumijeva razmjenu informacija između kompanije i njenih klijenata radi zadovoljavanja njihovih potreba i očekivanja.</a:t>
            </a:r>
          </a:p>
          <a:p>
            <a:pPr marL="0" indent="0">
              <a:buNone/>
            </a:pPr>
            <a:endParaRPr lang="hr-HR" sz="31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sz="3100" b="1" dirty="0">
                <a:latin typeface="Arial" panose="020B0604020202020204" pitchFamily="34" charset="0"/>
                <a:cs typeface="Arial" panose="020B0604020202020204" pitchFamily="34" charset="0"/>
              </a:rPr>
              <a:t>Cilj: </a:t>
            </a:r>
            <a:r>
              <a:rPr lang="hr-HR" sz="3100" i="1" dirty="0">
                <a:latin typeface="Arial" panose="020B0604020202020204" pitchFamily="34" charset="0"/>
                <a:cs typeface="Arial" panose="020B0604020202020204" pitchFamily="34" charset="0"/>
              </a:rPr>
              <a:t>Poboljšanje korisničkog iskustva, izgradnja lojalnosti i povećanje zadovoljstva korisnika.</a:t>
            </a:r>
          </a:p>
        </p:txBody>
      </p:sp>
    </p:spTree>
    <p:extLst>
      <p:ext uri="{BB962C8B-B14F-4D97-AF65-F5344CB8AC3E}">
        <p14:creationId xmlns:p14="http://schemas.microsoft.com/office/powerpoint/2010/main" val="2949903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5A6412-5445-41FF-97DC-96BF0DC5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299" y="221227"/>
            <a:ext cx="9585470" cy="909483"/>
          </a:xfrm>
        </p:spPr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Vrste komunikacije s korisnicima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BA64E78-5AB2-4C68-85A6-CD917DC32C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4937760"/>
          </a:xfrm>
        </p:spPr>
        <p:txBody>
          <a:bodyPr>
            <a:normAutofit fontScale="85000" lnSpcReduction="20000"/>
          </a:bodyPr>
          <a:lstStyle/>
          <a:p>
            <a:r>
              <a:rPr lang="hr-HR" sz="3000" b="1" dirty="0">
                <a:latin typeface="Arial" panose="020B0604020202020204" pitchFamily="34" charset="0"/>
                <a:cs typeface="Arial" panose="020B0604020202020204" pitchFamily="34" charset="0"/>
              </a:rPr>
              <a:t>Vrste komunikacije s korisnicima:</a:t>
            </a:r>
          </a:p>
          <a:p>
            <a:endParaRPr lang="hr-HR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hr-HR" sz="3000" b="1" dirty="0">
                <a:latin typeface="Arial" panose="020B0604020202020204" pitchFamily="34" charset="0"/>
                <a:cs typeface="Arial" panose="020B0604020202020204" pitchFamily="34" charset="0"/>
              </a:rPr>
              <a:t>Verbalna komunikacija:</a:t>
            </a:r>
            <a:endParaRPr lang="hr-H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Telefonski pozivi</a:t>
            </a:r>
          </a:p>
          <a:p>
            <a:pPr marL="742950" lvl="1" indent="-285750">
              <a:buFont typeface="+mj-lt"/>
              <a:buAutoNum type="arabicPeriod"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Sastanci uživo</a:t>
            </a:r>
          </a:p>
          <a:p>
            <a:pPr marL="742950" lvl="1" indent="-285750">
              <a:buFont typeface="+mj-lt"/>
              <a:buAutoNum type="arabicPeriod"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Video konferencije</a:t>
            </a:r>
          </a:p>
          <a:p>
            <a:pPr marL="742950" lvl="1" indent="-285750">
              <a:buFont typeface="+mj-lt"/>
              <a:buAutoNum type="arabicPeriod"/>
            </a:pPr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hr-HR" sz="3000" b="1" dirty="0">
                <a:latin typeface="Arial" panose="020B0604020202020204" pitchFamily="34" charset="0"/>
                <a:cs typeface="Arial" panose="020B0604020202020204" pitchFamily="34" charset="0"/>
              </a:rPr>
              <a:t>Pisani oblici:</a:t>
            </a:r>
            <a:endParaRPr lang="hr-H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E-mailovi</a:t>
            </a:r>
          </a:p>
          <a:p>
            <a:pPr marL="742950" lvl="1" indent="-285750">
              <a:buFont typeface="+mj-lt"/>
              <a:buAutoNum type="arabicPeriod"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Chat uživo</a:t>
            </a:r>
          </a:p>
          <a:p>
            <a:pPr marL="742950" lvl="1" indent="-285750">
              <a:buFont typeface="+mj-lt"/>
              <a:buAutoNum type="arabicPeriod"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Pisma i izvještaji</a:t>
            </a: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12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5A6412-5445-41FF-97DC-96BF0DC5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300" y="221227"/>
            <a:ext cx="9093856" cy="899650"/>
          </a:xfrm>
        </p:spPr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Vrste komunikacije s korisnicima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BA64E78-5AB2-4C68-85A6-CD917DC32C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49377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Digitalna komunikacija:</a:t>
            </a:r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Društvene mreže</a:t>
            </a:r>
          </a:p>
          <a:p>
            <a:pPr marL="742950" lvl="1" indent="-285750">
              <a:buFont typeface="+mj-lt"/>
              <a:buAutoNum type="arabicPeriod"/>
            </a:pP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Aplikacije za razmjenu poruka</a:t>
            </a:r>
          </a:p>
          <a:p>
            <a:pPr marL="742950" lvl="1" indent="-285750">
              <a:buFont typeface="+mj-lt"/>
              <a:buAutoNum type="arabicPeriod"/>
            </a:pP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Komentari i recenzije na internetu</a:t>
            </a:r>
          </a:p>
          <a:p>
            <a:pPr marL="742950" lvl="1" indent="-285750">
              <a:buFont typeface="+mj-lt"/>
              <a:buAutoNum type="arabicPeriod"/>
            </a:pPr>
            <a:endParaRPr lang="hr-H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 startAt="3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   Vizualna komunikacija:</a:t>
            </a:r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Info grafike</a:t>
            </a:r>
          </a:p>
          <a:p>
            <a:pPr marL="742950" lvl="1" indent="-285750">
              <a:buFont typeface="+mj-lt"/>
              <a:buAutoNum type="arabicPeriod"/>
            </a:pP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Video sadržaji</a:t>
            </a:r>
          </a:p>
          <a:p>
            <a:pPr marL="742950" lvl="1" indent="-285750">
              <a:buFont typeface="+mj-lt"/>
              <a:buAutoNum type="arabicPeriod"/>
            </a:pP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Prezentacije</a:t>
            </a: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68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5A6412-5445-41FF-97DC-96BF0DC5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300" y="221227"/>
            <a:ext cx="9093856" cy="899650"/>
          </a:xfrm>
        </p:spPr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Ton komunikacije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BA64E78-5AB2-4C68-85A6-CD917DC32C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450826" cy="49377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Što je ton komunikacije?</a:t>
            </a:r>
          </a:p>
          <a:p>
            <a:pPr marL="0" indent="0">
              <a:buNone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Ton komunikacije označava način na koji prenesemo poruku, odnosno emocije i stavove koje izražavamo kroz riječi i govor.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Važnost tona u komunikaciji s korisnicima</a:t>
            </a:r>
          </a:p>
          <a:p>
            <a:pPr marL="0" indent="0">
              <a:buNone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Ton može značajno utjecati na način na koji korisnici percipiraju poruku. Prijateljski i profesionalan ton stvara pozitivno iskustvo, dok hladan ili grub ton može izazvati frustraciju ili nesporazum.</a:t>
            </a: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41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5A6412-5445-41FF-97DC-96BF0DC5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300" y="221227"/>
            <a:ext cx="9093856" cy="899650"/>
          </a:xfrm>
        </p:spPr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Ton komunikacije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BA64E78-5AB2-4C68-85A6-CD917DC32C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450826" cy="4937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sz="2000" b="1" dirty="0">
                <a:latin typeface="Arial" panose="020B0604020202020204" pitchFamily="34" charset="0"/>
                <a:cs typeface="Arial" panose="020B0604020202020204" pitchFamily="34" charset="0"/>
              </a:rPr>
              <a:t>Primjeri tonova komunikacije:</a:t>
            </a:r>
          </a:p>
          <a:p>
            <a:pPr marL="0" indent="0">
              <a:buNone/>
            </a:pPr>
            <a:endParaRPr lang="hr-H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000" b="1" dirty="0">
                <a:latin typeface="Arial" panose="020B0604020202020204" pitchFamily="34" charset="0"/>
                <a:cs typeface="Arial" panose="020B0604020202020204" pitchFamily="34" charset="0"/>
              </a:rPr>
              <a:t>Profesionalan i ljubazan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- koristi se u većini poslovnih situacija (npr. "Hvala vam na strpljenju, odmah ćemo vam pomoći").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000" b="1" dirty="0">
                <a:latin typeface="Arial" panose="020B0604020202020204" pitchFamily="34" charset="0"/>
                <a:cs typeface="Arial" panose="020B0604020202020204" pitchFamily="34" charset="0"/>
              </a:rPr>
              <a:t>Empatičan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- koristi se kada korisnik ima problem (npr. "Razumijemo vašu situaciju i potrudit ćemo se što prije riješiti vaš problem").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000" b="1" dirty="0">
                <a:latin typeface="Arial" panose="020B0604020202020204" pitchFamily="34" charset="0"/>
                <a:cs typeface="Arial" panose="020B0604020202020204" pitchFamily="34" charset="0"/>
              </a:rPr>
              <a:t>Neutralan i objektivan</a:t>
            </a:r>
            <a:r>
              <a:rPr lang="hr-HR" sz="2000" dirty="0">
                <a:latin typeface="Arial" panose="020B0604020202020204" pitchFamily="34" charset="0"/>
                <a:cs typeface="Arial" panose="020B0604020202020204" pitchFamily="34" charset="0"/>
              </a:rPr>
              <a:t> - koristi se kod pružanja informacija bez emocija (npr. "Naš radni tim bit će dostupan ponovo u 9 sati").</a:t>
            </a: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1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5A6412-5445-41FF-97DC-96BF0DC5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300" y="221227"/>
            <a:ext cx="9093856" cy="899650"/>
          </a:xfrm>
        </p:spPr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Ton komunikacije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BA64E78-5AB2-4C68-85A6-CD917DC32C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450826" cy="49377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Savjeti za pravilan ton u komunikaciji s korisnicima</a:t>
            </a:r>
          </a:p>
          <a:p>
            <a:pPr lvl="2"/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Prilagodite ton ovisno o situaciji i potrebama korisnika.</a:t>
            </a:r>
          </a:p>
          <a:p>
            <a:pPr lvl="2"/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Izbjegavajte negativne izraze ili riječi koje mogu zvučati kritično.</a:t>
            </a:r>
          </a:p>
          <a:p>
            <a:pPr lvl="2"/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Održavajte ljubazan i profesionalan pristup bez obzira na korisnikovo raspoloženje.</a:t>
            </a:r>
          </a:p>
          <a:p>
            <a:pPr marL="0" indent="0">
              <a:buNone/>
            </a:pPr>
            <a:endParaRPr lang="hr-H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Važnost konzistentnosti u tonu</a:t>
            </a:r>
          </a:p>
          <a:p>
            <a:pPr lvl="2"/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Dosljedan ton pomaže izgraditi povjerenje i profesionalnu reputaciju tvrtke.</a:t>
            </a: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5A6412-5445-41FF-97DC-96BF0DC5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802" y="152400"/>
            <a:ext cx="10254064" cy="1097280"/>
          </a:xfrm>
        </p:spPr>
        <p:txBody>
          <a:bodyPr>
            <a:noAutofit/>
          </a:bodyPr>
          <a:lstStyle/>
          <a:p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Ključne komponente komunikacije s korisnicima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BA64E78-5AB2-4C68-85A6-CD917DC32C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4937760"/>
          </a:xfrm>
        </p:spPr>
        <p:txBody>
          <a:bodyPr>
            <a:normAutofit lnSpcReduction="10000"/>
          </a:bodyPr>
          <a:lstStyle/>
          <a:p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Ključne komponente efikasne komunikacije s korisnicima</a:t>
            </a:r>
          </a:p>
          <a:p>
            <a:endParaRPr lang="hr-H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Jasnoća i preciznost: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Poruke treba da budu jasne, razumljive i bez dvosmislenosti.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Brzina i pravovremenost: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Odgovorite brzo na upite korisnika kako biste pokazali da cijenite njihovo vrijeme.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Empatija: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Razumijevanje i suosjećanje s potrebama i problemima korisnika.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Konzistentnost: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Osigurajte dosljedne informacije preko svih komunikacijskih kanala.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Povratne informacije: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Redovno tražite i analizirajte povratne informacije od korisnika kako biste poboljšali usluge.</a:t>
            </a:r>
          </a:p>
          <a:p>
            <a:endParaRPr lang="hr-H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hr-H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4567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5A6412-5445-41FF-97DC-96BF0DC5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633" y="152400"/>
            <a:ext cx="9683793" cy="899652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Tehnike poboljšanja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BA64E78-5AB2-4C68-85A6-CD917DC32C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4937760"/>
          </a:xfrm>
        </p:spPr>
        <p:txBody>
          <a:bodyPr>
            <a:normAutofit/>
          </a:bodyPr>
          <a:lstStyle/>
          <a:p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Tehnike za poboljšanje komunikacije s korisnicima</a:t>
            </a:r>
          </a:p>
          <a:p>
            <a:endParaRPr lang="hr-H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Aktivno slušanje: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Fokusirajte se na ono što korisnik govori, postavljajte pitanja i ponavljajte ključne informacije kako biste osigurali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razumjevanje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Personalizacija: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Prilagodite komunikaciju svakom korisniku na osnovu njegovih potreba i povijesti interakcija.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Upotreba pozitivnog jezika: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Koristite optimističan i pozitivan ton kako biste izgradili dobar odnos s korisnicima.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Tehnološka podrška: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Iskoristite CRM sustave i druge tehnologije za efikasno praćenje i upravljanje komunikacijom.</a:t>
            </a: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76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5A6412-5445-41FF-97DC-96BF0DC5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467" y="152400"/>
            <a:ext cx="9683791" cy="850490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Izazovi u komunikaciji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BA64E78-5AB2-4C68-85A6-CD917DC32C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64890" y="1091380"/>
            <a:ext cx="8229600" cy="4937760"/>
          </a:xfrm>
        </p:spPr>
        <p:txBody>
          <a:bodyPr>
            <a:normAutofit fontScale="92500" lnSpcReduction="20000"/>
          </a:bodyPr>
          <a:lstStyle/>
          <a:p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Izazovi u komunikaciji s korisnicima</a:t>
            </a:r>
          </a:p>
          <a:p>
            <a:endParaRPr lang="hr-H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Različite preferencije korisnika: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 Neki korisnici preferiraju digitalnu komunikaciju, dok drugi preferiraju telefonske pozive ili sastanke uživo.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Jezik i kulturne barijere: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 Različiti jezici i kulturni konteksti mogu dovesti do nesporazuma.</a:t>
            </a:r>
          </a:p>
          <a:p>
            <a:pPr>
              <a:buFont typeface="Arial" panose="020B0604020202020204" pitchFamily="34" charset="0"/>
              <a:buChar char="•"/>
            </a:pPr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Upravljanje negativnim povratnim informacijama: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 Važno je konstruktivno reagirati na kritike i koristiti ih za unaprjeđenje usluga.</a:t>
            </a: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16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5A6412-5445-41FF-97DC-96BF0DC5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132" y="152400"/>
            <a:ext cx="8229600" cy="840658"/>
          </a:xfrm>
        </p:spPr>
        <p:txBody>
          <a:bodyPr>
            <a:normAutofit/>
          </a:bodyPr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Zaključak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BA64E78-5AB2-4C68-85A6-CD917DC32C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692132" y="1071717"/>
            <a:ext cx="8229600" cy="4937760"/>
          </a:xfrm>
        </p:spPr>
        <p:txBody>
          <a:bodyPr>
            <a:normAutofit fontScale="92500"/>
          </a:bodyPr>
          <a:lstStyle/>
          <a:p>
            <a:endParaRPr lang="hr-HR" b="1" dirty="0"/>
          </a:p>
          <a:p>
            <a:pPr>
              <a:buFont typeface="Arial" panose="020B0604020202020204" pitchFamily="34" charset="0"/>
              <a:buChar char="•"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Komunikacija s korisnicima ključni je aspekt svakog uspješnog poslovanja. Kvalitetna i učinkovita komunikacija ne samo da pomaže u rješavanju problema, već također gradi povjerenje i lojalnost korisnika, čime se poboljšava cjelokupno korisničko iskustvo. Razumijevanje različitih kanala komunikacije, vještine aktivnog slušanja i prilagodljivost u pristupu mogu značajno unaprijediti zadovoljstvo korisnika i pridonijeti dugoročnom uspjehu tvrtke. U konačnici, cilj je uvijek ostvariti pozitivnu i otvorenu komunikaciju koja koristi i korisnicima i poslovanju.</a:t>
            </a:r>
          </a:p>
          <a:p>
            <a:endParaRPr lang="hr-H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1957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299" y="0"/>
            <a:ext cx="9988592" cy="1097280"/>
          </a:xfrm>
        </p:spPr>
        <p:txBody>
          <a:bodyPr vert="horz" anchor="b" anchorCtr="0">
            <a:normAutofit/>
          </a:bodyPr>
          <a:lstStyle/>
          <a:p>
            <a:endParaRPr lang="hr-HR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7F9AEB6-A31E-45E5-8531-91940CAA1DE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2231496" y="1474114"/>
            <a:ext cx="7758324" cy="382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hr-HR" altLang="sr-Latn-RS" sz="16600" b="1" dirty="0">
                <a:latin typeface="Edwardian Script ITC" panose="030303020407070D0804" pitchFamily="66" charset="0"/>
                <a:cs typeface="Dreaming Outloud Pro" panose="020B0604020202020204" pitchFamily="66" charset="0"/>
              </a:rPr>
              <a:t>KRAJ</a:t>
            </a:r>
          </a:p>
          <a:p>
            <a:pPr marL="0" indent="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hr-HR" altLang="sr-Latn-RS" sz="6000" b="1" dirty="0">
                <a:latin typeface="Edwardian Script ITC" panose="030303020407070D0804" pitchFamily="66" charset="0"/>
                <a:cs typeface="Dreaming Outloud Pro" panose="020B0604020202020204" pitchFamily="66" charset="0"/>
              </a:rPr>
              <a:t>Hvala na slušanju!</a:t>
            </a:r>
          </a:p>
        </p:txBody>
      </p:sp>
    </p:spTree>
    <p:extLst>
      <p:ext uri="{BB962C8B-B14F-4D97-AF65-F5344CB8AC3E}">
        <p14:creationId xmlns:p14="http://schemas.microsoft.com/office/powerpoint/2010/main" val="394436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3" ma:contentTypeDescription="Stvaranje novog dokumenta." ma:contentTypeScope="" ma:versionID="cb71b5a7b0bc5bc9bc84eb17535dd6ea">
  <xsd:schema xmlns:xsd="http://www.w3.org/2001/XMLSchema" xmlns:xs="http://www.w3.org/2001/XMLSchema" xmlns:p="http://schemas.microsoft.com/office/2006/metadata/properties" xmlns:ns2="c041744a-391e-4a25-927f-1fb68203ca47" targetNamespace="http://schemas.microsoft.com/office/2006/metadata/properties" ma:root="true" ma:fieldsID="cdfac31b053126c546b04e5083fe936b" ns2:_="">
    <xsd:import namespace="c041744a-391e-4a25-927f-1fb68203ca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1744a-391e-4a25-927f-1fb68203c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23E468-E047-43EA-A857-544623BA037F}"/>
</file>

<file path=customXml/itemProps2.xml><?xml version="1.0" encoding="utf-8"?>
<ds:datastoreItem xmlns:ds="http://schemas.openxmlformats.org/officeDocument/2006/customXml" ds:itemID="{61449BDD-BD71-4C59-98A3-85D76CFB3C81}"/>
</file>

<file path=customXml/itemProps3.xml><?xml version="1.0" encoding="utf-8"?>
<ds:datastoreItem xmlns:ds="http://schemas.openxmlformats.org/officeDocument/2006/customXml" ds:itemID="{2E5C231F-15CD-4C46-9392-552C8C56DC3C}"/>
</file>

<file path=docProps/app.xml><?xml version="1.0" encoding="utf-8"?>
<Properties xmlns="http://schemas.openxmlformats.org/officeDocument/2006/extended-properties" xmlns:vt="http://schemas.openxmlformats.org/officeDocument/2006/docPropsVTypes">
  <TotalTime>16876</TotalTime>
  <Words>1088</Words>
  <Application>Microsoft Office PowerPoint</Application>
  <PresentationFormat>Široki zaslon</PresentationFormat>
  <Paragraphs>142</Paragraphs>
  <Slides>20</Slides>
  <Notes>10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20</vt:i4>
      </vt:variant>
    </vt:vector>
  </HeadingPairs>
  <TitlesOfParts>
    <vt:vector size="25" baseType="lpstr">
      <vt:lpstr>Arial</vt:lpstr>
      <vt:lpstr>Calibri</vt:lpstr>
      <vt:lpstr>Edwardian Script ITC</vt:lpstr>
      <vt:lpstr>Grandview Display</vt:lpstr>
      <vt:lpstr>DashVTI</vt:lpstr>
      <vt:lpstr>Komunikacija s korisnicima</vt:lpstr>
      <vt:lpstr>Sadržaj</vt:lpstr>
      <vt:lpstr>Ishodi</vt:lpstr>
      <vt:lpstr>Ishodi</vt:lpstr>
      <vt:lpstr>Uvodni video</vt:lpstr>
      <vt:lpstr>Komunikacija</vt:lpstr>
      <vt:lpstr>Komunikacija</vt:lpstr>
      <vt:lpstr>Vrste komunikacije</vt:lpstr>
      <vt:lpstr>Značajke komunikacije</vt:lpstr>
      <vt:lpstr>Kako komunicirati s korisnikom?</vt:lpstr>
      <vt:lpstr>Vrste komunikacije s korisnicima</vt:lpstr>
      <vt:lpstr>Vrste komunikacije s korisnicima</vt:lpstr>
      <vt:lpstr>Ton komunikacije</vt:lpstr>
      <vt:lpstr>Ton komunikacije</vt:lpstr>
      <vt:lpstr>Ton komunikacije</vt:lpstr>
      <vt:lpstr>Ključne komponente komunikacije s korisnicima</vt:lpstr>
      <vt:lpstr>Tehnike poboljšanja</vt:lpstr>
      <vt:lpstr>Izazovi u komunikaciji</vt:lpstr>
      <vt:lpstr>Zaključak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VIRTUALBOX</dc:title>
  <dc:creator>OGNJEN</dc:creator>
  <cp:lastModifiedBy>Ognjen Roglić</cp:lastModifiedBy>
  <cp:revision>222</cp:revision>
  <dcterms:created xsi:type="dcterms:W3CDTF">2024-07-02T10:01:58Z</dcterms:created>
  <dcterms:modified xsi:type="dcterms:W3CDTF">2025-12-10T08:32:15Z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