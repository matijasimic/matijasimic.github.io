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entation.xml" ContentType="application/vnd.openxmlformats-officedocument.presentationml.presentation.mai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262" r:id="rId3"/>
    <p:sldId id="357" r:id="rId4"/>
    <p:sldId id="358" r:id="rId5"/>
    <p:sldId id="381" r:id="rId6"/>
    <p:sldId id="382" r:id="rId7"/>
    <p:sldId id="291" r:id="rId8"/>
    <p:sldId id="290" r:id="rId9"/>
    <p:sldId id="269" r:id="rId10"/>
    <p:sldId id="288" r:id="rId11"/>
    <p:sldId id="270" r:id="rId12"/>
    <p:sldId id="285" r:id="rId13"/>
    <p:sldId id="286" r:id="rId14"/>
    <p:sldId id="292" r:id="rId15"/>
    <p:sldId id="293" r:id="rId16"/>
    <p:sldId id="294" r:id="rId17"/>
    <p:sldId id="287" r:id="rId18"/>
    <p:sldId id="295" r:id="rId19"/>
    <p:sldId id="296" r:id="rId20"/>
    <p:sldId id="289" r:id="rId21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rednji stil 2 - Isticanj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57" autoAdjust="0"/>
    <p:restoredTop sz="81961" autoAdjust="0"/>
  </p:normalViewPr>
  <p:slideViewPr>
    <p:cSldViewPr snapToGrid="0">
      <p:cViewPr varScale="1">
        <p:scale>
          <a:sx n="67" d="100"/>
          <a:sy n="67" d="100"/>
        </p:scale>
        <p:origin x="96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zaglavlj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Rezervirano mjesto datum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228039-CACB-4FB7-BFCF-0AD938369F9D}" type="datetimeFigureOut">
              <a:rPr lang="hr-HR" smtClean="0"/>
              <a:t>10.12.2025.</a:t>
            </a:fld>
            <a:endParaRPr lang="hr-HR"/>
          </a:p>
        </p:txBody>
      </p:sp>
      <p:sp>
        <p:nvSpPr>
          <p:cNvPr id="4" name="Rezervirano mjesto slike slajd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Rezervirano mjesto bilježaka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6" name="Rezervirano mjesto podnožj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Rezervirano mjesto broja slajd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0454DF-51D3-4511-B9FB-536168BA82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07543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slike slajd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zervirano mjesto bilježaka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 dirty="0"/>
          </a:p>
        </p:txBody>
      </p:sp>
      <p:sp>
        <p:nvSpPr>
          <p:cNvPr id="4" name="Rezervirano mjesto broja slajd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0454DF-51D3-4511-B9FB-536168BA82FE}" type="slidenum">
              <a:rPr lang="hr-HR" smtClean="0"/>
              <a:t>1</a:t>
            </a:fld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1907274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719643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52482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276352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Informacijski sustav koji se nalazi u stanju kvara označava svako stanje sustava koje odstupa od definiranih karakteristika (projektiranih, specificiranih, očekivanih...).</a:t>
            </a:r>
          </a:p>
          <a:p>
            <a:r>
              <a:rPr lang="hr-HR" dirty="0"/>
              <a:t>• Bez obzira da li uslijed pojave kvara sustav može nastaviti funkciju sa umanjenim performansama ili nastaje zastoj uzrokovan pojavom kvara, u teoriji pouzdanosti, smatra se da je takav sustav izvan svoje funkcije.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571964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Informacijski sustav koji se nalazi u stanju kvara označava svako stanje sustava koje odstupa od definiranih karakteristika (projektiranih, specificiranih, očekivanih...).</a:t>
            </a:r>
          </a:p>
          <a:p>
            <a:r>
              <a:rPr lang="hr-HR" dirty="0"/>
              <a:t>• Bez obzira da li uslijed pojave kvara sustav može nastaviti funkciju sa umanjenim performansama ili nastaje zastoj uzrokovan pojavom kvara, u teoriji pouzdanosti, smatra se da je takav sustav izvan svoje funkcije.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045414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dirty="0"/>
              <a:t>Informacijski sustav koji se nalazi u stanju kvara označava svako stanje sustava koje odstupa od definiranih karakteristika (projektiranih, specificiranih, očekivanih...).</a:t>
            </a:r>
          </a:p>
          <a:p>
            <a:r>
              <a:rPr lang="hr-HR" dirty="0"/>
              <a:t>• Bez obzira da li uslijed pojave kvara sustav može nastaviti funkciju sa umanjenim performansama ili nastaje zastoj uzrokovan pojavom kvara, u teoriji pouzdanosti, smatra se da je takav sustav izvan svoje funkcije.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824972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135184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Inherentni kvarovi </a:t>
            </a:r>
            <a:r>
              <a:rPr lang="hr-HR" dirty="0"/>
              <a:t>posljedica propisane radne aktivnosti odnosno funkcije sustava i nastaju samo tijekom same funkcije sustava. Dijele se u tri glavne skupine: početne kvarove, slučajne kvarove i kvarove zbog istrošenosti.</a:t>
            </a:r>
          </a:p>
          <a:p>
            <a:r>
              <a:rPr lang="hr-HR" dirty="0"/>
              <a:t>Upravo se na zadnja dva može utjecati pravilnim održavanjem.</a:t>
            </a:r>
          </a:p>
          <a:p>
            <a:endParaRPr lang="hr-HR" sz="120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hr-HR" sz="1200" dirty="0">
                <a:latin typeface="Calibri" pitchFamily="34" charset="0"/>
                <a:cs typeface="Calibri" pitchFamily="34" charset="0"/>
              </a:rPr>
              <a:t>Kvarovi koji sustavu nisu inherentni odnosno ne potječu od osnovne funkcije sustava nazivamo </a:t>
            </a:r>
            <a:r>
              <a:rPr lang="hr-HR" sz="1200" b="1" dirty="0" err="1">
                <a:latin typeface="Calibri" pitchFamily="34" charset="0"/>
                <a:cs typeface="Calibri" pitchFamily="34" charset="0"/>
              </a:rPr>
              <a:t>neinherentnim</a:t>
            </a:r>
            <a:r>
              <a:rPr lang="hr-HR" sz="1200" b="1" dirty="0">
                <a:latin typeface="Calibri" pitchFamily="34" charset="0"/>
                <a:cs typeface="Calibri" pitchFamily="34" charset="0"/>
              </a:rPr>
              <a:t> kvarovima</a:t>
            </a:r>
            <a:r>
              <a:rPr lang="hr-HR" sz="1200" dirty="0">
                <a:latin typeface="Calibri" pitchFamily="34" charset="0"/>
                <a:cs typeface="Calibri" pitchFamily="34" charset="0"/>
              </a:rPr>
              <a:t>, a mogu biti posljedica nepravilnog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hr-HR" sz="1200" dirty="0">
                <a:latin typeface="Calibri" pitchFamily="34" charset="0"/>
                <a:cs typeface="Calibri" pitchFamily="34" charset="0"/>
              </a:rPr>
              <a:t>rukovanja, prirodnih katastrofa i sl. Takvi se kvarovi u naravi ne istražuju niti se radi posebna dijagnostika</a:t>
            </a:r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388402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r-HR" b="1" dirty="0"/>
              <a:t>Inherentni kvarovi </a:t>
            </a:r>
            <a:r>
              <a:rPr lang="hr-HR" dirty="0"/>
              <a:t>posljedica propisane radne aktivnosti odnosno funkcije sustava i nastaju samo tijekom same funkcije sustava. Dijele se u tri glavne skupine: početne kvarove, slučajne kvarove i kvarove zbog istrošenosti.</a:t>
            </a:r>
          </a:p>
          <a:p>
            <a:r>
              <a:rPr lang="hr-HR" dirty="0"/>
              <a:t>Upravo se na zadnja dva može utjecati pravilnim održavanjem.</a:t>
            </a:r>
          </a:p>
          <a:p>
            <a:endParaRPr lang="hr-HR" sz="1200" dirty="0">
              <a:latin typeface="Calibri" pitchFamily="34" charset="0"/>
              <a:cs typeface="Calibri" pitchFamily="34" charset="0"/>
            </a:endParaRP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hr-HR" sz="1200" dirty="0">
                <a:latin typeface="Calibri" pitchFamily="34" charset="0"/>
                <a:cs typeface="Calibri" pitchFamily="34" charset="0"/>
              </a:rPr>
              <a:t>Kvarovi koji sustavu nisu inherentni odnosno ne potječu od osnovne funkcije sustava nazivamo </a:t>
            </a:r>
            <a:r>
              <a:rPr lang="hr-HR" sz="1200" b="1" dirty="0" err="1">
                <a:latin typeface="Calibri" pitchFamily="34" charset="0"/>
                <a:cs typeface="Calibri" pitchFamily="34" charset="0"/>
              </a:rPr>
              <a:t>neinherentnim</a:t>
            </a:r>
            <a:r>
              <a:rPr lang="hr-HR" sz="1200" b="1" dirty="0">
                <a:latin typeface="Calibri" pitchFamily="34" charset="0"/>
                <a:cs typeface="Calibri" pitchFamily="34" charset="0"/>
              </a:rPr>
              <a:t> kvarovima</a:t>
            </a:r>
            <a:r>
              <a:rPr lang="hr-HR" sz="1200" dirty="0">
                <a:latin typeface="Calibri" pitchFamily="34" charset="0"/>
                <a:cs typeface="Calibri" pitchFamily="34" charset="0"/>
              </a:rPr>
              <a:t>, a mogu biti posljedica nepravilnog</a:t>
            </a:r>
          </a:p>
          <a:p>
            <a:pPr marL="0" indent="0">
              <a:lnSpc>
                <a:spcPct val="120000"/>
              </a:lnSpc>
              <a:buNone/>
              <a:defRPr/>
            </a:pPr>
            <a:r>
              <a:rPr lang="hr-HR" sz="1200" dirty="0">
                <a:latin typeface="Calibri" pitchFamily="34" charset="0"/>
                <a:cs typeface="Calibri" pitchFamily="34" charset="0"/>
              </a:rPr>
              <a:t>rukovanja, prirodnih katastrofa i sl. Takvi se kvarovi u naravi ne istražuju niti se radi posebna dijagnostika</a:t>
            </a:r>
          </a:p>
          <a:p>
            <a:endParaRPr lang="hr-HR" dirty="0"/>
          </a:p>
          <a:p>
            <a:endParaRPr lang="hr-H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9451172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11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88913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12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127199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13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0745147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14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98566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15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64023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16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546153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17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882614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18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7199887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19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532349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E6B4AA-7FC7-404C-91AE-549D4281B966}" type="slidenum">
              <a:rPr lang="hr-HR" smtClean="0"/>
              <a:t>20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4750913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09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60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316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46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82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09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7918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163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10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5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7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570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7">
            <a:extLst>
              <a:ext uri="{FF2B5EF4-FFF2-40B4-BE49-F238E27FC236}">
                <a16:creationId xmlns:a16="http://schemas.microsoft.com/office/drawing/2014/main" id="{59A9681A-2486-4655-A876-E26402CA2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10DE59D-5C3F-A39A-D3CC-EBEBF41F89B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221"/>
          <a:stretch/>
        </p:blipFill>
        <p:spPr bwMode="auto">
          <a:xfrm>
            <a:off x="2" y="152"/>
            <a:ext cx="12191998" cy="6857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19">
            <a:extLst>
              <a:ext uri="{FF2B5EF4-FFF2-40B4-BE49-F238E27FC236}">
                <a16:creationId xmlns:a16="http://schemas.microsoft.com/office/drawing/2014/main" id="{C9BB6818-31C2-4340-98F8-64FF7F46A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slov 1">
            <a:extLst>
              <a:ext uri="{FF2B5EF4-FFF2-40B4-BE49-F238E27FC236}">
                <a16:creationId xmlns:a16="http://schemas.microsoft.com/office/drawing/2014/main" id="{D64DDC21-F0E0-7F18-321D-A12A6E4465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5758629" cy="2696866"/>
          </a:xfrm>
        </p:spPr>
        <p:txBody>
          <a:bodyPr anchor="t"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Stanja sustava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107203C5-DC1F-00CF-2EE2-3AC930F1F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402572" cy="1287887"/>
          </a:xfrm>
        </p:spPr>
        <p:txBody>
          <a:bodyPr anchor="b">
            <a:normAutofit/>
          </a:bodyPr>
          <a:lstStyle/>
          <a:p>
            <a:r>
              <a:rPr lang="hr-HR" dirty="0">
                <a:solidFill>
                  <a:srgbClr val="FFFFFF"/>
                </a:solidFill>
              </a:rPr>
              <a:t>Ognjen Roglić</a:t>
            </a:r>
          </a:p>
          <a:p>
            <a:r>
              <a:rPr lang="hr-HR" dirty="0">
                <a:solidFill>
                  <a:srgbClr val="FFFFFF"/>
                </a:solidFill>
              </a:rPr>
              <a:t>DIOIS [10]</a:t>
            </a:r>
          </a:p>
        </p:txBody>
      </p:sp>
      <p:cxnSp>
        <p:nvCxnSpPr>
          <p:cNvPr id="26" name="Straight Connector 21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7770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80930" y="1219160"/>
            <a:ext cx="8229600" cy="493776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Svaki tehnički sustav, uključujući informacijske sustave, prolazi kroz različita operativna stanja. Prema teoriji pouzdanosti, ova stanja dijelimo na tri osnovna tipa: </a:t>
            </a: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stanje u radu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stanje u otkazu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, i </a:t>
            </a:r>
            <a:r>
              <a:rPr lang="hr-HR" sz="2400" b="1" dirty="0">
                <a:latin typeface="Arial" panose="020B0604020202020204" pitchFamily="34" charset="0"/>
                <a:cs typeface="Arial" panose="020B0604020202020204" pitchFamily="34" charset="0"/>
              </a:rPr>
              <a:t>stanje u zastoju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. Odstupanja od radnog stanja definiraju sustav kao "sustav u kvaru", što zahtijeva pravovremenu reakciju i popravak kako bi se održala stabilnost i funkcionalnost sustava. Ova prezentacija će obraditi pojmove stanja sustava, kako prepoznati različita stanja i načine reakcije na njih kako bi se spriječili kvarovi i zastoji.</a:t>
            </a:r>
            <a:endParaRPr lang="hr-HR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96" y="317050"/>
            <a:ext cx="8229600" cy="990600"/>
          </a:xfrm>
        </p:spPr>
        <p:txBody>
          <a:bodyPr>
            <a:normAutofit/>
          </a:bodyPr>
          <a:lstStyle/>
          <a:p>
            <a:r>
              <a:rPr lang="hr-HR" sz="3200" dirty="0">
                <a:latin typeface="Arial" charset="0"/>
              </a:rPr>
              <a:t>Sadržaj</a:t>
            </a:r>
            <a:endParaRPr lang="hr-HR" sz="3200" dirty="0"/>
          </a:p>
        </p:txBody>
      </p:sp>
    </p:spTree>
    <p:extLst>
      <p:ext uri="{BB962C8B-B14F-4D97-AF65-F5344CB8AC3E}">
        <p14:creationId xmlns:p14="http://schemas.microsoft.com/office/powerpoint/2010/main" val="32897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12350" y="944840"/>
            <a:ext cx="9400480" cy="5321790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Razumijevanje operativnih stanja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– Učenici će naučiti osnovna operativna stanja tehničkih i informacijskih sustava te njihove ključne karakteristike.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Identifikacija i analiza kvarova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– Učenici će moći prepoznati kada informacijski sustav prelazi iz radnog stanja u stanje otkaza ili zastoja, i razumjeti razloge tih kvarova.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Praktična primjena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– Učenici će se upoznati s osnovnim tehnikama dijagnostike stanja sustava pomoću dostupnih alata, te će biti u mogućnosti provesti osnovnu analizu uzroka otkaza sustava.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Preventivno održavanje sustava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 – Učenici će naučiti kako preventivnim mjerama održavati sustav u optimalnom stanju i smanjiti rizik od zastoja ili otkaza.</a:t>
            </a:r>
          </a:p>
          <a:p>
            <a:pPr marL="457200" lvl="0" indent="-457200">
              <a:buFont typeface="+mj-lt"/>
              <a:buAutoNum type="arabicPeriod"/>
            </a:pPr>
            <a:r>
              <a:rPr lang="hr-HR" b="1" dirty="0">
                <a:latin typeface="Arial" panose="020B0604020202020204" pitchFamily="34" charset="0"/>
                <a:cs typeface="Arial" panose="020B0604020202020204" pitchFamily="34" charset="0"/>
              </a:rPr>
              <a:t>Primjena teorije u praksi – </a:t>
            </a:r>
            <a:r>
              <a:rPr lang="hr-HR" dirty="0">
                <a:latin typeface="Arial" panose="020B0604020202020204" pitchFamily="34" charset="0"/>
                <a:cs typeface="Arial" panose="020B0604020202020204" pitchFamily="34" charset="0"/>
              </a:rPr>
              <a:t>Prepoznat će važnost brzog djelovanja i pravovremenog održavanja kako bi se smanjilo vrijeme zastoja i osigurao kontinuiran rad sustava.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96" y="317050"/>
            <a:ext cx="8229600" cy="990600"/>
          </a:xfrm>
        </p:spPr>
        <p:txBody>
          <a:bodyPr>
            <a:normAutofit/>
          </a:bodyPr>
          <a:lstStyle/>
          <a:p>
            <a:r>
              <a:rPr lang="hr-HR" sz="3200" dirty="0">
                <a:latin typeface="Arial" charset="0"/>
              </a:rPr>
              <a:t>Ishodi</a:t>
            </a:r>
            <a:endParaRPr lang="hr-HR" sz="3200" dirty="0"/>
          </a:p>
        </p:txBody>
      </p:sp>
    </p:spTree>
    <p:extLst>
      <p:ext uri="{BB962C8B-B14F-4D97-AF65-F5344CB8AC3E}">
        <p14:creationId xmlns:p14="http://schemas.microsoft.com/office/powerpoint/2010/main" val="2163864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896" y="317050"/>
            <a:ext cx="8229600" cy="990600"/>
          </a:xfrm>
        </p:spPr>
        <p:txBody>
          <a:bodyPr>
            <a:normAutofit/>
          </a:bodyPr>
          <a:lstStyle/>
          <a:p>
            <a:r>
              <a:rPr lang="hr-HR" sz="3200" dirty="0">
                <a:latin typeface="Arial" charset="0"/>
              </a:rPr>
              <a:t>Uvodni video</a:t>
            </a:r>
            <a:endParaRPr lang="hr-HR" sz="3200" dirty="0"/>
          </a:p>
        </p:txBody>
      </p:sp>
    </p:spTree>
    <p:extLst>
      <p:ext uri="{BB962C8B-B14F-4D97-AF65-F5344CB8AC3E}">
        <p14:creationId xmlns:p14="http://schemas.microsoft.com/office/powerpoint/2010/main" val="1661054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892851" y="1066760"/>
            <a:ext cx="8622749" cy="5638840"/>
          </a:xfrm>
        </p:spPr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lang="hr-HR" sz="2800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Opis stupnja mogućnosti realizacije namijenjene funkcije</a:t>
            </a:r>
          </a:p>
          <a:p>
            <a:pPr lvl="0"/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Prema teoriji pouzdanosti tehnički sustav može imati tri temeljna operativna stanja:</a:t>
            </a:r>
          </a:p>
          <a:p>
            <a:pPr lvl="0"/>
            <a:endParaRPr lang="hr-HR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31520" lvl="1" indent="-457200">
              <a:buFont typeface="+mj-lt"/>
              <a:buAutoNum type="arabicPeriod"/>
            </a:pPr>
            <a:r>
              <a:rPr lang="hr-HR" sz="2500" dirty="0">
                <a:latin typeface="Arial" panose="020B0604020202020204" pitchFamily="34" charset="0"/>
                <a:cs typeface="Arial" panose="020B0604020202020204" pitchFamily="34" charset="0"/>
              </a:rPr>
              <a:t>stanje sustava „u radu“,</a:t>
            </a:r>
          </a:p>
          <a:p>
            <a:pPr marL="731520" lvl="1" indent="-457200">
              <a:buFont typeface="+mj-lt"/>
              <a:buAutoNum type="arabicPeriod"/>
            </a:pPr>
            <a:r>
              <a:rPr lang="hr-HR" sz="2500" dirty="0">
                <a:latin typeface="Arial" panose="020B0604020202020204" pitchFamily="34" charset="0"/>
                <a:cs typeface="Arial" panose="020B0604020202020204" pitchFamily="34" charset="0"/>
              </a:rPr>
              <a:t>stanje sustava „u otkazu“ i</a:t>
            </a:r>
          </a:p>
          <a:p>
            <a:pPr marL="731520" lvl="1" indent="-457200">
              <a:buFont typeface="+mj-lt"/>
              <a:buAutoNum type="arabicPeriod"/>
            </a:pPr>
            <a:r>
              <a:rPr lang="hr-HR" sz="2500" dirty="0">
                <a:latin typeface="Arial" panose="020B0604020202020204" pitchFamily="34" charset="0"/>
                <a:cs typeface="Arial" panose="020B0604020202020204" pitchFamily="34" charset="0"/>
              </a:rPr>
              <a:t>stanje sustava „u zastoju“.</a:t>
            </a:r>
          </a:p>
          <a:p>
            <a:pPr marL="731520" lvl="1" indent="-457200">
              <a:buFont typeface="+mj-lt"/>
              <a:buAutoNum type="arabicPeriod"/>
            </a:pPr>
            <a:endParaRPr lang="hr-HR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Svako stanje informacijskog sustava koje odstupa od radnog stanja zadovoljava kriterij da se proglasi „sustavom u kvaru“.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99884"/>
            <a:ext cx="8229600" cy="990600"/>
          </a:xfrm>
        </p:spPr>
        <p:txBody>
          <a:bodyPr>
            <a:normAutofit/>
          </a:bodyPr>
          <a:lstStyle/>
          <a:p>
            <a:r>
              <a:rPr lang="hr-HR" sz="3200" dirty="0">
                <a:latin typeface="Arial" charset="0"/>
              </a:rPr>
              <a:t>Stanje sustava</a:t>
            </a:r>
            <a:endParaRPr lang="hr-HR" sz="3200" dirty="0"/>
          </a:p>
        </p:txBody>
      </p:sp>
    </p:spTree>
    <p:extLst>
      <p:ext uri="{BB962C8B-B14F-4D97-AF65-F5344CB8AC3E}">
        <p14:creationId xmlns:p14="http://schemas.microsoft.com/office/powerpoint/2010/main" val="3318783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229600" cy="4937760"/>
          </a:xfrm>
        </p:spPr>
        <p:txBody>
          <a:bodyPr>
            <a:normAutofit/>
          </a:bodyPr>
          <a:lstStyle/>
          <a:p>
            <a:pPr lvl="0"/>
            <a:endParaRPr lang="hr-HR" sz="2800" dirty="0">
              <a:latin typeface="Calibri" pitchFamily="34" charset="0"/>
              <a:cs typeface="Calibri" pitchFamily="34" charset="0"/>
            </a:endParaRPr>
          </a:p>
          <a:p>
            <a:pPr lvl="0"/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Svako stanje utječe na performanse, dostupnost i pouzdanost sustava.</a:t>
            </a:r>
          </a:p>
          <a:p>
            <a:pPr lvl="0"/>
            <a:endParaRPr lang="hr-HR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Razumijevanje stanja sustava pomaže u optimizaciji rada i održavanju visoke razine usluge.</a:t>
            </a:r>
            <a:endParaRPr lang="hr-HR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729" y="329381"/>
            <a:ext cx="8229600" cy="990600"/>
          </a:xfrm>
        </p:spPr>
        <p:txBody>
          <a:bodyPr>
            <a:normAutofit/>
          </a:bodyPr>
          <a:lstStyle/>
          <a:p>
            <a:r>
              <a:rPr lang="hr-HR" sz="3200" dirty="0">
                <a:latin typeface="Arial" charset="0"/>
              </a:rPr>
              <a:t>Utjecaj stanja sustava</a:t>
            </a:r>
            <a:endParaRPr lang="hr-HR" sz="3200" dirty="0"/>
          </a:p>
        </p:txBody>
      </p:sp>
    </p:spTree>
    <p:extLst>
      <p:ext uri="{BB962C8B-B14F-4D97-AF65-F5344CB8AC3E}">
        <p14:creationId xmlns:p14="http://schemas.microsoft.com/office/powerpoint/2010/main" val="3409485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0" y="1219160"/>
            <a:ext cx="8679899" cy="5490250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hr-HR" sz="24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Normalno stanje:</a:t>
            </a:r>
            <a:r>
              <a:rPr lang="hr-HR" sz="2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r-HR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Sustav radi ispravno i prema očekivanjima</a:t>
            </a:r>
          </a:p>
          <a:p>
            <a:pPr lvl="0"/>
            <a:endParaRPr lang="hr-H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hr-HR" sz="2400" b="1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Degradirano stanje:</a:t>
            </a:r>
            <a:r>
              <a:rPr lang="hr-HR" sz="2400" dirty="0">
                <a:solidFill>
                  <a:srgbClr val="FF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r-HR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Sustav funkcionira, ali sa smanjenim kapacitetom ili performansama</a:t>
            </a:r>
          </a:p>
          <a:p>
            <a:pPr lvl="0"/>
            <a:endParaRPr lang="hr-H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hr-HR" sz="2400" b="1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Stanje kvara:</a:t>
            </a:r>
            <a:r>
              <a:rPr lang="hr-HR" sz="240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r-HR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Sustav nije funkcionalan zbog tehničkih problema</a:t>
            </a:r>
          </a:p>
          <a:p>
            <a:pPr lvl="0"/>
            <a:endParaRPr lang="hr-H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hr-HR" sz="2400" b="1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Oporavak:</a:t>
            </a:r>
            <a:r>
              <a:rPr lang="hr-HR" sz="2400" dirty="0">
                <a:solidFill>
                  <a:srgbClr val="00B05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r-HR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Proces vraćanja sustava u normalno stanje nakon kvara</a:t>
            </a:r>
          </a:p>
          <a:p>
            <a:pPr lvl="0"/>
            <a:endParaRPr lang="hr-HR" sz="2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hr-HR" sz="2400" b="1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Održavanje:</a:t>
            </a:r>
            <a:r>
              <a:rPr lang="hr-HR" sz="2400" dirty="0">
                <a:solidFill>
                  <a:srgbClr val="0070C0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r-HR" sz="24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Planirano ili neplanirano održavanje sustava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332F5A-5A48-442E-9159-245D73C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19549"/>
            <a:ext cx="8229600" cy="990600"/>
          </a:xfrm>
        </p:spPr>
        <p:txBody>
          <a:bodyPr>
            <a:normAutofit/>
          </a:bodyPr>
          <a:lstStyle/>
          <a:p>
            <a:r>
              <a:rPr lang="hr-HR" sz="3200" dirty="0">
                <a:latin typeface="Arial" charset="0"/>
              </a:rPr>
              <a:t>Kategorizacija stanja sustava</a:t>
            </a:r>
            <a:endParaRPr lang="hr-HR" sz="3200" dirty="0"/>
          </a:p>
        </p:txBody>
      </p:sp>
    </p:spTree>
    <p:extLst>
      <p:ext uri="{BB962C8B-B14F-4D97-AF65-F5344CB8AC3E}">
        <p14:creationId xmlns:p14="http://schemas.microsoft.com/office/powerpoint/2010/main" val="625630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8" y="-83574"/>
            <a:ext cx="10890929" cy="1097280"/>
          </a:xfrm>
        </p:spPr>
        <p:txBody>
          <a:bodyPr vert="horz" anchor="b" anchorCtr="0">
            <a:normAutofit/>
          </a:bodyPr>
          <a:lstStyle/>
          <a:p>
            <a:r>
              <a:rPr lang="hr-HR" sz="3200" dirty="0">
                <a:latin typeface="Arial" charset="0"/>
              </a:rPr>
              <a:t>Važnost razumijevanja stanja sustava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229600" cy="512449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hr-HR" sz="3200" dirty="0">
                <a:latin typeface="Arial" panose="020B0604020202020204" pitchFamily="34" charset="0"/>
                <a:cs typeface="Arial" panose="020B0604020202020204" pitchFamily="34" charset="0"/>
              </a:rPr>
              <a:t>Ključna za optimizaciju performansi, povećanje pouzdanosti i minimiziranje zastoja.</a:t>
            </a:r>
            <a:endParaRPr lang="hr-HR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6165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1795" y="240891"/>
            <a:ext cx="10890929" cy="1097280"/>
          </a:xfrm>
        </p:spPr>
        <p:txBody>
          <a:bodyPr>
            <a:normAutofit/>
          </a:bodyPr>
          <a:lstStyle/>
          <a:p>
            <a:r>
              <a:rPr lang="hr-HR" sz="3200" dirty="0">
                <a:latin typeface="Arial" charset="0"/>
              </a:rPr>
              <a:t>Kvar</a:t>
            </a:r>
            <a:endParaRPr lang="hr-H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541915" cy="501815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Da bismo kvar informacijskog sustava mogli jednostavnije dijagnosticirati, dijelimo ih na:</a:t>
            </a:r>
          </a:p>
          <a:p>
            <a:pPr>
              <a:lnSpc>
                <a:spcPct val="120000"/>
              </a:lnSpc>
              <a:defRPr/>
            </a:pPr>
            <a:endParaRPr lang="hr-HR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30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Inherentne</a:t>
            </a:r>
            <a:r>
              <a:rPr lang="hr-HR" sz="3000" dirty="0">
                <a:latin typeface="Arial" panose="020B0604020202020204" pitchFamily="34" charset="0"/>
                <a:cs typeface="Arial" panose="020B0604020202020204" pitchFamily="34" charset="0"/>
              </a:rPr>
              <a:t> - potječu od osnovne funkcije sustava i nastaju samo tijekom same funkcije sustava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endParaRPr lang="hr-HR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3000" b="1" dirty="0" err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Neinherentne</a:t>
            </a:r>
            <a:r>
              <a:rPr lang="hr-HR" sz="3000" dirty="0">
                <a:latin typeface="Arial" panose="020B0604020202020204" pitchFamily="34" charset="0"/>
                <a:cs typeface="Arial" panose="020B0604020202020204" pitchFamily="34" charset="0"/>
              </a:rPr>
              <a:t> - ne potječu od osnovne funkcije sustava, mogu biti posljedica nepravilnog rukovanja, prirodnih katastrofa i sl. Takvi se kvarovi ne istražuju niti se radi posebna dijagnostika</a:t>
            </a:r>
          </a:p>
          <a:p>
            <a:endParaRPr lang="hr-HR" sz="3600" dirty="0"/>
          </a:p>
          <a:p>
            <a:pPr marL="0" indent="0">
              <a:buNone/>
              <a:defRPr/>
            </a:pPr>
            <a:endParaRPr lang="hr-HR" sz="33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  <a:defRPr/>
            </a:pPr>
            <a:endParaRPr lang="hr-HR" sz="33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03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1505" y="304432"/>
            <a:ext cx="8928992" cy="1097280"/>
          </a:xfrm>
        </p:spPr>
        <p:txBody>
          <a:bodyPr>
            <a:normAutofit/>
          </a:bodyPr>
          <a:lstStyle/>
          <a:p>
            <a:r>
              <a:rPr lang="hr-HR" sz="3200" dirty="0">
                <a:latin typeface="Arial" charset="0"/>
              </a:rPr>
              <a:t>Inherentni kvarovi</a:t>
            </a:r>
            <a:endParaRPr lang="hr-HR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541915" cy="5018152"/>
          </a:xfrm>
        </p:spPr>
        <p:txBody>
          <a:bodyPr>
            <a:normAutofit/>
          </a:bodyPr>
          <a:lstStyle/>
          <a:p>
            <a:r>
              <a:rPr lang="hr-HR" sz="2800" b="1" dirty="0">
                <a:latin typeface="Arial" panose="020B0604020202020204" pitchFamily="34" charset="0"/>
                <a:cs typeface="Arial" panose="020B0604020202020204" pitchFamily="34" charset="0"/>
              </a:rPr>
              <a:t>Dijele se u tri glavne skupine: </a:t>
            </a:r>
          </a:p>
          <a:p>
            <a:endParaRPr lang="hr-HR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Početni kvarovi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Slučajni kvarovi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hr-HR" sz="2800" dirty="0">
                <a:latin typeface="Arial" panose="020B0604020202020204" pitchFamily="34" charset="0"/>
                <a:cs typeface="Arial" panose="020B0604020202020204" pitchFamily="34" charset="0"/>
              </a:rPr>
              <a:t>Kvarovi zbog istrošenosti</a:t>
            </a:r>
          </a:p>
          <a:p>
            <a:endParaRPr lang="hr-HR" sz="3600" dirty="0"/>
          </a:p>
          <a:p>
            <a:pPr marL="0" indent="0">
              <a:buNone/>
              <a:defRPr/>
            </a:pPr>
            <a:endParaRPr lang="hr-HR" sz="3300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  <a:defRPr/>
            </a:pPr>
            <a:endParaRPr lang="hr-HR" sz="33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262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9" y="-113070"/>
            <a:ext cx="9133185" cy="1097280"/>
          </a:xfrm>
        </p:spPr>
        <p:txBody>
          <a:bodyPr vert="horz" anchor="b" anchorCtr="0">
            <a:normAutofit/>
          </a:bodyPr>
          <a:lstStyle/>
          <a:p>
            <a:r>
              <a:rPr lang="hr-HR" sz="3200" dirty="0">
                <a:latin typeface="Arial" charset="0"/>
              </a:rPr>
              <a:t>Inherentni kvarovi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229600" cy="501815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hr-HR" sz="3300" b="1" dirty="0">
                <a:latin typeface="Arial" panose="020B0604020202020204" pitchFamily="34" charset="0"/>
                <a:cs typeface="Arial" panose="020B0604020202020204" pitchFamily="34" charset="0"/>
              </a:rPr>
              <a:t>Početni kvarovi</a:t>
            </a:r>
          </a:p>
          <a:p>
            <a:pPr lvl="1">
              <a:lnSpc>
                <a:spcPct val="120000"/>
              </a:lnSpc>
              <a:defRPr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Pojavljuju se odmah nakon puštanja sustava u rad, a uzrok im mogu biti: nekvalitetna izrada komponenti (ili podsustava), pogrešna instalacija i nedovoljna kontrola kvalitete. Uglavnom se otklanjaju kod uhodavanja ili zahvatima održavanja tijekom jamstvenog roka.</a:t>
            </a:r>
          </a:p>
          <a:p>
            <a:pPr lvl="1">
              <a:lnSpc>
                <a:spcPct val="120000"/>
              </a:lnSpc>
              <a:defRPr/>
            </a:pPr>
            <a:endParaRPr lang="hr-H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20000"/>
              </a:lnSpc>
              <a:defRPr/>
            </a:pP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Uhodavanje (engl. </a:t>
            </a:r>
            <a:r>
              <a:rPr lang="hr-HR" sz="2400" dirty="0" err="1">
                <a:latin typeface="Arial" panose="020B0604020202020204" pitchFamily="34" charset="0"/>
                <a:cs typeface="Arial" panose="020B0604020202020204" pitchFamily="34" charset="0"/>
              </a:rPr>
              <a:t>Burn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r-HR" sz="2400" dirty="0" err="1">
                <a:latin typeface="Arial" panose="020B0604020202020204" pitchFamily="34" charset="0"/>
                <a:cs typeface="Arial" panose="020B0604020202020204" pitchFamily="34" charset="0"/>
              </a:rPr>
              <a:t>in</a:t>
            </a:r>
            <a:r>
              <a:rPr lang="hr-HR" sz="2400" dirty="0">
                <a:latin typeface="Arial" panose="020B0604020202020204" pitchFamily="34" charset="0"/>
                <a:cs typeface="Arial" panose="020B0604020202020204" pitchFamily="34" charset="0"/>
              </a:rPr>
              <a:t> period) - razdoblje u kojem se otklanjaju početni kvarovi</a:t>
            </a:r>
          </a:p>
          <a:p>
            <a:pPr>
              <a:lnSpc>
                <a:spcPct val="120000"/>
              </a:lnSpc>
              <a:defRPr/>
            </a:pPr>
            <a:endParaRPr lang="hr-HR" sz="3300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401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2130" y="-73741"/>
            <a:ext cx="9015199" cy="1097280"/>
          </a:xfrm>
        </p:spPr>
        <p:txBody>
          <a:bodyPr vert="horz" anchor="b" anchorCtr="0">
            <a:normAutofit/>
          </a:bodyPr>
          <a:lstStyle/>
          <a:p>
            <a:r>
              <a:rPr lang="hr-HR" sz="3200" dirty="0">
                <a:latin typeface="Arial" charset="0"/>
              </a:rPr>
              <a:t>Inherentni kvarovi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229600" cy="559421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  <a:defRPr/>
            </a:pPr>
            <a:r>
              <a:rPr lang="hr-HR" sz="3300" b="1" dirty="0">
                <a:latin typeface="Arial" panose="020B0604020202020204" pitchFamily="34" charset="0"/>
                <a:cs typeface="Arial" panose="020B0604020202020204" pitchFamily="34" charset="0"/>
              </a:rPr>
              <a:t>Slučajni kvarovi</a:t>
            </a:r>
          </a:p>
          <a:p>
            <a:pPr lvl="1">
              <a:lnSpc>
                <a:spcPct val="120000"/>
              </a:lnSpc>
              <a:defRPr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Počinju se pojavljivati od samog početka rada sustava</a:t>
            </a:r>
          </a:p>
          <a:p>
            <a:pPr lvl="1">
              <a:lnSpc>
                <a:spcPct val="120000"/>
              </a:lnSpc>
              <a:defRPr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Teško ih je razlikovati od početnih kvarova</a:t>
            </a:r>
          </a:p>
          <a:p>
            <a:pPr lvl="1">
              <a:lnSpc>
                <a:spcPct val="120000"/>
              </a:lnSpc>
              <a:defRPr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Uzroci se ne mogu precizno odrediti, a pretpostavka je da su posljedica nepredvidivih pogrešaka u samim komponentama sustava</a:t>
            </a:r>
          </a:p>
          <a:p>
            <a:pPr lvl="1">
              <a:lnSpc>
                <a:spcPct val="120000"/>
              </a:lnSpc>
              <a:defRPr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Pretpostavka je da su posljedica unutrašnjih naprezanja uzrokovanih npr. povišenom radnom temperaturom ili naponskim oscilacijama</a:t>
            </a:r>
          </a:p>
          <a:p>
            <a:pPr lvl="1">
              <a:lnSpc>
                <a:spcPct val="120000"/>
              </a:lnSpc>
              <a:defRPr/>
            </a:pPr>
            <a:r>
              <a:rPr lang="hr-HR" sz="2600" dirty="0">
                <a:latin typeface="Arial" panose="020B0604020202020204" pitchFamily="34" charset="0"/>
                <a:cs typeface="Arial" panose="020B0604020202020204" pitchFamily="34" charset="0"/>
              </a:rPr>
              <a:t>U okviru održavanja, na takve se kvarove može utjecati pravilnim hlađenjem sistemskih sala te osiguravanjem besprekidnih napajanja</a:t>
            </a:r>
          </a:p>
        </p:txBody>
      </p:sp>
    </p:spTree>
    <p:extLst>
      <p:ext uri="{BB962C8B-B14F-4D97-AF65-F5344CB8AC3E}">
        <p14:creationId xmlns:p14="http://schemas.microsoft.com/office/powerpoint/2010/main" val="3901519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300" y="-148590"/>
            <a:ext cx="8936540" cy="1097280"/>
          </a:xfrm>
        </p:spPr>
        <p:txBody>
          <a:bodyPr vert="horz" anchor="b" anchorCtr="0">
            <a:normAutofit/>
          </a:bodyPr>
          <a:lstStyle/>
          <a:p>
            <a:r>
              <a:rPr lang="hr-HR" sz="3200" dirty="0">
                <a:latin typeface="Arial" charset="0"/>
              </a:rPr>
              <a:t>Inherentni kvarovi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229600" cy="55942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hr-HR" sz="3300" b="1" dirty="0">
                <a:latin typeface="Arial" panose="020B0604020202020204" pitchFamily="34" charset="0"/>
                <a:cs typeface="Arial" panose="020B0604020202020204" pitchFamily="34" charset="0"/>
              </a:rPr>
              <a:t>Kvarovi zbog istrošenosti</a:t>
            </a:r>
          </a:p>
          <a:p>
            <a:pPr lvl="1">
              <a:lnSpc>
                <a:spcPct val="120000"/>
              </a:lnSpc>
              <a:defRPr/>
            </a:pPr>
            <a:r>
              <a:rPr lang="hr-HR" sz="3000" dirty="0">
                <a:latin typeface="Arial" panose="020B0604020202020204" pitchFamily="34" charset="0"/>
                <a:cs typeface="Arial" panose="020B0604020202020204" pitchFamily="34" charset="0"/>
              </a:rPr>
              <a:t>Pojavljuju se zadnji</a:t>
            </a:r>
          </a:p>
          <a:p>
            <a:pPr lvl="1">
              <a:lnSpc>
                <a:spcPct val="120000"/>
              </a:lnSpc>
              <a:defRPr/>
            </a:pPr>
            <a:r>
              <a:rPr lang="hr-HR" sz="3000" dirty="0">
                <a:latin typeface="Arial" panose="020B0604020202020204" pitchFamily="34" charset="0"/>
                <a:cs typeface="Arial" panose="020B0604020202020204" pitchFamily="34" charset="0"/>
              </a:rPr>
              <a:t>Pod pojmom istrošenosti ne podrazumijeva se samo fizička istrošenost već istrošenost resursa u bilo kojem obliku</a:t>
            </a:r>
          </a:p>
          <a:p>
            <a:pPr lvl="1">
              <a:lnSpc>
                <a:spcPct val="120000"/>
              </a:lnSpc>
              <a:defRPr/>
            </a:pPr>
            <a:r>
              <a:rPr lang="hr-HR" sz="3000" dirty="0">
                <a:latin typeface="Arial" panose="020B0604020202020204" pitchFamily="34" charset="0"/>
                <a:cs typeface="Arial" panose="020B0604020202020204" pitchFamily="34" charset="0"/>
              </a:rPr>
              <a:t>Kvarovi zbog istrošenosti mogu se u potpunosti eliminirati pravodobnim preventivnim održavanjem</a:t>
            </a:r>
            <a:endParaRPr lang="hr-HR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3386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1963" y="-93405"/>
            <a:ext cx="8730063" cy="1097280"/>
          </a:xfrm>
        </p:spPr>
        <p:txBody>
          <a:bodyPr vert="horz" anchor="b" anchorCtr="0">
            <a:normAutofit/>
          </a:bodyPr>
          <a:lstStyle/>
          <a:p>
            <a:r>
              <a:rPr lang="hr-HR" sz="3200" dirty="0">
                <a:latin typeface="Arial" charset="0"/>
              </a:rPr>
              <a:t>Mjerenje i praćenje stanja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0" y="1219160"/>
            <a:ext cx="8588459" cy="55942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Alati i tehnike:</a:t>
            </a:r>
          </a:p>
          <a:p>
            <a:pPr>
              <a:lnSpc>
                <a:spcPct val="120000"/>
              </a:lnSpc>
              <a:defRPr/>
            </a:pPr>
            <a:endParaRPr lang="hr-HR" sz="1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pt-B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Korisnički alati za praćenje stanja sustava (npr. Nagios, Zabbix, Prometheus)</a:t>
            </a:r>
            <a:endParaRPr lang="hr-HR" sz="2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Ključni pokazatelji performansi (KPI) kao što su MTBF (</a:t>
            </a:r>
            <a:r>
              <a:rPr lang="hr-HR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Mean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Time </a:t>
            </a:r>
            <a:r>
              <a:rPr lang="hr-HR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Between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hr-HR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Failures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 i MTTR (</a:t>
            </a:r>
            <a:r>
              <a:rPr lang="hr-HR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Mean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Time to </a:t>
            </a:r>
            <a:r>
              <a:rPr lang="hr-HR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Repair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Uloga logova i izvještaja u praćenju stanja sustava</a:t>
            </a:r>
            <a:endParaRPr lang="hr-HR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232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467" y="-113070"/>
            <a:ext cx="9841108" cy="1097280"/>
          </a:xfrm>
        </p:spPr>
        <p:txBody>
          <a:bodyPr vert="horz" anchor="b" anchorCtr="0">
            <a:normAutofit/>
          </a:bodyPr>
          <a:lstStyle/>
          <a:p>
            <a:r>
              <a:rPr lang="hr-HR" sz="3200" dirty="0">
                <a:latin typeface="Arial" charset="0"/>
              </a:rPr>
              <a:t>Analiza kvara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0" y="1219160"/>
            <a:ext cx="8897069" cy="5594216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hr-HR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Dijagnostika i oporavak:</a:t>
            </a:r>
          </a:p>
          <a:p>
            <a:pPr>
              <a:lnSpc>
                <a:spcPct val="120000"/>
              </a:lnSpc>
              <a:defRPr/>
            </a:pPr>
            <a:endParaRPr lang="hr-HR" sz="2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Koraci u analizi kvara: 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identifikacija, izolacija, dijagnoza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Alati za dijagnostiku: 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sistemski logovi, dijagnostički alati, monitoring softver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pl-PL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Strategije za oporavak </a:t>
            </a:r>
            <a:r>
              <a:rPr lang="pl-PL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 smanjenje vremena zastoja</a:t>
            </a:r>
            <a:endParaRPr lang="hr-HR" sz="28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392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2132" y="-73741"/>
            <a:ext cx="9762450" cy="1097280"/>
          </a:xfrm>
        </p:spPr>
        <p:txBody>
          <a:bodyPr vert="horz" anchor="b" anchorCtr="0">
            <a:normAutofit/>
          </a:bodyPr>
          <a:lstStyle/>
          <a:p>
            <a:r>
              <a:rPr lang="hr-HR" sz="3200" dirty="0">
                <a:latin typeface="Arial" charset="0"/>
              </a:rPr>
              <a:t>Strategije održavanja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0" y="1219160"/>
            <a:ext cx="8451299" cy="5018152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hr-HR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Preventivno i korektivno održavanje:</a:t>
            </a:r>
          </a:p>
          <a:p>
            <a:pPr>
              <a:lnSpc>
                <a:spcPct val="120000"/>
              </a:lnSpc>
              <a:defRPr/>
            </a:pPr>
            <a:endParaRPr lang="hr-HR" sz="1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Preventivno održavanje: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Redovno održavanje za sprječavanje kvarova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Korektivno održavanje: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Održavanje nakon pojave kvara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Planiranje i izvršenje održavanja radi minimiziranja utjecaja na korisnike</a:t>
            </a:r>
          </a:p>
        </p:txBody>
      </p:sp>
    </p:spTree>
    <p:extLst>
      <p:ext uri="{BB962C8B-B14F-4D97-AF65-F5344CB8AC3E}">
        <p14:creationId xmlns:p14="http://schemas.microsoft.com/office/powerpoint/2010/main" val="2412239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2466" y="-83574"/>
            <a:ext cx="8575715" cy="1097280"/>
          </a:xfrm>
        </p:spPr>
        <p:txBody>
          <a:bodyPr vert="horz" anchor="b" anchorCtr="0">
            <a:normAutofit/>
          </a:bodyPr>
          <a:lstStyle/>
          <a:p>
            <a:r>
              <a:rPr lang="hr-HR" sz="3200" dirty="0">
                <a:latin typeface="Arial" charset="0"/>
              </a:rPr>
              <a:t>Vijek trajanja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1" y="1219160"/>
            <a:ext cx="8229600" cy="50901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hr-HR" sz="3300" dirty="0">
                <a:latin typeface="Arial" panose="020B0604020202020204" pitchFamily="34" charset="0"/>
                <a:cs typeface="Arial" panose="020B0604020202020204" pitchFamily="34" charset="0"/>
              </a:rPr>
              <a:t>Vremensko je razdoblje koji protekne od završetka razdoblja uhodavanja do trenutka zakazivanja prve komponente</a:t>
            </a:r>
          </a:p>
          <a:p>
            <a:pPr>
              <a:lnSpc>
                <a:spcPct val="120000"/>
              </a:lnSpc>
              <a:defRPr/>
            </a:pPr>
            <a:r>
              <a:rPr lang="hr-HR" sz="3300" dirty="0">
                <a:latin typeface="Arial" panose="020B0604020202020204" pitchFamily="34" charset="0"/>
                <a:cs typeface="Arial" panose="020B0604020202020204" pitchFamily="34" charset="0"/>
              </a:rPr>
              <a:t>Izražava se u satima</a:t>
            </a:r>
          </a:p>
          <a:p>
            <a:pPr>
              <a:lnSpc>
                <a:spcPct val="120000"/>
              </a:lnSpc>
              <a:defRPr/>
            </a:pPr>
            <a:r>
              <a:rPr lang="hr-HR" sz="3300" dirty="0">
                <a:latin typeface="Arial" panose="020B0604020202020204" pitchFamily="34" charset="0"/>
                <a:cs typeface="Arial" panose="020B0604020202020204" pitchFamily="34" charset="0"/>
              </a:rPr>
              <a:t>Bitna je varijabla pri određivanju zahvata </a:t>
            </a:r>
            <a:r>
              <a:rPr lang="hr-HR" sz="3300" u="sng" dirty="0">
                <a:latin typeface="Arial" panose="020B0604020202020204" pitchFamily="34" charset="0"/>
                <a:cs typeface="Arial" panose="020B0604020202020204" pitchFamily="34" charset="0"/>
              </a:rPr>
              <a:t>preventivnog održavanja</a:t>
            </a:r>
          </a:p>
        </p:txBody>
      </p:sp>
    </p:spTree>
    <p:extLst>
      <p:ext uri="{BB962C8B-B14F-4D97-AF65-F5344CB8AC3E}">
        <p14:creationId xmlns:p14="http://schemas.microsoft.com/office/powerpoint/2010/main" val="687988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8" y="-73741"/>
            <a:ext cx="8779225" cy="1097280"/>
          </a:xfrm>
        </p:spPr>
        <p:txBody>
          <a:bodyPr vert="horz" anchor="b" anchorCtr="0">
            <a:normAutofit/>
          </a:bodyPr>
          <a:lstStyle/>
          <a:p>
            <a:r>
              <a:rPr lang="hr-HR" sz="3200" dirty="0">
                <a:latin typeface="Arial" charset="0"/>
              </a:rPr>
              <a:t>Budući izazovi i trendovi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0" y="1219160"/>
            <a:ext cx="8954219" cy="50901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defRPr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Evolucija upravljanja stanjima:</a:t>
            </a:r>
          </a:p>
          <a:p>
            <a:pPr>
              <a:lnSpc>
                <a:spcPct val="120000"/>
              </a:lnSpc>
              <a:defRPr/>
            </a:pPr>
            <a:endParaRPr lang="hr-HR" sz="2800" u="sng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Utjecaj novih tehnologija kao što su AI i </a:t>
            </a:r>
            <a:r>
              <a:rPr lang="hr-HR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IoT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na praćenje i upravljanje stanjima sustava</a:t>
            </a:r>
            <a:endParaRPr lang="hr-HR" sz="2800" u="sng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Budući izazovi: sigurnost, kompleksnost, skalabilnost</a:t>
            </a:r>
            <a:endParaRPr lang="hr-HR" sz="2800" u="sng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pl-PL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Inovacije i razvoj u alatima za praćenje i održavanje</a:t>
            </a:r>
            <a:endParaRPr lang="hr-HR" sz="2800" u="sng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467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9" y="-73741"/>
            <a:ext cx="8739895" cy="1097280"/>
          </a:xfrm>
        </p:spPr>
        <p:txBody>
          <a:bodyPr vert="horz" anchor="b" anchorCtr="0">
            <a:normAutofit/>
          </a:bodyPr>
          <a:lstStyle/>
          <a:p>
            <a:r>
              <a:rPr lang="hr-HR" sz="3200" dirty="0">
                <a:latin typeface="Arial" charset="0"/>
              </a:rPr>
              <a:t>Zaključak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18580" y="1219160"/>
            <a:ext cx="8622749" cy="509016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hr-HR" sz="24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Potrebno je prepoznati stanje sustava i kategorizirati ga</a:t>
            </a:r>
            <a:endParaRPr lang="hr-HR" sz="2800" u="sng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dirty="0" err="1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Dostupiti</a:t>
            </a: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do svih podataka o sustavu i stanju (alati i sve ostale informacije)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Analizirati podatke i donijeti odluke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hr-HR" sz="28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Pristupiti oporavku sustava</a:t>
            </a:r>
          </a:p>
        </p:txBody>
      </p:sp>
    </p:spTree>
    <p:extLst>
      <p:ext uri="{BB962C8B-B14F-4D97-AF65-F5344CB8AC3E}">
        <p14:creationId xmlns:p14="http://schemas.microsoft.com/office/powerpoint/2010/main" val="3617910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299" y="0"/>
            <a:ext cx="9988592" cy="1097280"/>
          </a:xfrm>
        </p:spPr>
        <p:txBody>
          <a:bodyPr vert="horz" anchor="b" anchorCtr="0">
            <a:normAutofit/>
          </a:bodyPr>
          <a:lstStyle/>
          <a:p>
            <a:endParaRPr lang="hr-HR" dirty="0">
              <a:solidFill>
                <a:schemeClr val="hlink"/>
              </a:solidFill>
              <a:latin typeface="Arial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7F9AEB6-A31E-45E5-8531-91940CAA1DEF}"/>
              </a:ext>
            </a:extLst>
          </p:cNvPr>
          <p:cNvSpPr>
            <a:spLocks noGrp="1" noChangeArrowheads="1"/>
          </p:cNvSpPr>
          <p:nvPr>
            <p:ph sz="quarter" idx="1"/>
          </p:nvPr>
        </p:nvSpPr>
        <p:spPr bwMode="auto">
          <a:xfrm>
            <a:off x="2231496" y="1868637"/>
            <a:ext cx="7461144" cy="31207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hr-HR" altLang="sr-Latn-RS" sz="19900" dirty="0">
                <a:latin typeface="Broadway" panose="04040905080B02020502" pitchFamily="82" charset="0"/>
                <a:cs typeface="Calibri" pitchFamily="34" charset="0"/>
              </a:rPr>
              <a:t>KRAJ</a:t>
            </a:r>
          </a:p>
        </p:txBody>
      </p:sp>
    </p:spTree>
    <p:extLst>
      <p:ext uri="{BB962C8B-B14F-4D97-AF65-F5344CB8AC3E}">
        <p14:creationId xmlns:p14="http://schemas.microsoft.com/office/powerpoint/2010/main" val="394436241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74526B780CB7E40AAED50781EDEFDF6" ma:contentTypeVersion="3" ma:contentTypeDescription="Stvaranje novog dokumenta." ma:contentTypeScope="" ma:versionID="cb71b5a7b0bc5bc9bc84eb17535dd6ea">
  <xsd:schema xmlns:xsd="http://www.w3.org/2001/XMLSchema" xmlns:xs="http://www.w3.org/2001/XMLSchema" xmlns:p="http://schemas.microsoft.com/office/2006/metadata/properties" xmlns:ns2="c041744a-391e-4a25-927f-1fb68203ca47" targetNamespace="http://schemas.microsoft.com/office/2006/metadata/properties" ma:root="true" ma:fieldsID="cdfac31b053126c546b04e5083fe936b" ns2:_="">
    <xsd:import namespace="c041744a-391e-4a25-927f-1fb68203ca4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41744a-391e-4a25-927f-1fb68203ca4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Vrsta sadržaja"/>
        <xsd:element ref="dc:title" minOccurs="0" maxOccurs="1" ma:index="4" ma:displayName="Naslov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34A3B53-FFEC-42C3-BFAD-E4907D553B13}"/>
</file>

<file path=customXml/itemProps2.xml><?xml version="1.0" encoding="utf-8"?>
<ds:datastoreItem xmlns:ds="http://schemas.openxmlformats.org/officeDocument/2006/customXml" ds:itemID="{FDE17331-8151-435B-8617-D4C640DADE9A}"/>
</file>

<file path=customXml/itemProps3.xml><?xml version="1.0" encoding="utf-8"?>
<ds:datastoreItem xmlns:ds="http://schemas.openxmlformats.org/officeDocument/2006/customXml" ds:itemID="{46E64E5E-4003-44BC-88E5-6D3526946760}"/>
</file>

<file path=docProps/app.xml><?xml version="1.0" encoding="utf-8"?>
<Properties xmlns="http://schemas.openxmlformats.org/officeDocument/2006/extended-properties" xmlns:vt="http://schemas.openxmlformats.org/officeDocument/2006/docPropsVTypes">
  <TotalTime>14724</TotalTime>
  <Words>1209</Words>
  <Application>Microsoft Office PowerPoint</Application>
  <PresentationFormat>Široki zaslon</PresentationFormat>
  <Paragraphs>140</Paragraphs>
  <Slides>20</Slides>
  <Notes>20</Notes>
  <HiddenSlides>0</HiddenSlides>
  <MMClips>0</MMClips>
  <ScaleCrop>false</ScaleCrop>
  <HeadingPairs>
    <vt:vector size="6" baseType="variant">
      <vt:variant>
        <vt:lpstr>Korišteni fontovi</vt:lpstr>
      </vt:variant>
      <vt:variant>
        <vt:i4>4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20</vt:i4>
      </vt:variant>
    </vt:vector>
  </HeadingPairs>
  <TitlesOfParts>
    <vt:vector size="25" baseType="lpstr">
      <vt:lpstr>Arial</vt:lpstr>
      <vt:lpstr>Broadway</vt:lpstr>
      <vt:lpstr>Calibri</vt:lpstr>
      <vt:lpstr>Grandview Display</vt:lpstr>
      <vt:lpstr>DashVTI</vt:lpstr>
      <vt:lpstr>Stanja sustava</vt:lpstr>
      <vt:lpstr>Sadržaj</vt:lpstr>
      <vt:lpstr>Ishodi</vt:lpstr>
      <vt:lpstr>Uvodni video</vt:lpstr>
      <vt:lpstr>Stanje sustava</vt:lpstr>
      <vt:lpstr>Utjecaj stanja sustava</vt:lpstr>
      <vt:lpstr>Kategorizacija stanja sustava</vt:lpstr>
      <vt:lpstr>Važnost razumijevanja stanja sustava</vt:lpstr>
      <vt:lpstr>Kvar</vt:lpstr>
      <vt:lpstr>Inherentni kvarovi</vt:lpstr>
      <vt:lpstr>Inherentni kvarovi</vt:lpstr>
      <vt:lpstr>Inherentni kvarovi</vt:lpstr>
      <vt:lpstr>Inherentni kvarovi</vt:lpstr>
      <vt:lpstr>Mjerenje i praćenje stanja</vt:lpstr>
      <vt:lpstr>Analiza kvara</vt:lpstr>
      <vt:lpstr>Strategije održavanja</vt:lpstr>
      <vt:lpstr>Vijek trajanja</vt:lpstr>
      <vt:lpstr>Budući izazovi i trendovi</vt:lpstr>
      <vt:lpstr>Zaključak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VIRTUALBOX</dc:title>
  <dc:creator>OGNJEN</dc:creator>
  <cp:lastModifiedBy>Ognjen Roglić</cp:lastModifiedBy>
  <cp:revision>151</cp:revision>
  <dcterms:created xsi:type="dcterms:W3CDTF">2024-07-02T10:01:58Z</dcterms:created>
  <dcterms:modified xsi:type="dcterms:W3CDTF">2025-12-10T08:30:15Z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0x010100C74526B780CB7E40AAED50781EDEFDF6</vt:lpwstr>
  </property>
</Properties>
</file>