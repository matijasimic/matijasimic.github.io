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4"/>
  </p:notesMasterIdLst>
  <p:sldIdLst>
    <p:sldId id="256" r:id="rId5"/>
    <p:sldId id="277" r:id="rId6"/>
    <p:sldId id="317" r:id="rId7"/>
    <p:sldId id="318" r:id="rId8"/>
    <p:sldId id="267" r:id="rId9"/>
    <p:sldId id="319" r:id="rId10"/>
    <p:sldId id="320" r:id="rId11"/>
    <p:sldId id="321" r:id="rId12"/>
    <p:sldId id="269" r:id="rId13"/>
    <p:sldId id="271" r:id="rId14"/>
    <p:sldId id="280" r:id="rId15"/>
    <p:sldId id="272" r:id="rId16"/>
    <p:sldId id="273" r:id="rId17"/>
    <p:sldId id="322" r:id="rId18"/>
    <p:sldId id="323" r:id="rId19"/>
    <p:sldId id="324" r:id="rId20"/>
    <p:sldId id="325" r:id="rId21"/>
    <p:sldId id="327" r:id="rId22"/>
    <p:sldId id="328" r:id="rId23"/>
    <p:sldId id="329" r:id="rId24"/>
    <p:sldId id="330" r:id="rId25"/>
    <p:sldId id="331" r:id="rId26"/>
    <p:sldId id="332" r:id="rId27"/>
    <p:sldId id="333" r:id="rId28"/>
    <p:sldId id="334" r:id="rId29"/>
    <p:sldId id="335" r:id="rId30"/>
    <p:sldId id="268" r:id="rId31"/>
    <p:sldId id="336" r:id="rId32"/>
    <p:sldId id="302" r:id="rId33"/>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rednji stil 2 - Isticanj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25" autoAdjust="0"/>
    <p:restoredTop sz="94656" autoAdjust="0"/>
  </p:normalViewPr>
  <p:slideViewPr>
    <p:cSldViewPr snapToGrid="0">
      <p:cViewPr varScale="1">
        <p:scale>
          <a:sx n="93" d="100"/>
          <a:sy n="93" d="100"/>
        </p:scale>
        <p:origin x="208" y="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zaglavlj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r-HR"/>
          </a:p>
        </p:txBody>
      </p:sp>
      <p:sp>
        <p:nvSpPr>
          <p:cNvPr id="3" name="Rezervirano mjesto datum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228039-CACB-4FB7-BFCF-0AD938369F9D}" type="datetimeFigureOut">
              <a:rPr lang="hr-HR" smtClean="0"/>
              <a:t>16.03.2026.</a:t>
            </a:fld>
            <a:endParaRPr lang="hr-HR"/>
          </a:p>
        </p:txBody>
      </p:sp>
      <p:sp>
        <p:nvSpPr>
          <p:cNvPr id="4" name="Rezervirano mjesto slike slajd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r-HR"/>
          </a:p>
        </p:txBody>
      </p:sp>
      <p:sp>
        <p:nvSpPr>
          <p:cNvPr id="5" name="Rezervirano mjesto bilježaka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6" name="Rezervirano mjesto podnožj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r-HR"/>
          </a:p>
        </p:txBody>
      </p:sp>
      <p:sp>
        <p:nvSpPr>
          <p:cNvPr id="7" name="Rezervirano mjesto broja slajd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0454DF-51D3-4511-B9FB-536168BA82FE}" type="slidenum">
              <a:rPr lang="hr-HR" smtClean="0"/>
              <a:t>‹#›</a:t>
            </a:fld>
            <a:endParaRPr lang="hr-HR"/>
          </a:p>
        </p:txBody>
      </p:sp>
    </p:spTree>
    <p:extLst>
      <p:ext uri="{BB962C8B-B14F-4D97-AF65-F5344CB8AC3E}">
        <p14:creationId xmlns:p14="http://schemas.microsoft.com/office/powerpoint/2010/main" val="400754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p:sp>
      <p:sp>
        <p:nvSpPr>
          <p:cNvPr id="3" name="Rezervirano mjesto bilježaka 2"/>
          <p:cNvSpPr>
            <a:spLocks noGrp="1"/>
          </p:cNvSpPr>
          <p:nvPr>
            <p:ph type="body" idx="1"/>
          </p:nvPr>
        </p:nvSpPr>
        <p:spPr/>
        <p:txBody>
          <a:bodyPr/>
          <a:lstStyle/>
          <a:p>
            <a:endParaRPr lang="hr-HR" dirty="0"/>
          </a:p>
        </p:txBody>
      </p:sp>
      <p:sp>
        <p:nvSpPr>
          <p:cNvPr id="4" name="Rezervirano mjesto broja slajda 3"/>
          <p:cNvSpPr>
            <a:spLocks noGrp="1"/>
          </p:cNvSpPr>
          <p:nvPr>
            <p:ph type="sldNum" sz="quarter" idx="5"/>
          </p:nvPr>
        </p:nvSpPr>
        <p:spPr/>
        <p:txBody>
          <a:bodyPr/>
          <a:lstStyle/>
          <a:p>
            <a:fld id="{E80454DF-51D3-4511-B9FB-536168BA82FE}" type="slidenum">
              <a:rPr lang="hr-HR" smtClean="0"/>
              <a:t>1</a:t>
            </a:fld>
            <a:endParaRPr lang="hr-HR" dirty="0"/>
          </a:p>
        </p:txBody>
      </p:sp>
    </p:spTree>
    <p:extLst>
      <p:ext uri="{BB962C8B-B14F-4D97-AF65-F5344CB8AC3E}">
        <p14:creationId xmlns:p14="http://schemas.microsoft.com/office/powerpoint/2010/main" val="1190727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2EE6B4AA-7FC7-404C-91AE-549D4281B966}" type="slidenum">
              <a:rPr lang="hr-HR" smtClean="0"/>
              <a:t>2</a:t>
            </a:fld>
            <a:endParaRPr lang="hr-HR" dirty="0"/>
          </a:p>
        </p:txBody>
      </p:sp>
    </p:spTree>
    <p:extLst>
      <p:ext uri="{BB962C8B-B14F-4D97-AF65-F5344CB8AC3E}">
        <p14:creationId xmlns:p14="http://schemas.microsoft.com/office/powerpoint/2010/main" val="1640673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2EE6B4AA-7FC7-404C-91AE-549D4281B966}" type="slidenum">
              <a:rPr lang="hr-HR" smtClean="0"/>
              <a:t>3</a:t>
            </a:fld>
            <a:endParaRPr lang="hr-HR" dirty="0"/>
          </a:p>
        </p:txBody>
      </p:sp>
    </p:spTree>
    <p:extLst>
      <p:ext uri="{BB962C8B-B14F-4D97-AF65-F5344CB8AC3E}">
        <p14:creationId xmlns:p14="http://schemas.microsoft.com/office/powerpoint/2010/main" val="89942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4</a:t>
            </a:fld>
            <a:endParaRPr lang="hr-HR"/>
          </a:p>
        </p:txBody>
      </p:sp>
    </p:spTree>
    <p:extLst>
      <p:ext uri="{BB962C8B-B14F-4D97-AF65-F5344CB8AC3E}">
        <p14:creationId xmlns:p14="http://schemas.microsoft.com/office/powerpoint/2010/main" val="4164459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dirty="0">
              <a:latin typeface="Calibri" pitchFamily="34" charset="0"/>
              <a:cs typeface="Calibri" pitchFamily="34" charset="0"/>
            </a:endParaRPr>
          </a:p>
        </p:txBody>
      </p:sp>
      <p:sp>
        <p:nvSpPr>
          <p:cNvPr id="4" name="Slide Number Placeholder 3"/>
          <p:cNvSpPr>
            <a:spLocks noGrp="1"/>
          </p:cNvSpPr>
          <p:nvPr>
            <p:ph type="sldNum" sz="quarter" idx="10"/>
          </p:nvPr>
        </p:nvSpPr>
        <p:spPr/>
        <p:txBody>
          <a:bodyPr/>
          <a:lstStyle/>
          <a:p>
            <a:fld id="{2EE6B4AA-7FC7-404C-91AE-549D4281B966}" type="slidenum">
              <a:rPr lang="hr-HR" smtClean="0"/>
              <a:t>5</a:t>
            </a:fld>
            <a:endParaRPr lang="hr-HR"/>
          </a:p>
        </p:txBody>
      </p:sp>
    </p:spTree>
    <p:extLst>
      <p:ext uri="{BB962C8B-B14F-4D97-AF65-F5344CB8AC3E}">
        <p14:creationId xmlns:p14="http://schemas.microsoft.com/office/powerpoint/2010/main" val="4120323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6</a:t>
            </a:fld>
            <a:endParaRPr lang="hr-HR"/>
          </a:p>
        </p:txBody>
      </p:sp>
    </p:spTree>
    <p:extLst>
      <p:ext uri="{BB962C8B-B14F-4D97-AF65-F5344CB8AC3E}">
        <p14:creationId xmlns:p14="http://schemas.microsoft.com/office/powerpoint/2010/main" val="481715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7</a:t>
            </a:fld>
            <a:endParaRPr lang="hr-HR"/>
          </a:p>
        </p:txBody>
      </p:sp>
    </p:spTree>
    <p:extLst>
      <p:ext uri="{BB962C8B-B14F-4D97-AF65-F5344CB8AC3E}">
        <p14:creationId xmlns:p14="http://schemas.microsoft.com/office/powerpoint/2010/main" val="481715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8</a:t>
            </a:fld>
            <a:endParaRPr lang="hr-HR"/>
          </a:p>
        </p:txBody>
      </p:sp>
    </p:spTree>
    <p:extLst>
      <p:ext uri="{BB962C8B-B14F-4D97-AF65-F5344CB8AC3E}">
        <p14:creationId xmlns:p14="http://schemas.microsoft.com/office/powerpoint/2010/main" val="2859447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9</a:t>
            </a:fld>
            <a:endParaRPr lang="hr-HR"/>
          </a:p>
        </p:txBody>
      </p:sp>
    </p:spTree>
    <p:extLst>
      <p:ext uri="{BB962C8B-B14F-4D97-AF65-F5344CB8AC3E}">
        <p14:creationId xmlns:p14="http://schemas.microsoft.com/office/powerpoint/2010/main" val="1418761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10</a:t>
            </a:fld>
            <a:endParaRPr lang="hr-HR"/>
          </a:p>
        </p:txBody>
      </p:sp>
    </p:spTree>
    <p:extLst>
      <p:ext uri="{BB962C8B-B14F-4D97-AF65-F5344CB8AC3E}">
        <p14:creationId xmlns:p14="http://schemas.microsoft.com/office/powerpoint/2010/main" val="223216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11</a:t>
            </a:fld>
            <a:endParaRPr lang="hr-HR"/>
          </a:p>
        </p:txBody>
      </p:sp>
    </p:spTree>
    <p:extLst>
      <p:ext uri="{BB962C8B-B14F-4D97-AF65-F5344CB8AC3E}">
        <p14:creationId xmlns:p14="http://schemas.microsoft.com/office/powerpoint/2010/main" val="223216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12</a:t>
            </a:fld>
            <a:endParaRPr lang="hr-HR"/>
          </a:p>
        </p:txBody>
      </p:sp>
    </p:spTree>
    <p:extLst>
      <p:ext uri="{BB962C8B-B14F-4D97-AF65-F5344CB8AC3E}">
        <p14:creationId xmlns:p14="http://schemas.microsoft.com/office/powerpoint/2010/main" val="1332003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13</a:t>
            </a:fld>
            <a:endParaRPr lang="hr-HR"/>
          </a:p>
        </p:txBody>
      </p:sp>
    </p:spTree>
    <p:extLst>
      <p:ext uri="{BB962C8B-B14F-4D97-AF65-F5344CB8AC3E}">
        <p14:creationId xmlns:p14="http://schemas.microsoft.com/office/powerpoint/2010/main" val="1204123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14</a:t>
            </a:fld>
            <a:endParaRPr lang="hr-HR"/>
          </a:p>
        </p:txBody>
      </p:sp>
    </p:spTree>
    <p:extLst>
      <p:ext uri="{BB962C8B-B14F-4D97-AF65-F5344CB8AC3E}">
        <p14:creationId xmlns:p14="http://schemas.microsoft.com/office/powerpoint/2010/main" val="14088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15</a:t>
            </a:fld>
            <a:endParaRPr lang="hr-HR"/>
          </a:p>
        </p:txBody>
      </p:sp>
    </p:spTree>
    <p:extLst>
      <p:ext uri="{BB962C8B-B14F-4D97-AF65-F5344CB8AC3E}">
        <p14:creationId xmlns:p14="http://schemas.microsoft.com/office/powerpoint/2010/main" val="3614228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16</a:t>
            </a:fld>
            <a:endParaRPr lang="hr-HR"/>
          </a:p>
        </p:txBody>
      </p:sp>
    </p:spTree>
    <p:extLst>
      <p:ext uri="{BB962C8B-B14F-4D97-AF65-F5344CB8AC3E}">
        <p14:creationId xmlns:p14="http://schemas.microsoft.com/office/powerpoint/2010/main" val="419485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17</a:t>
            </a:fld>
            <a:endParaRPr lang="hr-HR"/>
          </a:p>
        </p:txBody>
      </p:sp>
    </p:spTree>
    <p:extLst>
      <p:ext uri="{BB962C8B-B14F-4D97-AF65-F5344CB8AC3E}">
        <p14:creationId xmlns:p14="http://schemas.microsoft.com/office/powerpoint/2010/main" val="1642515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18</a:t>
            </a:fld>
            <a:endParaRPr lang="hr-HR"/>
          </a:p>
        </p:txBody>
      </p:sp>
    </p:spTree>
    <p:extLst>
      <p:ext uri="{BB962C8B-B14F-4D97-AF65-F5344CB8AC3E}">
        <p14:creationId xmlns:p14="http://schemas.microsoft.com/office/powerpoint/2010/main" val="494462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19</a:t>
            </a:fld>
            <a:endParaRPr lang="hr-HR"/>
          </a:p>
        </p:txBody>
      </p:sp>
    </p:spTree>
    <p:extLst>
      <p:ext uri="{BB962C8B-B14F-4D97-AF65-F5344CB8AC3E}">
        <p14:creationId xmlns:p14="http://schemas.microsoft.com/office/powerpoint/2010/main" val="2358889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20</a:t>
            </a:fld>
            <a:endParaRPr lang="hr-HR"/>
          </a:p>
        </p:txBody>
      </p:sp>
    </p:spTree>
    <p:extLst>
      <p:ext uri="{BB962C8B-B14F-4D97-AF65-F5344CB8AC3E}">
        <p14:creationId xmlns:p14="http://schemas.microsoft.com/office/powerpoint/2010/main" val="21074149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21</a:t>
            </a:fld>
            <a:endParaRPr lang="hr-HR"/>
          </a:p>
        </p:txBody>
      </p:sp>
    </p:spTree>
    <p:extLst>
      <p:ext uri="{BB962C8B-B14F-4D97-AF65-F5344CB8AC3E}">
        <p14:creationId xmlns:p14="http://schemas.microsoft.com/office/powerpoint/2010/main" val="889508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22</a:t>
            </a:fld>
            <a:endParaRPr lang="hr-HR"/>
          </a:p>
        </p:txBody>
      </p:sp>
    </p:spTree>
    <p:extLst>
      <p:ext uri="{BB962C8B-B14F-4D97-AF65-F5344CB8AC3E}">
        <p14:creationId xmlns:p14="http://schemas.microsoft.com/office/powerpoint/2010/main" val="19627113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23</a:t>
            </a:fld>
            <a:endParaRPr lang="hr-HR"/>
          </a:p>
        </p:txBody>
      </p:sp>
    </p:spTree>
    <p:extLst>
      <p:ext uri="{BB962C8B-B14F-4D97-AF65-F5344CB8AC3E}">
        <p14:creationId xmlns:p14="http://schemas.microsoft.com/office/powerpoint/2010/main" val="1796829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24</a:t>
            </a:fld>
            <a:endParaRPr lang="hr-HR"/>
          </a:p>
        </p:txBody>
      </p:sp>
    </p:spTree>
    <p:extLst>
      <p:ext uri="{BB962C8B-B14F-4D97-AF65-F5344CB8AC3E}">
        <p14:creationId xmlns:p14="http://schemas.microsoft.com/office/powerpoint/2010/main" val="2203148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25</a:t>
            </a:fld>
            <a:endParaRPr lang="hr-HR"/>
          </a:p>
        </p:txBody>
      </p:sp>
    </p:spTree>
    <p:extLst>
      <p:ext uri="{BB962C8B-B14F-4D97-AF65-F5344CB8AC3E}">
        <p14:creationId xmlns:p14="http://schemas.microsoft.com/office/powerpoint/2010/main" val="26867336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26</a:t>
            </a:fld>
            <a:endParaRPr lang="hr-HR"/>
          </a:p>
        </p:txBody>
      </p:sp>
    </p:spTree>
    <p:extLst>
      <p:ext uri="{BB962C8B-B14F-4D97-AF65-F5344CB8AC3E}">
        <p14:creationId xmlns:p14="http://schemas.microsoft.com/office/powerpoint/2010/main" val="9548215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2EE6B4AA-7FC7-404C-91AE-549D4281B966}" type="slidenum">
              <a:rPr lang="hr-HR" smtClean="0"/>
              <a:t>27</a:t>
            </a:fld>
            <a:endParaRPr lang="hr-HR"/>
          </a:p>
        </p:txBody>
      </p:sp>
    </p:spTree>
    <p:extLst>
      <p:ext uri="{BB962C8B-B14F-4D97-AF65-F5344CB8AC3E}">
        <p14:creationId xmlns:p14="http://schemas.microsoft.com/office/powerpoint/2010/main" val="15027652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28</a:t>
            </a:fld>
            <a:endParaRPr lang="hr-HR"/>
          </a:p>
        </p:txBody>
      </p:sp>
    </p:spTree>
    <p:extLst>
      <p:ext uri="{BB962C8B-B14F-4D97-AF65-F5344CB8AC3E}">
        <p14:creationId xmlns:p14="http://schemas.microsoft.com/office/powerpoint/2010/main" val="24366057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t>29</a:t>
            </a:fld>
            <a:endParaRPr lang="hr-HR"/>
          </a:p>
        </p:txBody>
      </p:sp>
    </p:spTree>
    <p:extLst>
      <p:ext uri="{BB962C8B-B14F-4D97-AF65-F5344CB8AC3E}">
        <p14:creationId xmlns:p14="http://schemas.microsoft.com/office/powerpoint/2010/main" val="3939671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3/16/26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61309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3/16/26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4360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3/16/26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0316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3/16/26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37467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3/16/26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49823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3/16/26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79093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3/16/26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10791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3/16/26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75163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3/16/26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52510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3/16/26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34353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3/16/26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0571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3/16/26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057085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wikimedia.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7">
            <a:extLst>
              <a:ext uri="{FF2B5EF4-FFF2-40B4-BE49-F238E27FC236}">
                <a16:creationId xmlns:a16="http://schemas.microsoft.com/office/drawing/2014/main" id="{59A9681A-2486-4655-A876-E26402CA2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a:extLst>
              <a:ext uri="{FF2B5EF4-FFF2-40B4-BE49-F238E27FC236}">
                <a16:creationId xmlns:a16="http://schemas.microsoft.com/office/drawing/2014/main" id="{810DE59D-5C3F-A39A-D3CC-EBEBF41F89BF}"/>
              </a:ext>
            </a:extLst>
          </p:cNvPr>
          <p:cNvPicPr>
            <a:picLocks noChangeAspect="1"/>
          </p:cNvPicPr>
          <p:nvPr/>
        </p:nvPicPr>
        <p:blipFill>
          <a:blip r:embed="rId3">
            <a:alphaModFix/>
            <a:extLst>
              <a:ext uri="{28A0092B-C50C-407E-A947-70E740481C1C}">
                <a14:useLocalDpi xmlns:a14="http://schemas.microsoft.com/office/drawing/2010/main" val="0"/>
              </a:ext>
            </a:extLst>
          </a:blip>
          <a:srcRect r="34221"/>
          <a:stretch/>
        </p:blipFill>
        <p:spPr bwMode="auto">
          <a:xfrm>
            <a:off x="2" y="152"/>
            <a:ext cx="12191998" cy="68578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Rectangle 19">
            <a:extLst>
              <a:ext uri="{FF2B5EF4-FFF2-40B4-BE49-F238E27FC236}">
                <a16:creationId xmlns:a16="http://schemas.microsoft.com/office/drawing/2014/main" id="{C9BB6818-31C2-4340-98F8-64FF7F46A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Naslov 1">
            <a:extLst>
              <a:ext uri="{FF2B5EF4-FFF2-40B4-BE49-F238E27FC236}">
                <a16:creationId xmlns:a16="http://schemas.microsoft.com/office/drawing/2014/main" id="{D64DDC21-F0E0-7F18-321D-A12A6E446572}"/>
              </a:ext>
            </a:extLst>
          </p:cNvPr>
          <p:cNvSpPr>
            <a:spLocks noGrp="1"/>
          </p:cNvSpPr>
          <p:nvPr>
            <p:ph type="ctrTitle"/>
          </p:nvPr>
        </p:nvSpPr>
        <p:spPr>
          <a:xfrm>
            <a:off x="640080" y="1371600"/>
            <a:ext cx="5758629" cy="2696866"/>
          </a:xfrm>
        </p:spPr>
        <p:txBody>
          <a:bodyPr anchor="t">
            <a:normAutofit/>
          </a:bodyPr>
          <a:lstStyle/>
          <a:p>
            <a:r>
              <a:rPr lang="hr-HR" dirty="0">
                <a:solidFill>
                  <a:srgbClr val="FFFFFF"/>
                </a:solidFill>
              </a:rPr>
              <a:t>Multimedija – osnovni pojmovi</a:t>
            </a:r>
          </a:p>
        </p:txBody>
      </p:sp>
      <p:sp>
        <p:nvSpPr>
          <p:cNvPr id="3" name="Podnaslov 2">
            <a:extLst>
              <a:ext uri="{FF2B5EF4-FFF2-40B4-BE49-F238E27FC236}">
                <a16:creationId xmlns:a16="http://schemas.microsoft.com/office/drawing/2014/main" id="{107203C5-DC1F-00CF-2EE2-3AC930F1F5D6}"/>
              </a:ext>
            </a:extLst>
          </p:cNvPr>
          <p:cNvSpPr>
            <a:spLocks noGrp="1"/>
          </p:cNvSpPr>
          <p:nvPr>
            <p:ph type="subTitle" idx="1"/>
          </p:nvPr>
        </p:nvSpPr>
        <p:spPr>
          <a:xfrm>
            <a:off x="640080" y="4584879"/>
            <a:ext cx="6402572" cy="1287887"/>
          </a:xfrm>
        </p:spPr>
        <p:txBody>
          <a:bodyPr anchor="b">
            <a:normAutofit/>
          </a:bodyPr>
          <a:lstStyle/>
          <a:p>
            <a:r>
              <a:rPr lang="hr-HR" dirty="0">
                <a:solidFill>
                  <a:srgbClr val="FFFFFF"/>
                </a:solidFill>
              </a:rPr>
              <a:t>Ognjen Roglić</a:t>
            </a:r>
          </a:p>
          <a:p>
            <a:r>
              <a:rPr lang="hr-HR" dirty="0">
                <a:solidFill>
                  <a:srgbClr val="FFFFFF"/>
                </a:solidFill>
              </a:rPr>
              <a:t>MM [04 i 05PZ]</a:t>
            </a:r>
          </a:p>
        </p:txBody>
      </p:sp>
      <p:cxnSp>
        <p:nvCxnSpPr>
          <p:cNvPr id="26" name="Straight Connector 21">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7770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716" y="333062"/>
            <a:ext cx="8333330" cy="1097280"/>
          </a:xfrm>
        </p:spPr>
        <p:txBody>
          <a:bodyPr>
            <a:normAutofit/>
          </a:bodyPr>
          <a:lstStyle/>
          <a:p>
            <a:r>
              <a:rPr lang="hr-HR" dirty="0">
                <a:solidFill>
                  <a:schemeClr val="tx1">
                    <a:lumMod val="95000"/>
                    <a:lumOff val="5000"/>
                  </a:schemeClr>
                </a:solidFill>
                <a:latin typeface="Arial" charset="0"/>
              </a:rPr>
              <a:t>Sadržaj</a:t>
            </a:r>
            <a:endParaRPr lang="hr-HR" dirty="0">
              <a:solidFill>
                <a:schemeClr val="tx1">
                  <a:lumMod val="95000"/>
                  <a:lumOff val="5000"/>
                </a:schemeClr>
              </a:solidFill>
            </a:endParaRPr>
          </a:p>
        </p:txBody>
      </p:sp>
      <p:sp>
        <p:nvSpPr>
          <p:cNvPr id="3" name="Content Placeholder 2"/>
          <p:cNvSpPr>
            <a:spLocks noGrp="1"/>
          </p:cNvSpPr>
          <p:nvPr>
            <p:ph sz="quarter" idx="1"/>
          </p:nvPr>
        </p:nvSpPr>
        <p:spPr>
          <a:xfrm>
            <a:off x="1966716" y="1209328"/>
            <a:ext cx="9150864" cy="4937760"/>
          </a:xfrm>
        </p:spPr>
        <p:txBody>
          <a:bodyPr>
            <a:normAutofit/>
          </a:bodyPr>
          <a:lstStyle/>
          <a:p>
            <a:pPr lvl="0"/>
            <a:r>
              <a:rPr lang="hr-HR" sz="2400" dirty="0">
                <a:latin typeface="Arial" panose="020B0604020202020204" pitchFamily="34" charset="0"/>
                <a:cs typeface="Arial" panose="020B0604020202020204" pitchFamily="34" charset="0"/>
              </a:rPr>
              <a:t>Multimedija predstavlja kombinaciju različitih medijskih formata, uključujući tekst, slike, zvuk, video i animaciju, koji se koriste za stvaranje interaktivnih i dinamičnih sadržaja. Osnovni elementi multimedije su tekst (nositelj informacija), slike i grafike (vizualni prikazi), zvuk (glazba i audio efekti), video (pokretne slike) i animacija (dinamične vizualizacije). Korištenje multimedije je ključno u područjima poput edukacije, marketinga, zabave i komunikacije, a interaktivnost je jedan od njezinih najvažnijih aspekata jer omogućuje korisnicima aktivnu ulogu u sadržaju.</a:t>
            </a:r>
            <a:endParaRPr lang="hr-HR"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779253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1077" y="205242"/>
            <a:ext cx="8333330" cy="1097280"/>
          </a:xfrm>
        </p:spPr>
        <p:txBody>
          <a:bodyPr>
            <a:normAutofit/>
          </a:bodyPr>
          <a:lstStyle/>
          <a:p>
            <a:r>
              <a:rPr lang="hr-HR" sz="3200" dirty="0">
                <a:solidFill>
                  <a:schemeClr val="tx1">
                    <a:lumMod val="95000"/>
                    <a:lumOff val="5000"/>
                  </a:schemeClr>
                </a:solidFill>
                <a:latin typeface="Arial" charset="0"/>
              </a:rPr>
              <a:t>Ishodi prezentacije</a:t>
            </a:r>
            <a:endParaRPr lang="hr-HR" sz="3200" dirty="0">
              <a:solidFill>
                <a:schemeClr val="tx1">
                  <a:lumMod val="95000"/>
                  <a:lumOff val="5000"/>
                </a:schemeClr>
              </a:solidFill>
            </a:endParaRPr>
          </a:p>
        </p:txBody>
      </p:sp>
      <p:sp>
        <p:nvSpPr>
          <p:cNvPr id="3" name="Content Placeholder 2"/>
          <p:cNvSpPr>
            <a:spLocks noGrp="1"/>
          </p:cNvSpPr>
          <p:nvPr>
            <p:ph sz="quarter" idx="1"/>
          </p:nvPr>
        </p:nvSpPr>
        <p:spPr>
          <a:xfrm>
            <a:off x="2018581" y="1219159"/>
            <a:ext cx="8688748" cy="5433599"/>
          </a:xfrm>
        </p:spPr>
        <p:txBody>
          <a:bodyPr>
            <a:normAutofit fontScale="85000" lnSpcReduction="10000"/>
          </a:bodyPr>
          <a:lstStyle/>
          <a:p>
            <a:pPr>
              <a:buFont typeface="+mj-lt"/>
              <a:buAutoNum type="arabicPeriod"/>
            </a:pPr>
            <a:r>
              <a:rPr lang="hr-HR" sz="2000" b="1" dirty="0">
                <a:latin typeface="Arial" panose="020B0604020202020204" pitchFamily="34" charset="0"/>
                <a:cs typeface="Arial" panose="020B0604020202020204" pitchFamily="34" charset="0"/>
              </a:rPr>
              <a:t>Razumijevanje osnovnih pojmova multimedije</a:t>
            </a:r>
            <a:r>
              <a:rPr lang="hr-HR" sz="2000" dirty="0">
                <a:latin typeface="Arial" panose="020B0604020202020204" pitchFamily="34" charset="0"/>
                <a:cs typeface="Arial" panose="020B0604020202020204" pitchFamily="34" charset="0"/>
              </a:rPr>
              <a:t> – Učenici će moći definirati što je multimedija, navesti njezine osnovne elemente te objasniti pojmove poput teksta, slike, zvuka, videozapisa i animacije.</a:t>
            </a:r>
          </a:p>
          <a:p>
            <a:pPr>
              <a:buFont typeface="+mj-lt"/>
              <a:buAutoNum type="arabicPeriod"/>
            </a:pPr>
            <a:r>
              <a:rPr lang="hr-HR" sz="2000" b="1" dirty="0">
                <a:latin typeface="Arial" panose="020B0604020202020204" pitchFamily="34" charset="0"/>
                <a:cs typeface="Arial" panose="020B0604020202020204" pitchFamily="34" charset="0"/>
              </a:rPr>
              <a:t>Identifikacija strukture multimedijskih sustava</a:t>
            </a:r>
            <a:r>
              <a:rPr lang="hr-HR" sz="2000" dirty="0">
                <a:latin typeface="Arial" panose="020B0604020202020204" pitchFamily="34" charset="0"/>
                <a:cs typeface="Arial" panose="020B0604020202020204" pitchFamily="34" charset="0"/>
              </a:rPr>
              <a:t> – Polaznici će razumjeti ključne komponente multimedijskih sustava, uključujući ulazne i izlazne uređaje, obradu podataka i pohranu.</a:t>
            </a:r>
          </a:p>
          <a:p>
            <a:pPr>
              <a:buFont typeface="+mj-lt"/>
              <a:buAutoNum type="arabicPeriod"/>
            </a:pPr>
            <a:r>
              <a:rPr lang="hr-HR" sz="2000" b="1" dirty="0">
                <a:latin typeface="Arial" panose="020B0604020202020204" pitchFamily="34" charset="0"/>
                <a:cs typeface="Arial" panose="020B0604020202020204" pitchFamily="34" charset="0"/>
              </a:rPr>
              <a:t>Poznavanje povijesti i razvoja multimedije</a:t>
            </a:r>
            <a:r>
              <a:rPr lang="hr-HR" sz="2000" dirty="0">
                <a:latin typeface="Arial" panose="020B0604020202020204" pitchFamily="34" charset="0"/>
                <a:cs typeface="Arial" panose="020B0604020202020204" pitchFamily="34" charset="0"/>
              </a:rPr>
              <a:t> – Učenici će naučiti o povijesnom razvoju multimedije, od ranih oblika (film, radio, televizija) do modernih digitalnih i interaktivnih oblika.</a:t>
            </a:r>
          </a:p>
          <a:p>
            <a:pPr>
              <a:buFont typeface="+mj-lt"/>
              <a:buAutoNum type="arabicPeriod"/>
            </a:pPr>
            <a:r>
              <a:rPr lang="hr-HR" sz="2000" b="1" dirty="0">
                <a:latin typeface="Arial" panose="020B0604020202020204" pitchFamily="34" charset="0"/>
                <a:cs typeface="Arial" panose="020B0604020202020204" pitchFamily="34" charset="0"/>
              </a:rPr>
              <a:t>Razlikovanje osnovnih elemenata multimedije</a:t>
            </a:r>
            <a:r>
              <a:rPr lang="hr-HR" sz="2000" dirty="0">
                <a:latin typeface="Arial" panose="020B0604020202020204" pitchFamily="34" charset="0"/>
                <a:cs typeface="Arial" panose="020B0604020202020204" pitchFamily="34" charset="0"/>
              </a:rPr>
              <a:t> – Učenici će biti u stanju prepoznati i razlikovati ključne medijske elemente i njihove funkcije u sustavu.</a:t>
            </a:r>
          </a:p>
          <a:p>
            <a:pPr>
              <a:buFont typeface="+mj-lt"/>
              <a:buAutoNum type="arabicPeriod"/>
            </a:pPr>
            <a:r>
              <a:rPr lang="hr-HR" sz="2000" b="1" dirty="0">
                <a:latin typeface="Arial" panose="020B0604020202020204" pitchFamily="34" charset="0"/>
                <a:cs typeface="Arial" panose="020B0604020202020204" pitchFamily="34" charset="0"/>
              </a:rPr>
              <a:t>Razumijevanje primjene multimedije</a:t>
            </a:r>
            <a:r>
              <a:rPr lang="hr-HR" sz="2000" dirty="0">
                <a:latin typeface="Arial" panose="020B0604020202020204" pitchFamily="34" charset="0"/>
                <a:cs typeface="Arial" panose="020B0604020202020204" pitchFamily="34" charset="0"/>
              </a:rPr>
              <a:t> – Polaznici će moći prepoznati različite primjene multimedije u edukaciji, marketingu, zabavi, komunikaciji i znanstvenim područjima.</a:t>
            </a:r>
          </a:p>
          <a:p>
            <a:pPr marL="0" indent="0">
              <a:buNone/>
            </a:pPr>
            <a:r>
              <a:rPr lang="hr-HR" sz="2000" dirty="0">
                <a:latin typeface="Arial" panose="020B0604020202020204" pitchFamily="34" charset="0"/>
                <a:cs typeface="Arial" panose="020B0604020202020204" pitchFamily="34" charset="0"/>
              </a:rPr>
              <a:t>Ovi ishodi omogućuju učenicima temeljno razumijevanje multimedije i njezinu široku primjenu u svakodnevnom životu.</a:t>
            </a:r>
          </a:p>
        </p:txBody>
      </p:sp>
    </p:spTree>
    <p:extLst>
      <p:ext uri="{BB962C8B-B14F-4D97-AF65-F5344CB8AC3E}">
        <p14:creationId xmlns:p14="http://schemas.microsoft.com/office/powerpoint/2010/main" val="363491972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4" name="Rezervirano mjesto sadržaja 3">
            <a:extLst>
              <a:ext uri="{FF2B5EF4-FFF2-40B4-BE49-F238E27FC236}">
                <a16:creationId xmlns:a16="http://schemas.microsoft.com/office/drawing/2014/main" id="{1E3C1775-F5DE-550F-858A-29C3A4FC35BB}"/>
              </a:ext>
            </a:extLst>
          </p:cNvPr>
          <p:cNvSpPr>
            <a:spLocks noGrp="1"/>
          </p:cNvSpPr>
          <p:nvPr>
            <p:ph idx="1"/>
          </p:nvPr>
        </p:nvSpPr>
        <p:spPr/>
        <p:txBody>
          <a:bodyPr/>
          <a:lstStyle/>
          <a:p>
            <a:endParaRPr lang="hr-HR"/>
          </a:p>
        </p:txBody>
      </p:sp>
      <p:pic>
        <p:nvPicPr>
          <p:cNvPr id="1026" name="Picture 2" descr="How Diploma Program Can Help to Enter the Multimedia Industry?">
            <a:extLst>
              <a:ext uri="{FF2B5EF4-FFF2-40B4-BE49-F238E27FC236}">
                <a16:creationId xmlns:a16="http://schemas.microsoft.com/office/drawing/2014/main" id="{839C2A04-DCC7-2E4E-9359-F705C38D3E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96"/>
            <a:ext cx="12015019" cy="6878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85380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299885"/>
            <a:ext cx="8336773" cy="1097280"/>
          </a:xfrm>
        </p:spPr>
        <p:txBody>
          <a:bodyPr>
            <a:normAutofit/>
          </a:bodyPr>
          <a:lstStyle/>
          <a:p>
            <a:r>
              <a:rPr lang="hr-HR" sz="3200" dirty="0">
                <a:latin typeface="Arial" charset="0"/>
              </a:rPr>
              <a:t>Što je multimedija?</a:t>
            </a:r>
          </a:p>
        </p:txBody>
      </p:sp>
      <p:sp>
        <p:nvSpPr>
          <p:cNvPr id="3" name="Content Placeholder 2"/>
          <p:cNvSpPr>
            <a:spLocks noGrp="1"/>
          </p:cNvSpPr>
          <p:nvPr>
            <p:ph sz="quarter" idx="1"/>
          </p:nvPr>
        </p:nvSpPr>
        <p:spPr>
          <a:xfrm>
            <a:off x="1760958" y="1237291"/>
            <a:ext cx="9162681" cy="5320823"/>
          </a:xfrm>
        </p:spPr>
        <p:txBody>
          <a:bodyPr>
            <a:normAutofit fontScale="32500" lnSpcReduction="20000"/>
          </a:bodyPr>
          <a:lstStyle/>
          <a:p>
            <a:r>
              <a:rPr lang="hr-HR" sz="7400" b="1" dirty="0">
                <a:latin typeface="Calibri" pitchFamily="34" charset="0"/>
                <a:cs typeface="Calibri" pitchFamily="34" charset="0"/>
              </a:rPr>
              <a:t>multimedija </a:t>
            </a:r>
            <a:r>
              <a:rPr lang="hr-HR" sz="7400" dirty="0">
                <a:latin typeface="Calibri" pitchFamily="34" charset="0"/>
                <a:cs typeface="Calibri" pitchFamily="34" charset="0"/>
              </a:rPr>
              <a:t>– od latinskih riječi </a:t>
            </a:r>
            <a:r>
              <a:rPr lang="hr-HR" sz="7400" b="1" dirty="0">
                <a:latin typeface="Calibri" pitchFamily="34" charset="0"/>
                <a:cs typeface="Calibri" pitchFamily="34" charset="0"/>
              </a:rPr>
              <a:t>multus (mnogi) i medium (medij)</a:t>
            </a:r>
          </a:p>
          <a:p>
            <a:endParaRPr lang="hr-HR" sz="5500" dirty="0">
              <a:latin typeface="Calibri" pitchFamily="34" charset="0"/>
              <a:cs typeface="Calibri" pitchFamily="34" charset="0"/>
            </a:endParaRPr>
          </a:p>
          <a:p>
            <a:pPr lvl="1"/>
            <a:r>
              <a:rPr lang="hr-HR" sz="6200" b="1" i="1" dirty="0">
                <a:latin typeface="Calibri" pitchFamily="34" charset="0"/>
                <a:cs typeface="Calibri" pitchFamily="34" charset="0"/>
              </a:rPr>
              <a:t>medij</a:t>
            </a:r>
            <a:r>
              <a:rPr lang="hr-HR" sz="6200" dirty="0">
                <a:latin typeface="Calibri" pitchFamily="34" charset="0"/>
                <a:cs typeface="Calibri" pitchFamily="34" charset="0"/>
              </a:rPr>
              <a:t> - predstavlja načine, oblike kojima se predstavlja i prenosi neka poruka (npr. tekst, slika, zvuk)</a:t>
            </a:r>
          </a:p>
          <a:p>
            <a:pPr lvl="1"/>
            <a:r>
              <a:rPr lang="hr-HR" sz="6200" b="1" i="1" dirty="0">
                <a:latin typeface="Calibri" pitchFamily="34" charset="0"/>
                <a:cs typeface="Calibri" pitchFamily="34" charset="0"/>
              </a:rPr>
              <a:t>multi</a:t>
            </a:r>
            <a:r>
              <a:rPr lang="hr-HR" sz="6200" dirty="0">
                <a:latin typeface="Calibri" pitchFamily="34" charset="0"/>
                <a:cs typeface="Calibri" pitchFamily="34" charset="0"/>
              </a:rPr>
              <a:t> - označava da se koristi više njih istovremeno</a:t>
            </a:r>
          </a:p>
          <a:p>
            <a:pPr marL="0" indent="0">
              <a:buNone/>
            </a:pPr>
            <a:endParaRPr lang="hr-HR" sz="7400" b="1" dirty="0">
              <a:latin typeface="Calibri" pitchFamily="34" charset="0"/>
              <a:cs typeface="Calibri" pitchFamily="34" charset="0"/>
            </a:endParaRPr>
          </a:p>
          <a:p>
            <a:r>
              <a:rPr lang="hr-HR" sz="7400" dirty="0">
                <a:latin typeface="Calibri" pitchFamily="34" charset="0"/>
                <a:cs typeface="Calibri" pitchFamily="34" charset="0"/>
              </a:rPr>
              <a:t>Predstavlja integraciju različitih medijskih elemenata koji su u osnovi samostalni sadržaji</a:t>
            </a:r>
          </a:p>
          <a:p>
            <a:endParaRPr lang="hr-HR" sz="5500" dirty="0">
              <a:latin typeface="Calibri" pitchFamily="34" charset="0"/>
              <a:cs typeface="Calibri" pitchFamily="34" charset="0"/>
            </a:endParaRPr>
          </a:p>
          <a:p>
            <a:r>
              <a:rPr lang="hr-HR" sz="7400" b="1" dirty="0">
                <a:latin typeface="Calibri" pitchFamily="34" charset="0"/>
                <a:cs typeface="Calibri" pitchFamily="34" charset="0"/>
              </a:rPr>
              <a:t>Multimedija</a:t>
            </a:r>
            <a:r>
              <a:rPr lang="hr-HR" sz="7400" dirty="0">
                <a:latin typeface="Calibri" pitchFamily="34" charset="0"/>
                <a:cs typeface="Calibri" pitchFamily="34" charset="0"/>
              </a:rPr>
              <a:t> je računalno kontrolirana integracija: teksta, grafike, crteža, fotografije, videa, animacije i zvuka, u kojoj se svaka vrsta informacije može prikazati, pohraniti, prenositi i obraditi digitalno.</a:t>
            </a:r>
          </a:p>
          <a:p>
            <a:pPr marL="0" indent="0">
              <a:buNone/>
            </a:pPr>
            <a:br>
              <a:rPr lang="hr-HR" dirty="0"/>
            </a:br>
            <a:endParaRPr lang="hr-HR" dirty="0"/>
          </a:p>
          <a:p>
            <a:endParaRPr lang="hr-HR" dirty="0"/>
          </a:p>
        </p:txBody>
      </p:sp>
    </p:spTree>
    <p:extLst>
      <p:ext uri="{BB962C8B-B14F-4D97-AF65-F5344CB8AC3E}">
        <p14:creationId xmlns:p14="http://schemas.microsoft.com/office/powerpoint/2010/main" val="383045237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963" y="280220"/>
            <a:ext cx="9202011" cy="1097280"/>
          </a:xfrm>
        </p:spPr>
        <p:txBody>
          <a:bodyPr>
            <a:normAutofit/>
          </a:bodyPr>
          <a:lstStyle/>
          <a:p>
            <a:r>
              <a:rPr lang="hr-HR" sz="3200" dirty="0">
                <a:latin typeface="Arial" charset="0"/>
              </a:rPr>
              <a:t>Povijest multimedije</a:t>
            </a:r>
          </a:p>
        </p:txBody>
      </p:sp>
      <p:sp>
        <p:nvSpPr>
          <p:cNvPr id="3" name="Content Placeholder 2"/>
          <p:cNvSpPr>
            <a:spLocks noGrp="1"/>
          </p:cNvSpPr>
          <p:nvPr>
            <p:ph sz="quarter" idx="1"/>
          </p:nvPr>
        </p:nvSpPr>
        <p:spPr>
          <a:xfrm>
            <a:off x="1701963" y="1237290"/>
            <a:ext cx="9202011" cy="5340489"/>
          </a:xfrm>
        </p:spPr>
        <p:txBody>
          <a:bodyPr>
            <a:noAutofit/>
          </a:bodyPr>
          <a:lstStyle/>
          <a:p>
            <a:r>
              <a:rPr lang="hr-HR" dirty="0">
                <a:latin typeface="Arial" panose="020B0604020202020204" pitchFamily="34" charset="0"/>
                <a:cs typeface="Arial" panose="020B0604020202020204" pitchFamily="34" charset="0"/>
              </a:rPr>
              <a:t>Novine - vjerojatno prvi komunikacijski masovni medij koji je objedinio tekst, grafiku i sliku. </a:t>
            </a:r>
          </a:p>
          <a:p>
            <a:r>
              <a:rPr lang="hr-HR" dirty="0">
                <a:latin typeface="Arial" panose="020B0604020202020204" pitchFamily="34" charset="0"/>
                <a:cs typeface="Arial" panose="020B0604020202020204" pitchFamily="34" charset="0"/>
              </a:rPr>
              <a:t>1895. predstavljen je prvi film braće Lumiere u kojem je reproduciranje pokreta bilo dovoljno, bez karakterizacije likova ili ostvarivanje poruke, što danas povezujemo sa filmom. </a:t>
            </a:r>
          </a:p>
          <a:p>
            <a:r>
              <a:rPr lang="hr-HR" dirty="0">
                <a:latin typeface="Arial" panose="020B0604020202020204" pitchFamily="34" charset="0"/>
                <a:cs typeface="Arial" panose="020B0604020202020204" pitchFamily="34" charset="0"/>
              </a:rPr>
              <a:t>Multimedija je počela kad je prvi glasovir stavljen u kino s nijemim filmom.</a:t>
            </a:r>
          </a:p>
          <a:p>
            <a:r>
              <a:rPr lang="hr-HR" dirty="0">
                <a:latin typeface="Arial" panose="020B0604020202020204" pitchFamily="34" charset="0"/>
                <a:cs typeface="Arial" panose="020B0604020202020204" pitchFamily="34" charset="0"/>
              </a:rPr>
              <a:t>1945. Vannevar Bush je u svom eseju </a:t>
            </a:r>
            <a:r>
              <a:rPr lang="hr-HR" i="1" dirty="0">
                <a:latin typeface="Arial" panose="020B0604020202020204" pitchFamily="34" charset="0"/>
                <a:cs typeface="Arial" panose="020B0604020202020204" pitchFamily="34" charset="0"/>
              </a:rPr>
              <a:t>As We May Think </a:t>
            </a:r>
            <a:r>
              <a:rPr lang="hr-HR" dirty="0">
                <a:latin typeface="Arial" panose="020B0604020202020204" pitchFamily="34" charset="0"/>
                <a:cs typeface="Arial" panose="020B0604020202020204" pitchFamily="34" charset="0"/>
              </a:rPr>
              <a:t>predvidio uporabu interaktivne multimedije prvi uvodeći koncept hiperteksta kojeg nije mogao realizirati zbog nedostupnosti odgovarajuće tehnologije. Bush opisuje stroj Memex (Memory Extender) pomoću kojeg korisnik ima mogućnost spremanja podataka te stvaranja i kasnijeg korištenja hipertekstualnih veza među njima po principu asocijativnog indeksiranja. </a:t>
            </a:r>
          </a:p>
        </p:txBody>
      </p:sp>
    </p:spTree>
    <p:extLst>
      <p:ext uri="{BB962C8B-B14F-4D97-AF65-F5344CB8AC3E}">
        <p14:creationId xmlns:p14="http://schemas.microsoft.com/office/powerpoint/2010/main" val="241591375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2299" y="329382"/>
            <a:ext cx="9143018" cy="1097280"/>
          </a:xfrm>
        </p:spPr>
        <p:txBody>
          <a:bodyPr>
            <a:normAutofit/>
          </a:bodyPr>
          <a:lstStyle/>
          <a:p>
            <a:r>
              <a:rPr lang="hr-HR" sz="3200" dirty="0">
                <a:latin typeface="Arial" charset="0"/>
              </a:rPr>
              <a:t>Povijest multimedije</a:t>
            </a:r>
          </a:p>
        </p:txBody>
      </p:sp>
      <p:sp>
        <p:nvSpPr>
          <p:cNvPr id="3" name="Content Placeholder 2"/>
          <p:cNvSpPr>
            <a:spLocks noGrp="1"/>
          </p:cNvSpPr>
          <p:nvPr>
            <p:ph sz="quarter" idx="1"/>
          </p:nvPr>
        </p:nvSpPr>
        <p:spPr>
          <a:xfrm>
            <a:off x="1682299" y="1129135"/>
            <a:ext cx="8966036" cy="5468309"/>
          </a:xfrm>
        </p:spPr>
        <p:txBody>
          <a:bodyPr>
            <a:noAutofit/>
          </a:bodyPr>
          <a:lstStyle/>
          <a:p>
            <a:endParaRPr lang="hr-HR" sz="1800" dirty="0">
              <a:latin typeface="Calibri" pitchFamily="34" charset="0"/>
              <a:cs typeface="Calibri" pitchFamily="34" charset="0"/>
            </a:endParaRPr>
          </a:p>
          <a:p>
            <a:r>
              <a:rPr lang="hr-HR" dirty="0">
                <a:latin typeface="Arial" panose="020B0604020202020204" pitchFamily="34" charset="0"/>
                <a:cs typeface="Arial" panose="020B0604020202020204" pitchFamily="34" charset="0"/>
              </a:rPr>
              <a:t>Pojam hipertekst uveo je šezdesetih godina Ted Nelson, te predvidio društvo u kojem će hiperetkstualni dokumenti biti uobičajeni kao što su knjige ili časopisi:</a:t>
            </a:r>
          </a:p>
          <a:p>
            <a:pPr marL="0" indent="0">
              <a:buNone/>
            </a:pPr>
            <a:r>
              <a:rPr lang="hr-HR" sz="2400" i="1" dirty="0">
                <a:latin typeface="Arial" panose="020B0604020202020204" pitchFamily="34" charset="0"/>
                <a:cs typeface="Arial" panose="020B0604020202020204" pitchFamily="34" charset="0"/>
              </a:rPr>
              <a:t>„</a:t>
            </a:r>
            <a:r>
              <a:rPr lang="en-US" sz="2400" i="1" dirty="0">
                <a:latin typeface="Arial" panose="020B0604020202020204" pitchFamily="34" charset="0"/>
                <a:cs typeface="Arial" panose="020B0604020202020204" pitchFamily="34" charset="0"/>
              </a:rPr>
              <a:t>... a body of written or pictorial material interconnected in a complex way that it could not be</a:t>
            </a:r>
            <a:r>
              <a:rPr lang="hr-HR" sz="2400" i="1" dirty="0">
                <a:latin typeface="Arial" panose="020B0604020202020204" pitchFamily="34" charset="0"/>
                <a:cs typeface="Arial" panose="020B0604020202020204" pitchFamily="34" charset="0"/>
              </a:rPr>
              <a:t> conveniently represented on paper.”</a:t>
            </a:r>
          </a:p>
          <a:p>
            <a:pPr marL="0" indent="0">
              <a:buNone/>
            </a:pPr>
            <a:endParaRPr lang="hr-HR" sz="1400" dirty="0">
              <a:latin typeface="Arial" panose="020B0604020202020204" pitchFamily="34" charset="0"/>
              <a:cs typeface="Arial" panose="020B0604020202020204" pitchFamily="34" charset="0"/>
            </a:endParaRPr>
          </a:p>
          <a:p>
            <a:pPr marL="0" indent="0">
              <a:buNone/>
            </a:pPr>
            <a:r>
              <a:rPr lang="hr-HR" dirty="0">
                <a:latin typeface="Arial" panose="020B0604020202020204" pitchFamily="34" charset="0"/>
                <a:cs typeface="Arial" panose="020B0604020202020204" pitchFamily="34" charset="0"/>
              </a:rPr>
              <a:t>Ubrzo se, osim s tekstom, povezivanje činilo i s drugim medijima kao što su grafika, zvuk, animacija, video, pa je nastao pojam hipermedija. Međutim, ova je ideja zaživjela tek dvadesetak godina kasnije zahvaljujući razvoju računalne tehnologije.</a:t>
            </a:r>
          </a:p>
        </p:txBody>
      </p:sp>
    </p:spTree>
    <p:extLst>
      <p:ext uri="{BB962C8B-B14F-4D97-AF65-F5344CB8AC3E}">
        <p14:creationId xmlns:p14="http://schemas.microsoft.com/office/powerpoint/2010/main" val="84582080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2299" y="329382"/>
            <a:ext cx="9143018" cy="1097280"/>
          </a:xfrm>
        </p:spPr>
        <p:txBody>
          <a:bodyPr>
            <a:normAutofit/>
          </a:bodyPr>
          <a:lstStyle/>
          <a:p>
            <a:r>
              <a:rPr lang="hr-HR" sz="3200" dirty="0">
                <a:latin typeface="Arial" charset="0"/>
              </a:rPr>
              <a:t>Povijest multimedije</a:t>
            </a:r>
          </a:p>
        </p:txBody>
      </p:sp>
      <p:sp>
        <p:nvSpPr>
          <p:cNvPr id="3" name="Content Placeholder 2"/>
          <p:cNvSpPr>
            <a:spLocks noGrp="1"/>
          </p:cNvSpPr>
          <p:nvPr>
            <p:ph sz="quarter" idx="1"/>
          </p:nvPr>
        </p:nvSpPr>
        <p:spPr>
          <a:xfrm>
            <a:off x="1682299" y="1129136"/>
            <a:ext cx="8966036" cy="4996362"/>
          </a:xfrm>
        </p:spPr>
        <p:txBody>
          <a:bodyPr>
            <a:noAutofit/>
          </a:bodyPr>
          <a:lstStyle/>
          <a:p>
            <a:pPr>
              <a:lnSpc>
                <a:spcPct val="100000"/>
              </a:lnSpc>
            </a:pPr>
            <a:r>
              <a:rPr lang="hr-HR" b="1" dirty="0">
                <a:latin typeface="Arial" panose="020B0604020202020204" pitchFamily="34" charset="0"/>
                <a:cs typeface="Arial" panose="020B0604020202020204" pitchFamily="34" charset="0"/>
              </a:rPr>
              <a:t>Rani razvoj:</a:t>
            </a:r>
          </a:p>
          <a:p>
            <a:pPr>
              <a:lnSpc>
                <a:spcPct val="100000"/>
              </a:lnSpc>
            </a:pPr>
            <a:r>
              <a:rPr lang="hr-HR" dirty="0">
                <a:latin typeface="Arial" panose="020B0604020202020204" pitchFamily="34" charset="0"/>
                <a:cs typeface="Arial" panose="020B0604020202020204" pitchFamily="34" charset="0"/>
              </a:rPr>
              <a:t>Prve multimedijske forme počinju u 20. stoljeću s pojavom radija, televizije i filma.</a:t>
            </a:r>
          </a:p>
          <a:p>
            <a:pPr>
              <a:lnSpc>
                <a:spcPct val="100000"/>
              </a:lnSpc>
            </a:pPr>
            <a:r>
              <a:rPr lang="hr-HR" b="1" dirty="0">
                <a:latin typeface="Arial" panose="020B0604020202020204" pitchFamily="34" charset="0"/>
                <a:cs typeface="Arial" panose="020B0604020202020204" pitchFamily="34" charset="0"/>
              </a:rPr>
              <a:t>1960-ih godina: </a:t>
            </a:r>
            <a:r>
              <a:rPr lang="hr-HR" dirty="0">
                <a:latin typeface="Arial" panose="020B0604020202020204" pitchFamily="34" charset="0"/>
                <a:cs typeface="Arial" panose="020B0604020202020204" pitchFamily="34" charset="0"/>
              </a:rPr>
              <a:t>Koncept multimedije postaje popularan s razvojem računalnih tehnologija.</a:t>
            </a:r>
          </a:p>
          <a:p>
            <a:pPr>
              <a:lnSpc>
                <a:spcPct val="100000"/>
              </a:lnSpc>
            </a:pPr>
            <a:r>
              <a:rPr lang="hr-HR" dirty="0">
                <a:latin typeface="Arial" panose="020B0604020202020204" pitchFamily="34" charset="0"/>
                <a:cs typeface="Arial" panose="020B0604020202020204" pitchFamily="34" charset="0"/>
              </a:rPr>
              <a:t>Multimedija u računalima:</a:t>
            </a:r>
          </a:p>
          <a:p>
            <a:pPr>
              <a:lnSpc>
                <a:spcPct val="100000"/>
              </a:lnSpc>
            </a:pPr>
            <a:r>
              <a:rPr lang="hr-HR" b="1" dirty="0">
                <a:latin typeface="Arial" panose="020B0604020202020204" pitchFamily="34" charset="0"/>
                <a:cs typeface="Arial" panose="020B0604020202020204" pitchFamily="34" charset="0"/>
              </a:rPr>
              <a:t>1980-ih: </a:t>
            </a:r>
            <a:r>
              <a:rPr lang="hr-HR" dirty="0">
                <a:latin typeface="Arial" panose="020B0604020202020204" pitchFamily="34" charset="0"/>
                <a:cs typeface="Arial" panose="020B0604020202020204" pitchFamily="34" charset="0"/>
              </a:rPr>
              <a:t>Računala dobivaju sposobnost integriranja različitih medija (tekst, slike, zvuk) kroz CD-ROM tehnologiju.</a:t>
            </a:r>
          </a:p>
          <a:p>
            <a:pPr>
              <a:lnSpc>
                <a:spcPct val="100000"/>
              </a:lnSpc>
            </a:pPr>
            <a:r>
              <a:rPr lang="hr-HR" b="1" dirty="0">
                <a:latin typeface="Arial" panose="020B0604020202020204" pitchFamily="34" charset="0"/>
                <a:cs typeface="Arial" panose="020B0604020202020204" pitchFamily="34" charset="0"/>
              </a:rPr>
              <a:t>1990-ih: </a:t>
            </a:r>
            <a:r>
              <a:rPr lang="hr-HR" dirty="0">
                <a:latin typeface="Arial" panose="020B0604020202020204" pitchFamily="34" charset="0"/>
                <a:cs typeface="Arial" panose="020B0604020202020204" pitchFamily="34" charset="0"/>
              </a:rPr>
              <a:t>Razvoj interneta omogućuje širenje multimedije u interaktivnim formama na webu.</a:t>
            </a:r>
          </a:p>
          <a:p>
            <a:pPr>
              <a:lnSpc>
                <a:spcPct val="100000"/>
              </a:lnSpc>
            </a:pPr>
            <a:r>
              <a:rPr lang="hr-HR" b="1" dirty="0">
                <a:latin typeface="Arial" panose="020B0604020202020204" pitchFamily="34" charset="0"/>
                <a:cs typeface="Arial" panose="020B0604020202020204" pitchFamily="34" charset="0"/>
              </a:rPr>
              <a:t>Današnja multimedija:</a:t>
            </a:r>
          </a:p>
          <a:p>
            <a:pPr>
              <a:lnSpc>
                <a:spcPct val="100000"/>
              </a:lnSpc>
            </a:pPr>
            <a:r>
              <a:rPr lang="hr-HR" dirty="0">
                <a:latin typeface="Arial" panose="020B0604020202020204" pitchFamily="34" charset="0"/>
                <a:cs typeface="Arial" panose="020B0604020202020204" pitchFamily="34" charset="0"/>
              </a:rPr>
              <a:t>Digitalni alati omogućuju kreiranje složenih multimedijskih sadržaja u realnom vremenu (npr. videoigre, edukacijski alati, virtualna stvarnost).</a:t>
            </a:r>
          </a:p>
        </p:txBody>
      </p:sp>
    </p:spTree>
    <p:extLst>
      <p:ext uri="{BB962C8B-B14F-4D97-AF65-F5344CB8AC3E}">
        <p14:creationId xmlns:p14="http://schemas.microsoft.com/office/powerpoint/2010/main" val="121808104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981200" y="1219199"/>
            <a:ext cx="8229600" cy="3382297"/>
          </a:xfrm>
        </p:spPr>
        <p:txBody>
          <a:bodyPr>
            <a:normAutofit fontScale="77500" lnSpcReduction="20000"/>
          </a:bodyPr>
          <a:lstStyle/>
          <a:p>
            <a:r>
              <a:rPr lang="hr-HR" sz="3400" b="1" dirty="0">
                <a:latin typeface="Arial" panose="020B0604020202020204" pitchFamily="34" charset="0"/>
                <a:cs typeface="Arial" panose="020B0604020202020204" pitchFamily="34" charset="0"/>
              </a:rPr>
              <a:t>S</a:t>
            </a:r>
            <a:r>
              <a:rPr lang="vi-VN" sz="3400" b="1" dirty="0">
                <a:latin typeface="Arial" panose="020B0604020202020204" pitchFamily="34" charset="0"/>
                <a:cs typeface="Arial" panose="020B0604020202020204" pitchFamily="34" charset="0"/>
              </a:rPr>
              <a:t>vrha</a:t>
            </a:r>
            <a:r>
              <a:rPr lang="vi-VN" sz="3400" dirty="0">
                <a:latin typeface="Arial" panose="020B0604020202020204" pitchFamily="34" charset="0"/>
                <a:cs typeface="Arial" panose="020B0604020202020204" pitchFamily="34" charset="0"/>
              </a:rPr>
              <a:t> je multimedije da što zanimljivije, privlačnije i stvarnije predoči i prenese neku informaciju - pojavu, prizor, ugođaj ili događaj.</a:t>
            </a:r>
            <a:endParaRPr lang="hr-HR" sz="3400" dirty="0">
              <a:latin typeface="Arial" panose="020B0604020202020204" pitchFamily="34" charset="0"/>
              <a:cs typeface="Arial" panose="020B0604020202020204" pitchFamily="34" charset="0"/>
            </a:endParaRPr>
          </a:p>
          <a:p>
            <a:pPr marL="0" indent="0">
              <a:buNone/>
            </a:pPr>
            <a:endParaRPr lang="hr-HR" sz="3400" dirty="0">
              <a:latin typeface="Arial" panose="020B0604020202020204" pitchFamily="34" charset="0"/>
              <a:cs typeface="Arial" panose="020B0604020202020204" pitchFamily="34" charset="0"/>
            </a:endParaRPr>
          </a:p>
          <a:p>
            <a:r>
              <a:rPr lang="hr-HR" sz="3400" b="1" dirty="0">
                <a:latin typeface="Arial" panose="020B0604020202020204" pitchFamily="34" charset="0"/>
                <a:cs typeface="Arial" panose="020B0604020202020204" pitchFamily="34" charset="0"/>
              </a:rPr>
              <a:t>C</a:t>
            </a:r>
            <a:r>
              <a:rPr lang="vi-VN" sz="3400" b="1" dirty="0">
                <a:latin typeface="Arial" panose="020B0604020202020204" pitchFamily="34" charset="0"/>
                <a:cs typeface="Arial" panose="020B0604020202020204" pitchFamily="34" charset="0"/>
              </a:rPr>
              <a:t>ilj</a:t>
            </a:r>
            <a:r>
              <a:rPr lang="vi-VN" sz="3400" dirty="0">
                <a:latin typeface="Arial" panose="020B0604020202020204" pitchFamily="34" charset="0"/>
                <a:cs typeface="Arial" panose="020B0604020202020204" pitchFamily="34" charset="0"/>
              </a:rPr>
              <a:t> je multimedije da </a:t>
            </a:r>
            <a:r>
              <a:rPr lang="hr-HR" sz="3400" dirty="0">
                <a:latin typeface="Arial" panose="020B0604020202020204" pitchFamily="34" charset="0"/>
                <a:cs typeface="Arial" panose="020B0604020202020204" pitchFamily="34" charset="0"/>
              </a:rPr>
              <a:t>po mogućnosti </a:t>
            </a:r>
            <a:r>
              <a:rPr lang="vi-VN" sz="3400" dirty="0">
                <a:latin typeface="Arial" panose="020B0604020202020204" pitchFamily="34" charset="0"/>
                <a:cs typeface="Arial" panose="020B0604020202020204" pitchFamily="34" charset="0"/>
              </a:rPr>
              <a:t>zaokupi što više naših osjetila kako bi doživljaj prenesene poruke bio potpuniji.</a:t>
            </a:r>
            <a:endParaRPr lang="hr-HR" sz="3400" dirty="0">
              <a:latin typeface="Arial" panose="020B0604020202020204" pitchFamily="34" charset="0"/>
              <a:cs typeface="Arial" panose="020B0604020202020204" pitchFamily="34" charset="0"/>
            </a:endParaRPr>
          </a:p>
        </p:txBody>
      </p:sp>
      <p:sp>
        <p:nvSpPr>
          <p:cNvPr id="5" name="Rectangle 4"/>
          <p:cNvSpPr/>
          <p:nvPr/>
        </p:nvSpPr>
        <p:spPr>
          <a:xfrm>
            <a:off x="2223765" y="4601496"/>
            <a:ext cx="4572000" cy="1477328"/>
          </a:xfrm>
          <a:prstGeom prst="rect">
            <a:avLst/>
          </a:prstGeom>
        </p:spPr>
        <p:txBody>
          <a:bodyPr>
            <a:spAutoFit/>
          </a:bodyPr>
          <a:lstStyle/>
          <a:p>
            <a:r>
              <a:rPr lang="hr-HR" dirty="0">
                <a:latin typeface="Arial" panose="020B0604020202020204" pitchFamily="34" charset="0"/>
                <a:cs typeface="Arial" panose="020B0604020202020204" pitchFamily="34" charset="0"/>
              </a:rPr>
              <a:t>Npr. studenti pamte: </a:t>
            </a:r>
          </a:p>
          <a:p>
            <a:pPr lvl="1"/>
            <a:r>
              <a:rPr lang="hr-HR" dirty="0">
                <a:latin typeface="Arial" panose="020B0604020202020204" pitchFamily="34" charset="0"/>
                <a:cs typeface="Arial" panose="020B0604020202020204" pitchFamily="34" charset="0"/>
              </a:rPr>
              <a:t>20% ono što vide </a:t>
            </a:r>
          </a:p>
          <a:p>
            <a:pPr lvl="1"/>
            <a:r>
              <a:rPr lang="hr-HR" dirty="0">
                <a:latin typeface="Arial" panose="020B0604020202020204" pitchFamily="34" charset="0"/>
                <a:cs typeface="Arial" panose="020B0604020202020204" pitchFamily="34" charset="0"/>
              </a:rPr>
              <a:t>30% ono što čuju </a:t>
            </a:r>
          </a:p>
          <a:p>
            <a:pPr lvl="1"/>
            <a:r>
              <a:rPr lang="hr-HR" dirty="0">
                <a:latin typeface="Arial" panose="020B0604020202020204" pitchFamily="34" charset="0"/>
                <a:cs typeface="Arial" panose="020B0604020202020204" pitchFamily="34" charset="0"/>
              </a:rPr>
              <a:t>50% ono što vide i čuju </a:t>
            </a:r>
          </a:p>
          <a:p>
            <a:pPr lvl="1"/>
            <a:r>
              <a:rPr lang="hr-HR" dirty="0">
                <a:latin typeface="Arial" panose="020B0604020202020204" pitchFamily="34" charset="0"/>
                <a:cs typeface="Arial" panose="020B0604020202020204" pitchFamily="34" charset="0"/>
              </a:rPr>
              <a:t>80% ono što vide, čuju i probaju</a:t>
            </a:r>
          </a:p>
        </p:txBody>
      </p:sp>
      <p:sp>
        <p:nvSpPr>
          <p:cNvPr id="2" name="Title 1">
            <a:extLst>
              <a:ext uri="{FF2B5EF4-FFF2-40B4-BE49-F238E27FC236}">
                <a16:creationId xmlns:a16="http://schemas.microsoft.com/office/drawing/2014/main" id="{8890090C-D56B-4F05-C0C4-31DBF4554CA5}"/>
              </a:ext>
            </a:extLst>
          </p:cNvPr>
          <p:cNvSpPr>
            <a:spLocks noGrp="1"/>
          </p:cNvSpPr>
          <p:nvPr>
            <p:ph type="title"/>
          </p:nvPr>
        </p:nvSpPr>
        <p:spPr>
          <a:xfrm>
            <a:off x="1721627" y="310520"/>
            <a:ext cx="10890929" cy="1097280"/>
          </a:xfrm>
        </p:spPr>
        <p:txBody>
          <a:bodyPr>
            <a:normAutofit/>
          </a:bodyPr>
          <a:lstStyle/>
          <a:p>
            <a:r>
              <a:rPr lang="hr-HR" sz="3200" dirty="0">
                <a:latin typeface="Arial" charset="0"/>
              </a:rPr>
              <a:t>Svrha i ciljevi multimedije</a:t>
            </a:r>
          </a:p>
        </p:txBody>
      </p:sp>
    </p:spTree>
    <p:extLst>
      <p:ext uri="{BB962C8B-B14F-4D97-AF65-F5344CB8AC3E}">
        <p14:creationId xmlns:p14="http://schemas.microsoft.com/office/powerpoint/2010/main" val="232596478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289" y="221227"/>
            <a:ext cx="8936543" cy="1097280"/>
          </a:xfrm>
        </p:spPr>
        <p:txBody>
          <a:bodyPr>
            <a:normAutofit/>
          </a:bodyPr>
          <a:lstStyle/>
          <a:p>
            <a:r>
              <a:rPr lang="hr-HR" sz="3200" dirty="0">
                <a:latin typeface="Arial" charset="0"/>
              </a:rPr>
              <a:t>Hipermedija</a:t>
            </a:r>
          </a:p>
        </p:txBody>
      </p:sp>
      <p:sp>
        <p:nvSpPr>
          <p:cNvPr id="3" name="Content Placeholder 2"/>
          <p:cNvSpPr>
            <a:spLocks noGrp="1"/>
          </p:cNvSpPr>
          <p:nvPr>
            <p:ph sz="quarter" idx="1"/>
          </p:nvPr>
        </p:nvSpPr>
        <p:spPr>
          <a:xfrm>
            <a:off x="1741289" y="975668"/>
            <a:ext cx="9506810" cy="5749597"/>
          </a:xfrm>
        </p:spPr>
        <p:txBody>
          <a:bodyPr>
            <a:normAutofit fontScale="70000" lnSpcReduction="20000"/>
          </a:bodyPr>
          <a:lstStyle/>
          <a:p>
            <a:r>
              <a:rPr lang="vi-VN" sz="3000" b="1" dirty="0">
                <a:latin typeface="Arial" panose="020B0604020202020204" pitchFamily="34" charset="0"/>
                <a:cs typeface="Arial" panose="020B0604020202020204" pitchFamily="34" charset="0"/>
              </a:rPr>
              <a:t>Hiperteks</a:t>
            </a:r>
            <a:r>
              <a:rPr lang="hr-HR" sz="3000" b="1" dirty="0">
                <a:latin typeface="Arial" panose="020B0604020202020204" pitchFamily="34" charset="0"/>
                <a:cs typeface="Arial" panose="020B0604020202020204" pitchFamily="34" charset="0"/>
              </a:rPr>
              <a:t>t</a:t>
            </a:r>
            <a:r>
              <a:rPr lang="vi-VN" sz="3000" dirty="0">
                <a:latin typeface="Arial" panose="020B0604020202020204" pitchFamily="34" charset="0"/>
                <a:cs typeface="Arial" panose="020B0604020202020204" pitchFamily="34" charset="0"/>
              </a:rPr>
              <a:t> </a:t>
            </a:r>
            <a:r>
              <a:rPr lang="hr-HR" sz="2700" dirty="0">
                <a:latin typeface="Arial" panose="020B0604020202020204" pitchFamily="34" charset="0"/>
                <a:cs typeface="Arial" panose="020B0604020202020204" pitchFamily="34" charset="0"/>
              </a:rPr>
              <a:t>- </a:t>
            </a:r>
            <a:r>
              <a:rPr lang="vi-VN" sz="2800" dirty="0">
                <a:latin typeface="Arial" panose="020B0604020202020204" pitchFamily="34" charset="0"/>
                <a:cs typeface="Arial" panose="020B0604020202020204" pitchFamily="34" charset="0"/>
              </a:rPr>
              <a:t>program koji ostvaruje višestuke puteve kroz tekst, omogućujući</a:t>
            </a:r>
            <a:r>
              <a:rPr lang="hr-HR" sz="2800" dirty="0">
                <a:latin typeface="Arial" panose="020B0604020202020204" pitchFamily="34" charset="0"/>
                <a:cs typeface="Arial" panose="020B0604020202020204" pitchFamily="34" charset="0"/>
              </a:rPr>
              <a:t> </a:t>
            </a:r>
            <a:r>
              <a:rPr lang="vi-VN" sz="2800" dirty="0">
                <a:latin typeface="Arial" panose="020B0604020202020204" pitchFamily="34" charset="0"/>
                <a:cs typeface="Arial" panose="020B0604020202020204" pitchFamily="34" charset="0"/>
              </a:rPr>
              <a:t>korisnicima da slijede postojeće hiperveze (hiperlinkove</a:t>
            </a:r>
            <a:r>
              <a:rPr lang="hr-HR" sz="2800" dirty="0">
                <a:latin typeface="Arial" panose="020B0604020202020204" pitchFamily="34" charset="0"/>
                <a:cs typeface="Arial" panose="020B0604020202020204" pitchFamily="34" charset="0"/>
              </a:rPr>
              <a:t>)</a:t>
            </a:r>
            <a:endParaRPr lang="hr-HR" sz="3000" b="1" dirty="0">
              <a:latin typeface="Arial" panose="020B0604020202020204" pitchFamily="34" charset="0"/>
              <a:cs typeface="Arial" panose="020B0604020202020204" pitchFamily="34" charset="0"/>
            </a:endParaRPr>
          </a:p>
          <a:p>
            <a:r>
              <a:rPr lang="hr-HR" sz="3000" b="1" dirty="0">
                <a:latin typeface="Arial" panose="020B0604020202020204" pitchFamily="34" charset="0"/>
                <a:cs typeface="Arial" panose="020B0604020202020204" pitchFamily="34" charset="0"/>
              </a:rPr>
              <a:t>H</a:t>
            </a:r>
            <a:r>
              <a:rPr lang="vi-VN" sz="3000" b="1" dirty="0">
                <a:latin typeface="Arial" panose="020B0604020202020204" pitchFamily="34" charset="0"/>
                <a:cs typeface="Arial" panose="020B0604020202020204" pitchFamily="34" charset="0"/>
              </a:rPr>
              <a:t>ipermedija</a:t>
            </a:r>
            <a:r>
              <a:rPr lang="hr-HR" sz="3000" b="1" dirty="0">
                <a:latin typeface="Arial" panose="020B0604020202020204" pitchFamily="34" charset="0"/>
                <a:cs typeface="Arial" panose="020B0604020202020204" pitchFamily="34" charset="0"/>
              </a:rPr>
              <a:t> </a:t>
            </a:r>
            <a:r>
              <a:rPr lang="hr-HR" sz="2800" dirty="0">
                <a:latin typeface="Arial" panose="020B0604020202020204" pitchFamily="34" charset="0"/>
                <a:cs typeface="Arial" panose="020B0604020202020204" pitchFamily="34" charset="0"/>
              </a:rPr>
              <a:t>- </a:t>
            </a:r>
            <a:r>
              <a:rPr lang="vi-VN" sz="2800" dirty="0">
                <a:latin typeface="Arial" panose="020B0604020202020204" pitchFamily="34" charset="0"/>
                <a:cs typeface="Arial" panose="020B0604020202020204" pitchFamily="34" charset="0"/>
              </a:rPr>
              <a:t>komunikacijski medij </a:t>
            </a:r>
            <a:r>
              <a:rPr lang="hr-HR" sz="2800" dirty="0">
                <a:latin typeface="Arial" panose="020B0604020202020204" pitchFamily="34" charset="0"/>
                <a:cs typeface="Arial" panose="020B0604020202020204" pitchFamily="34" charset="0"/>
              </a:rPr>
              <a:t>koji naglašava netekstualne komponente dodane hipertekstu (animaciju, zvuk i video)</a:t>
            </a:r>
          </a:p>
          <a:p>
            <a:pPr lvl="1"/>
            <a:r>
              <a:rPr lang="vi-VN" sz="2400" dirty="0">
                <a:latin typeface="Arial" panose="020B0604020202020204" pitchFamily="34" charset="0"/>
                <a:cs typeface="Arial" panose="020B0604020202020204" pitchFamily="34" charset="0"/>
              </a:rPr>
              <a:t>Ted Nelson opi</a:t>
            </a:r>
            <a:r>
              <a:rPr lang="hr-HR" sz="2400" dirty="0">
                <a:latin typeface="Arial" panose="020B0604020202020204" pitchFamily="34" charset="0"/>
                <a:cs typeface="Arial" panose="020B0604020202020204" pitchFamily="34" charset="0"/>
              </a:rPr>
              <a:t>suje </a:t>
            </a:r>
            <a:r>
              <a:rPr lang="vi-VN" sz="2400" dirty="0">
                <a:latin typeface="Arial" panose="020B0604020202020204" pitchFamily="34" charset="0"/>
                <a:cs typeface="Arial" panose="020B0604020202020204" pitchFamily="34" charset="0"/>
              </a:rPr>
              <a:t>sustav hiperteksta koji uključuje višestruke medije -</a:t>
            </a:r>
            <a:r>
              <a:rPr lang="hr-HR"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tekst, sliku, zvuk, animaciju i video. </a:t>
            </a:r>
            <a:endParaRPr lang="hr-HR" sz="2400" dirty="0">
              <a:latin typeface="Arial" panose="020B0604020202020204" pitchFamily="34" charset="0"/>
              <a:cs typeface="Arial" panose="020B0604020202020204" pitchFamily="34" charset="0"/>
            </a:endParaRPr>
          </a:p>
          <a:p>
            <a:pPr lvl="1"/>
            <a:r>
              <a:rPr lang="vi-VN" sz="2400" dirty="0">
                <a:latin typeface="Arial" panose="020B0604020202020204" pitchFamily="34" charset="0"/>
                <a:cs typeface="Arial" panose="020B0604020202020204" pitchFamily="34" charset="0"/>
              </a:rPr>
              <a:t>Karakteristike: interaktivnost,posjedovanje različitih kombinacija višestrukih medija, s određenom kombinacijom koju</a:t>
            </a:r>
            <a:r>
              <a:rPr lang="hr-HR"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odabire korisnik, formalno je </a:t>
            </a:r>
            <a:r>
              <a:rPr lang="vi-VN" sz="2400" b="1" dirty="0">
                <a:latin typeface="Arial" panose="020B0604020202020204" pitchFamily="34" charset="0"/>
                <a:cs typeface="Arial" panose="020B0604020202020204" pitchFamily="34" charset="0"/>
              </a:rPr>
              <a:t>nelinearan</a:t>
            </a:r>
            <a:r>
              <a:rPr lang="vi-VN" sz="2400" dirty="0">
                <a:latin typeface="Arial" panose="020B0604020202020204" pitchFamily="34" charset="0"/>
                <a:cs typeface="Arial" panose="020B0604020202020204" pitchFamily="34" charset="0"/>
              </a:rPr>
              <a:t> (bez početka).</a:t>
            </a:r>
            <a:endParaRPr lang="hr-HR" sz="2400" dirty="0">
              <a:latin typeface="Arial" panose="020B0604020202020204" pitchFamily="34" charset="0"/>
              <a:cs typeface="Arial" panose="020B0604020202020204" pitchFamily="34" charset="0"/>
            </a:endParaRPr>
          </a:p>
          <a:p>
            <a:pPr lvl="1"/>
            <a:r>
              <a:rPr lang="hr-HR" sz="2400" dirty="0">
                <a:latin typeface="Arial" panose="020B0604020202020204" pitchFamily="34" charset="0"/>
                <a:cs typeface="Arial" panose="020B0604020202020204" pitchFamily="34" charset="0"/>
              </a:rPr>
              <a:t>opisuje se i nazivom: </a:t>
            </a:r>
            <a:r>
              <a:rPr lang="hr-HR" sz="2400" b="1" dirty="0">
                <a:latin typeface="Arial" panose="020B0604020202020204" pitchFamily="34" charset="0"/>
                <a:cs typeface="Arial" panose="020B0604020202020204" pitchFamily="34" charset="0"/>
              </a:rPr>
              <a:t>interaktivna multimedija</a:t>
            </a:r>
            <a:endParaRPr lang="vi-VN" sz="2400" b="1" dirty="0">
              <a:latin typeface="Arial" panose="020B0604020202020204" pitchFamily="34" charset="0"/>
              <a:cs typeface="Arial" panose="020B0604020202020204" pitchFamily="34" charset="0"/>
            </a:endParaRPr>
          </a:p>
          <a:p>
            <a:pPr marL="0" indent="0">
              <a:buNone/>
            </a:pPr>
            <a:endParaRPr lang="hr-HR" sz="2800" dirty="0">
              <a:latin typeface="Arial" panose="020B0604020202020204" pitchFamily="34" charset="0"/>
              <a:cs typeface="Arial" panose="020B0604020202020204" pitchFamily="34" charset="0"/>
            </a:endParaRPr>
          </a:p>
          <a:p>
            <a:r>
              <a:rPr lang="hr-HR" sz="2800" dirty="0">
                <a:latin typeface="Arial" panose="020B0604020202020204" pitchFamily="34" charset="0"/>
                <a:cs typeface="Arial" panose="020B0604020202020204" pitchFamily="34" charset="0"/>
              </a:rPr>
              <a:t>hipermedija = hipertekst + multimedija</a:t>
            </a:r>
          </a:p>
          <a:p>
            <a:r>
              <a:rPr lang="hr-HR" sz="2800" b="1" dirty="0" err="1">
                <a:latin typeface="Arial" panose="020B0604020202020204" pitchFamily="34" charset="0"/>
                <a:cs typeface="Arial" panose="020B0604020202020204" pitchFamily="34" charset="0"/>
                <a:hlinkClick r:id="rId3"/>
              </a:rPr>
              <a:t>wikimedia</a:t>
            </a:r>
            <a:endParaRPr lang="hr-HR" sz="2800" dirty="0">
              <a:latin typeface="Arial" panose="020B0604020202020204" pitchFamily="34" charset="0"/>
              <a:cs typeface="Arial" panose="020B0604020202020204" pitchFamily="34" charset="0"/>
            </a:endParaRPr>
          </a:p>
          <a:p>
            <a:r>
              <a:rPr lang="hr-HR" sz="3200" b="1" dirty="0">
                <a:latin typeface="Arial" panose="020B0604020202020204" pitchFamily="34" charset="0"/>
                <a:cs typeface="Arial" panose="020B0604020202020204" pitchFamily="34" charset="0"/>
              </a:rPr>
              <a:t>Interaktivnost</a:t>
            </a:r>
            <a:r>
              <a:rPr lang="hr-HR" sz="3200" dirty="0">
                <a:latin typeface="Arial" panose="020B0604020202020204" pitchFamily="34" charset="0"/>
                <a:cs typeface="Arial" panose="020B0604020202020204" pitchFamily="34" charset="0"/>
              </a:rPr>
              <a:t> - </a:t>
            </a:r>
            <a:r>
              <a:rPr lang="hr-HR" sz="2900" dirty="0">
                <a:latin typeface="Arial" panose="020B0604020202020204" pitchFamily="34" charset="0"/>
                <a:cs typeface="Arial" panose="020B0604020202020204" pitchFamily="34" charset="0"/>
              </a:rPr>
              <a:t>omogućuje korisniku biranje, odlučivanje, ali i povratno utjecanje na program u stvarnom vremenu zahvaljujući postojanju više navigacijskih putanja u hipermedijskom programu</a:t>
            </a:r>
          </a:p>
          <a:p>
            <a:endParaRPr lang="hr-HR" sz="2800" dirty="0">
              <a:latin typeface="Calibri" pitchFamily="34" charset="0"/>
              <a:cs typeface="Calibri" pitchFamily="34" charset="0"/>
            </a:endParaRPr>
          </a:p>
          <a:p>
            <a:endParaRPr lang="hr-HR" sz="2800" dirty="0">
              <a:latin typeface="Calibri" pitchFamily="34" charset="0"/>
              <a:cs typeface="Calibri" pitchFamily="34"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1836" y="3580724"/>
            <a:ext cx="273367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273801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629" y="309717"/>
            <a:ext cx="9162682" cy="1097280"/>
          </a:xfrm>
        </p:spPr>
        <p:txBody>
          <a:bodyPr>
            <a:normAutofit/>
          </a:bodyPr>
          <a:lstStyle/>
          <a:p>
            <a:r>
              <a:rPr lang="hr-HR" sz="3200" dirty="0">
                <a:latin typeface="Arial" charset="0"/>
              </a:rPr>
              <a:t>Hipermedija</a:t>
            </a:r>
          </a:p>
        </p:txBody>
      </p:sp>
      <p:sp>
        <p:nvSpPr>
          <p:cNvPr id="3" name="Content Placeholder 2"/>
          <p:cNvSpPr>
            <a:spLocks noGrp="1"/>
          </p:cNvSpPr>
          <p:nvPr>
            <p:ph sz="quarter" idx="1"/>
          </p:nvPr>
        </p:nvSpPr>
        <p:spPr>
          <a:xfrm>
            <a:off x="1721629" y="1229809"/>
            <a:ext cx="9349494" cy="3566160"/>
          </a:xfrm>
        </p:spPr>
        <p:txBody>
          <a:bodyPr>
            <a:normAutofit/>
          </a:bodyPr>
          <a:lstStyle/>
          <a:p>
            <a:r>
              <a:rPr lang="hr-HR" sz="2800" dirty="0">
                <a:latin typeface="Calibri" pitchFamily="34" charset="0"/>
                <a:cs typeface="Calibri" pitchFamily="34" charset="0"/>
              </a:rPr>
              <a:t>Tipični predstavnici hipermedijalnih servisa su elektronske biblioteke, enciklopedije, rječnici, multimedijalni magazini, dokumenti, alati za učenje i Web.</a:t>
            </a:r>
            <a:endParaRPr lang="vi-VN" sz="2800" dirty="0">
              <a:latin typeface="Calibri" pitchFamily="34" charset="0"/>
              <a:cs typeface="Calibri" pitchFamily="34" charset="0"/>
            </a:endParaRPr>
          </a:p>
          <a:p>
            <a:endParaRPr lang="hr-HR" sz="3000" b="1" dirty="0">
              <a:latin typeface="Calibri" pitchFamily="34" charset="0"/>
              <a:cs typeface="Calibri" pitchFamily="34" charset="0"/>
            </a:endParaRPr>
          </a:p>
          <a:p>
            <a:endParaRPr lang="hr-HR" sz="2800" dirty="0">
              <a:latin typeface="Calibri" pitchFamily="34" charset="0"/>
              <a:cs typeface="Calibri" pitchFamily="34" charset="0"/>
            </a:endParaRPr>
          </a:p>
          <a:p>
            <a:endParaRPr lang="hr-HR" sz="2800" dirty="0">
              <a:latin typeface="Calibri" pitchFamily="34" charset="0"/>
              <a:cs typeface="Calibri" pitchFamily="34"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1784" y="3012889"/>
            <a:ext cx="3672830" cy="2825710"/>
          </a:xfrm>
          <a:prstGeom prst="rect">
            <a:avLst/>
          </a:prstGeom>
        </p:spPr>
      </p:pic>
    </p:spTree>
    <p:extLst>
      <p:ext uri="{BB962C8B-B14F-4D97-AF65-F5344CB8AC3E}">
        <p14:creationId xmlns:p14="http://schemas.microsoft.com/office/powerpoint/2010/main" val="15335688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dirty="0">
                <a:latin typeface="Arial" charset="0"/>
              </a:rPr>
              <a:t>Multimedijski</a:t>
            </a:r>
            <a:r>
              <a:rPr lang="hr-HR" sz="3200" dirty="0"/>
              <a:t> </a:t>
            </a:r>
            <a:r>
              <a:rPr lang="hr-HR" sz="3200" dirty="0">
                <a:latin typeface="Arial" charset="0"/>
              </a:rPr>
              <a:t>računalni sustavi</a:t>
            </a:r>
          </a:p>
        </p:txBody>
      </p:sp>
      <p:sp>
        <p:nvSpPr>
          <p:cNvPr id="3" name="Content Placeholder 2"/>
          <p:cNvSpPr>
            <a:spLocks noGrp="1"/>
          </p:cNvSpPr>
          <p:nvPr>
            <p:ph sz="quarter" idx="1"/>
          </p:nvPr>
        </p:nvSpPr>
        <p:spPr>
          <a:xfrm>
            <a:off x="1692130" y="1406997"/>
            <a:ext cx="9064359" cy="5141286"/>
          </a:xfrm>
        </p:spPr>
        <p:txBody>
          <a:bodyPr>
            <a:normAutofit fontScale="70000" lnSpcReduction="20000"/>
          </a:bodyPr>
          <a:lstStyle/>
          <a:p>
            <a:r>
              <a:rPr lang="hr-HR" sz="2800" dirty="0">
                <a:latin typeface="Arial" panose="020B0604020202020204" pitchFamily="34" charset="0"/>
                <a:cs typeface="Arial" panose="020B0604020202020204" pitchFamily="34" charset="0"/>
              </a:rPr>
              <a:t>računalno kontrolirani, integrirani sustav, koji može biti interaktivan </a:t>
            </a:r>
          </a:p>
          <a:p>
            <a:endParaRPr lang="hr-HR" sz="2800" dirty="0">
              <a:latin typeface="Arial" panose="020B0604020202020204" pitchFamily="34" charset="0"/>
              <a:cs typeface="Arial" panose="020B0604020202020204" pitchFamily="34" charset="0"/>
            </a:endParaRPr>
          </a:p>
          <a:p>
            <a:r>
              <a:rPr lang="hr-HR" sz="2800" dirty="0">
                <a:latin typeface="Arial" panose="020B0604020202020204" pitchFamily="34" charset="0"/>
                <a:cs typeface="Arial" panose="020B0604020202020204" pitchFamily="34" charset="0"/>
              </a:rPr>
              <a:t>podaci su digitalizirani</a:t>
            </a:r>
          </a:p>
          <a:p>
            <a:endParaRPr lang="hr-HR" sz="2800" dirty="0">
              <a:latin typeface="Arial" panose="020B0604020202020204" pitchFamily="34" charset="0"/>
              <a:cs typeface="Arial" panose="020B0604020202020204" pitchFamily="34" charset="0"/>
            </a:endParaRPr>
          </a:p>
          <a:p>
            <a:r>
              <a:rPr lang="hr-HR" sz="2800" dirty="0">
                <a:latin typeface="Arial" panose="020B0604020202020204" pitchFamily="34" charset="0"/>
                <a:cs typeface="Arial" panose="020B0604020202020204" pitchFamily="34" charset="0"/>
              </a:rPr>
              <a:t>računalni sustavi za razvoj (autori) i za pregledavanje (korisnici) multimedijskih sadržaja</a:t>
            </a:r>
          </a:p>
          <a:p>
            <a:endParaRPr lang="hr-HR" sz="2800" dirty="0">
              <a:latin typeface="Arial" panose="020B0604020202020204" pitchFamily="34" charset="0"/>
              <a:cs typeface="Arial" panose="020B0604020202020204" pitchFamily="34" charset="0"/>
            </a:endParaRPr>
          </a:p>
          <a:p>
            <a:r>
              <a:rPr lang="hr-HR" sz="2800" dirty="0">
                <a:latin typeface="Arial" panose="020B0604020202020204" pitchFamily="34" charset="0"/>
                <a:cs typeface="Arial" panose="020B0604020202020204" pitchFamily="34" charset="0"/>
              </a:rPr>
              <a:t>prevladavaju Windows i Mac platforme - odabir ovisi o osobnoj sklonosti, financijskim mogućnostima, vrsti sadržaja koji će se koristiti u aplikaciji, ...</a:t>
            </a:r>
          </a:p>
          <a:p>
            <a:endParaRPr lang="hr-HR" sz="2800" dirty="0">
              <a:latin typeface="Arial" panose="020B0604020202020204" pitchFamily="34" charset="0"/>
              <a:cs typeface="Arial" panose="020B0604020202020204" pitchFamily="34" charset="0"/>
            </a:endParaRPr>
          </a:p>
          <a:p>
            <a:r>
              <a:rPr lang="hr-HR" sz="2800" dirty="0">
                <a:latin typeface="Arial" panose="020B0604020202020204" pitchFamily="34" charset="0"/>
                <a:cs typeface="Arial" panose="020B0604020202020204" pitchFamily="34" charset="0"/>
              </a:rPr>
              <a:t>općenito pravilo: vrlo brza računala s velikom radnom memorijom i tvrdim diskom</a:t>
            </a:r>
          </a:p>
          <a:p>
            <a:endParaRPr lang="hr-HR" dirty="0"/>
          </a:p>
        </p:txBody>
      </p:sp>
    </p:spTree>
    <p:extLst>
      <p:ext uri="{BB962C8B-B14F-4D97-AF65-F5344CB8AC3E}">
        <p14:creationId xmlns:p14="http://schemas.microsoft.com/office/powerpoint/2010/main" val="272333038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Rezervirano mjesto sadržaja 7" descr="Slika na kojoj se prikazuje elektronika, Audiooprema, elektronički uređaj, u dvorani&#10;&#10;Opis je automatski generiran">
            <a:extLst>
              <a:ext uri="{FF2B5EF4-FFF2-40B4-BE49-F238E27FC236}">
                <a16:creationId xmlns:a16="http://schemas.microsoft.com/office/drawing/2014/main" id="{E4A819B5-3225-3A70-DF28-C5C78CB302F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 b="1056"/>
          <a:stretch/>
        </p:blipFill>
        <p:spPr>
          <a:xfrm>
            <a:off x="20" y="10"/>
            <a:ext cx="6931132" cy="6857990"/>
          </a:xfrm>
          <a:prstGeom prst="rect">
            <a:avLst/>
          </a:prstGeom>
        </p:spPr>
      </p:pic>
      <p:sp>
        <p:nvSpPr>
          <p:cNvPr id="2" name="Title 1"/>
          <p:cNvSpPr>
            <a:spLocks noGrp="1"/>
          </p:cNvSpPr>
          <p:nvPr>
            <p:ph type="title"/>
          </p:nvPr>
        </p:nvSpPr>
        <p:spPr>
          <a:xfrm>
            <a:off x="7537528" y="1032764"/>
            <a:ext cx="4308672" cy="3224045"/>
          </a:xfrm>
        </p:spPr>
        <p:txBody>
          <a:bodyPr vert="horz" lIns="91440" tIns="45720" rIns="91440" bIns="45720" rtlCol="0" anchor="b">
            <a:normAutofit/>
          </a:bodyPr>
          <a:lstStyle/>
          <a:p>
            <a:r>
              <a:rPr lang="en-US" sz="5400" b="1" kern="1200" dirty="0" err="1">
                <a:solidFill>
                  <a:schemeClr val="tx1"/>
                </a:solidFill>
                <a:latin typeface="+mj-lt"/>
                <a:ea typeface="+mj-ea"/>
                <a:cs typeface="+mj-cs"/>
              </a:rPr>
              <a:t>Multimedijski</a:t>
            </a:r>
            <a:r>
              <a:rPr lang="en-US" sz="5400" b="1" kern="1200" dirty="0">
                <a:solidFill>
                  <a:schemeClr val="tx1"/>
                </a:solidFill>
                <a:latin typeface="+mj-lt"/>
                <a:ea typeface="+mj-ea"/>
                <a:cs typeface="+mj-cs"/>
              </a:rPr>
              <a:t> </a:t>
            </a:r>
            <a:r>
              <a:rPr lang="en-US" sz="5400" b="1" kern="1200" dirty="0" err="1">
                <a:solidFill>
                  <a:schemeClr val="tx1"/>
                </a:solidFill>
                <a:latin typeface="+mj-lt"/>
                <a:ea typeface="+mj-ea"/>
                <a:cs typeface="+mj-cs"/>
              </a:rPr>
              <a:t>računalni</a:t>
            </a:r>
            <a:r>
              <a:rPr lang="en-US" sz="5400" b="1" kern="1200" dirty="0">
                <a:solidFill>
                  <a:schemeClr val="tx1"/>
                </a:solidFill>
                <a:latin typeface="+mj-lt"/>
                <a:ea typeface="+mj-ea"/>
                <a:cs typeface="+mj-cs"/>
              </a:rPr>
              <a:t> </a:t>
            </a:r>
            <a:r>
              <a:rPr lang="en-US" sz="5400" b="1" kern="1200" dirty="0" err="1">
                <a:solidFill>
                  <a:schemeClr val="tx1"/>
                </a:solidFill>
                <a:latin typeface="+mj-lt"/>
                <a:ea typeface="+mj-ea"/>
                <a:cs typeface="+mj-cs"/>
              </a:rPr>
              <a:t>sustavi</a:t>
            </a:r>
            <a:endParaRPr lang="en-US" sz="5400" b="1" kern="1200" dirty="0">
              <a:solidFill>
                <a:schemeClr val="tx1"/>
              </a:solidFill>
              <a:latin typeface="+mj-lt"/>
              <a:ea typeface="+mj-ea"/>
              <a:cs typeface="+mj-cs"/>
            </a:endParaRPr>
          </a:p>
        </p:txBody>
      </p:sp>
      <p:cxnSp>
        <p:nvCxnSpPr>
          <p:cNvPr id="17" name="Straight Connector 16">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430760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dirty="0">
                <a:latin typeface="Arial" charset="0"/>
              </a:rPr>
              <a:t>Multimedijski</a:t>
            </a:r>
            <a:r>
              <a:rPr lang="hr-HR" sz="3200" dirty="0"/>
              <a:t> </a:t>
            </a:r>
            <a:r>
              <a:rPr lang="hr-HR" sz="3200" dirty="0">
                <a:latin typeface="Arial" charset="0"/>
              </a:rPr>
              <a:t>računalni sustavi</a:t>
            </a:r>
          </a:p>
        </p:txBody>
      </p:sp>
      <p:sp>
        <p:nvSpPr>
          <p:cNvPr id="3" name="Content Placeholder 2"/>
          <p:cNvSpPr>
            <a:spLocks noGrp="1"/>
          </p:cNvSpPr>
          <p:nvPr>
            <p:ph sz="quarter" idx="1"/>
          </p:nvPr>
        </p:nvSpPr>
        <p:spPr>
          <a:xfrm>
            <a:off x="1741292" y="1072700"/>
            <a:ext cx="9064359" cy="5623068"/>
          </a:xfrm>
        </p:spPr>
        <p:txBody>
          <a:bodyPr>
            <a:normAutofit fontScale="62500" lnSpcReduction="20000"/>
          </a:bodyPr>
          <a:lstStyle/>
          <a:p>
            <a:r>
              <a:rPr lang="hr-HR" sz="3200" dirty="0">
                <a:latin typeface="Arial" panose="020B0604020202020204" pitchFamily="34" charset="0"/>
                <a:cs typeface="Arial" panose="020B0604020202020204" pitchFamily="34" charset="0"/>
              </a:rPr>
              <a:t>Multimedijska računala trebaju biti dovoljno snažna za obradu i reprodukciju različitih vrsta medija (video, audio, grafika, animacija), što znači da njihove specifikacije moraju biti visoke. Evo preporučenih karakteristika za multimedijsko računalo:</a:t>
            </a:r>
          </a:p>
          <a:p>
            <a:r>
              <a:rPr lang="hr-HR" sz="3200" b="1" dirty="0">
                <a:latin typeface="Arial" panose="020B0604020202020204" pitchFamily="34" charset="0"/>
                <a:cs typeface="Arial" panose="020B0604020202020204" pitchFamily="34" charset="0"/>
              </a:rPr>
              <a:t>1. Procesor (CPU)</a:t>
            </a:r>
          </a:p>
          <a:p>
            <a:r>
              <a:rPr lang="hr-HR" sz="3200" b="1" dirty="0">
                <a:latin typeface="Arial" panose="020B0604020202020204" pitchFamily="34" charset="0"/>
                <a:cs typeface="Arial" panose="020B0604020202020204" pitchFamily="34" charset="0"/>
              </a:rPr>
              <a:t>Preporučeni procesori</a:t>
            </a:r>
            <a:r>
              <a:rPr lang="hr-HR" sz="3200" dirty="0">
                <a:latin typeface="Arial" panose="020B0604020202020204" pitchFamily="34" charset="0"/>
                <a:cs typeface="Arial" panose="020B0604020202020204" pitchFamily="34" charset="0"/>
              </a:rPr>
              <a:t>: Intel Core i7/i9 ili AMD </a:t>
            </a:r>
            <a:r>
              <a:rPr lang="hr-HR" sz="3200" dirty="0" err="1">
                <a:latin typeface="Arial" panose="020B0604020202020204" pitchFamily="34" charset="0"/>
                <a:cs typeface="Arial" panose="020B0604020202020204" pitchFamily="34" charset="0"/>
              </a:rPr>
              <a:t>Ryzen</a:t>
            </a:r>
            <a:r>
              <a:rPr lang="hr-HR" sz="3200" dirty="0">
                <a:latin typeface="Arial" panose="020B0604020202020204" pitchFamily="34" charset="0"/>
                <a:cs typeface="Arial" panose="020B0604020202020204" pitchFamily="34" charset="0"/>
              </a:rPr>
              <a:t> 7/9.</a:t>
            </a:r>
          </a:p>
          <a:p>
            <a:r>
              <a:rPr lang="hr-HR" sz="3200" b="1" dirty="0">
                <a:latin typeface="Arial" panose="020B0604020202020204" pitchFamily="34" charset="0"/>
                <a:cs typeface="Arial" panose="020B0604020202020204" pitchFamily="34" charset="0"/>
              </a:rPr>
              <a:t>Razlog</a:t>
            </a:r>
            <a:r>
              <a:rPr lang="hr-HR" sz="3200" dirty="0">
                <a:latin typeface="Arial" panose="020B0604020202020204" pitchFamily="34" charset="0"/>
                <a:cs typeface="Arial" panose="020B0604020202020204" pitchFamily="34" charset="0"/>
              </a:rPr>
              <a:t>: Multimedijski zadaci poput video montaže, 3D animacije i renderiranja zahtijevaju </a:t>
            </a:r>
            <a:r>
              <a:rPr lang="hr-HR" sz="3200" dirty="0" err="1">
                <a:latin typeface="Arial" panose="020B0604020202020204" pitchFamily="34" charset="0"/>
                <a:cs typeface="Arial" panose="020B0604020202020204" pitchFamily="34" charset="0"/>
              </a:rPr>
              <a:t>višejezgrene</a:t>
            </a:r>
            <a:r>
              <a:rPr lang="hr-HR" sz="3200" dirty="0">
                <a:latin typeface="Arial" panose="020B0604020202020204" pitchFamily="34" charset="0"/>
                <a:cs typeface="Arial" panose="020B0604020202020204" pitchFamily="34" charset="0"/>
              </a:rPr>
              <a:t> procesore s velikom brzinom takta za obradu velikih količina podataka.</a:t>
            </a:r>
          </a:p>
          <a:p>
            <a:r>
              <a:rPr lang="hr-HR" sz="3200" b="1" dirty="0">
                <a:latin typeface="Arial" panose="020B0604020202020204" pitchFamily="34" charset="0"/>
                <a:cs typeface="Arial" panose="020B0604020202020204" pitchFamily="34" charset="0"/>
              </a:rPr>
              <a:t>2. Grafička kartica (GPU)</a:t>
            </a:r>
          </a:p>
          <a:p>
            <a:r>
              <a:rPr lang="hr-HR" sz="3200" b="1" dirty="0">
                <a:latin typeface="Arial" panose="020B0604020202020204" pitchFamily="34" charset="0"/>
                <a:cs typeface="Arial" panose="020B0604020202020204" pitchFamily="34" charset="0"/>
              </a:rPr>
              <a:t>Preporučeni modeli</a:t>
            </a:r>
            <a:r>
              <a:rPr lang="hr-HR" sz="3200" dirty="0">
                <a:latin typeface="Arial" panose="020B0604020202020204" pitchFamily="34" charset="0"/>
                <a:cs typeface="Arial" panose="020B0604020202020204" pitchFamily="34" charset="0"/>
              </a:rPr>
              <a:t>: NVIDIA GeForce RTX serija (npr. RTX 3060, RTX 3080) ili AMD Radeon RX serija.</a:t>
            </a:r>
          </a:p>
          <a:p>
            <a:r>
              <a:rPr lang="hr-HR" sz="3200" b="1" dirty="0">
                <a:latin typeface="Arial" panose="020B0604020202020204" pitchFamily="34" charset="0"/>
                <a:cs typeface="Arial" panose="020B0604020202020204" pitchFamily="34" charset="0"/>
              </a:rPr>
              <a:t>Razlog</a:t>
            </a:r>
            <a:r>
              <a:rPr lang="hr-HR" sz="3200" dirty="0">
                <a:latin typeface="Arial" panose="020B0604020202020204" pitchFamily="34" charset="0"/>
                <a:cs typeface="Arial" panose="020B0604020202020204" pitchFamily="34" charset="0"/>
              </a:rPr>
              <a:t>: Za zahtjevne grafičke zadatke poput 3D modeliranja, video obrade u 4K rezoluciji ili virtualne stvarnosti, potrebna je snažna grafička kartica s visokim performansama.</a:t>
            </a:r>
          </a:p>
          <a:p>
            <a:endParaRPr lang="hr-HR" dirty="0"/>
          </a:p>
        </p:txBody>
      </p:sp>
    </p:spTree>
    <p:extLst>
      <p:ext uri="{BB962C8B-B14F-4D97-AF65-F5344CB8AC3E}">
        <p14:creationId xmlns:p14="http://schemas.microsoft.com/office/powerpoint/2010/main" val="141792493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dirty="0">
                <a:latin typeface="Arial" charset="0"/>
              </a:rPr>
              <a:t>Multimedijski</a:t>
            </a:r>
            <a:r>
              <a:rPr lang="hr-HR" sz="3200" dirty="0"/>
              <a:t> </a:t>
            </a:r>
            <a:r>
              <a:rPr lang="hr-HR" sz="3200" dirty="0">
                <a:latin typeface="Arial" charset="0"/>
              </a:rPr>
              <a:t>računalni sustavi</a:t>
            </a:r>
          </a:p>
        </p:txBody>
      </p:sp>
      <p:sp>
        <p:nvSpPr>
          <p:cNvPr id="3" name="Content Placeholder 2"/>
          <p:cNvSpPr>
            <a:spLocks noGrp="1"/>
          </p:cNvSpPr>
          <p:nvPr>
            <p:ph sz="quarter" idx="1"/>
          </p:nvPr>
        </p:nvSpPr>
        <p:spPr>
          <a:xfrm>
            <a:off x="1741292" y="1072700"/>
            <a:ext cx="9064359" cy="5623068"/>
          </a:xfrm>
        </p:spPr>
        <p:txBody>
          <a:bodyPr>
            <a:normAutofit fontScale="77500" lnSpcReduction="20000"/>
          </a:bodyPr>
          <a:lstStyle/>
          <a:p>
            <a:r>
              <a:rPr lang="hr-HR" sz="3200" b="1" dirty="0">
                <a:latin typeface="Arial" panose="020B0604020202020204" pitchFamily="34" charset="0"/>
                <a:cs typeface="Arial" panose="020B0604020202020204" pitchFamily="34" charset="0"/>
              </a:rPr>
              <a:t>3. Radna memorija (RAM)</a:t>
            </a:r>
          </a:p>
          <a:p>
            <a:r>
              <a:rPr lang="hr-HR" sz="3200" b="1" dirty="0">
                <a:latin typeface="Arial" panose="020B0604020202020204" pitchFamily="34" charset="0"/>
                <a:cs typeface="Arial" panose="020B0604020202020204" pitchFamily="34" charset="0"/>
              </a:rPr>
              <a:t>Minimalno</a:t>
            </a:r>
            <a:r>
              <a:rPr lang="hr-HR" sz="3200" dirty="0">
                <a:latin typeface="Arial" panose="020B0604020202020204" pitchFamily="34" charset="0"/>
                <a:cs typeface="Arial" panose="020B0604020202020204" pitchFamily="34" charset="0"/>
              </a:rPr>
              <a:t>: 16 GB RAM-a.</a:t>
            </a:r>
          </a:p>
          <a:p>
            <a:r>
              <a:rPr lang="hr-HR" sz="3200" b="1" dirty="0">
                <a:latin typeface="Arial" panose="020B0604020202020204" pitchFamily="34" charset="0"/>
                <a:cs typeface="Arial" panose="020B0604020202020204" pitchFamily="34" charset="0"/>
              </a:rPr>
              <a:t>Preporučeno</a:t>
            </a:r>
            <a:r>
              <a:rPr lang="hr-HR" sz="3200" dirty="0">
                <a:latin typeface="Arial" panose="020B0604020202020204" pitchFamily="34" charset="0"/>
                <a:cs typeface="Arial" panose="020B0604020202020204" pitchFamily="34" charset="0"/>
              </a:rPr>
              <a:t>: 32 GB RAM-a ili više.</a:t>
            </a:r>
          </a:p>
          <a:p>
            <a:r>
              <a:rPr lang="hr-HR" sz="3200" b="1" dirty="0">
                <a:latin typeface="Arial" panose="020B0604020202020204" pitchFamily="34" charset="0"/>
                <a:cs typeface="Arial" panose="020B0604020202020204" pitchFamily="34" charset="0"/>
              </a:rPr>
              <a:t>Razlog</a:t>
            </a:r>
            <a:r>
              <a:rPr lang="hr-HR" sz="3200" dirty="0">
                <a:latin typeface="Arial" panose="020B0604020202020204" pitchFamily="34" charset="0"/>
                <a:cs typeface="Arial" panose="020B0604020202020204" pitchFamily="34" charset="0"/>
              </a:rPr>
              <a:t>: Multimedijske aplikacije (poput Adobe </a:t>
            </a:r>
            <a:r>
              <a:rPr lang="hr-HR" sz="3200" dirty="0" err="1">
                <a:latin typeface="Arial" panose="020B0604020202020204" pitchFamily="34" charset="0"/>
                <a:cs typeface="Arial" panose="020B0604020202020204" pitchFamily="34" charset="0"/>
              </a:rPr>
              <a:t>Premiere</a:t>
            </a:r>
            <a:r>
              <a:rPr lang="hr-HR" sz="3200" dirty="0">
                <a:latin typeface="Arial" panose="020B0604020202020204" pitchFamily="34" charset="0"/>
                <a:cs typeface="Arial" panose="020B0604020202020204" pitchFamily="34" charset="0"/>
              </a:rPr>
              <a:t>, </a:t>
            </a:r>
            <a:r>
              <a:rPr lang="hr-HR" sz="3200" dirty="0" err="1">
                <a:latin typeface="Arial" panose="020B0604020202020204" pitchFamily="34" charset="0"/>
                <a:cs typeface="Arial" panose="020B0604020202020204" pitchFamily="34" charset="0"/>
              </a:rPr>
              <a:t>After</a:t>
            </a:r>
            <a:r>
              <a:rPr lang="hr-HR" sz="3200" dirty="0">
                <a:latin typeface="Arial" panose="020B0604020202020204" pitchFamily="34" charset="0"/>
                <a:cs typeface="Arial" panose="020B0604020202020204" pitchFamily="34" charset="0"/>
              </a:rPr>
              <a:t> </a:t>
            </a:r>
            <a:r>
              <a:rPr lang="hr-HR" sz="3200" dirty="0" err="1">
                <a:latin typeface="Arial" panose="020B0604020202020204" pitchFamily="34" charset="0"/>
                <a:cs typeface="Arial" panose="020B0604020202020204" pitchFamily="34" charset="0"/>
              </a:rPr>
              <a:t>Effects</a:t>
            </a:r>
            <a:r>
              <a:rPr lang="hr-HR" sz="3200" dirty="0">
                <a:latin typeface="Arial" panose="020B0604020202020204" pitchFamily="34" charset="0"/>
                <a:cs typeface="Arial" panose="020B0604020202020204" pitchFamily="34" charset="0"/>
              </a:rPr>
              <a:t>) koriste mnogo memorije za glatko funkcioniranje, posebno kod rada s većim datotekama.</a:t>
            </a:r>
          </a:p>
          <a:p>
            <a:r>
              <a:rPr lang="hr-HR" sz="3200" b="1" dirty="0">
                <a:latin typeface="Arial" panose="020B0604020202020204" pitchFamily="34" charset="0"/>
                <a:cs typeface="Arial" panose="020B0604020202020204" pitchFamily="34" charset="0"/>
              </a:rPr>
              <a:t>4. Pohrana (SSD)</a:t>
            </a:r>
          </a:p>
          <a:p>
            <a:r>
              <a:rPr lang="hr-HR" sz="3200" b="1" dirty="0">
                <a:latin typeface="Arial" panose="020B0604020202020204" pitchFamily="34" charset="0"/>
                <a:cs typeface="Arial" panose="020B0604020202020204" pitchFamily="34" charset="0"/>
              </a:rPr>
              <a:t>Preporučena pohrana</a:t>
            </a:r>
            <a:r>
              <a:rPr lang="hr-HR" sz="3200" dirty="0">
                <a:latin typeface="Arial" panose="020B0604020202020204" pitchFamily="34" charset="0"/>
                <a:cs typeface="Arial" panose="020B0604020202020204" pitchFamily="34" charset="0"/>
              </a:rPr>
              <a:t>: 1 TB SSD (</a:t>
            </a:r>
            <a:r>
              <a:rPr lang="hr-HR" sz="3200" dirty="0" err="1">
                <a:latin typeface="Arial" panose="020B0604020202020204" pitchFamily="34" charset="0"/>
                <a:cs typeface="Arial" panose="020B0604020202020204" pitchFamily="34" charset="0"/>
              </a:rPr>
              <a:t>Solid</a:t>
            </a:r>
            <a:r>
              <a:rPr lang="hr-HR" sz="3200" dirty="0">
                <a:latin typeface="Arial" panose="020B0604020202020204" pitchFamily="34" charset="0"/>
                <a:cs typeface="Arial" panose="020B0604020202020204" pitchFamily="34" charset="0"/>
              </a:rPr>
              <a:t> State </a:t>
            </a:r>
            <a:r>
              <a:rPr lang="hr-HR" sz="3200" dirty="0" err="1">
                <a:latin typeface="Arial" panose="020B0604020202020204" pitchFamily="34" charset="0"/>
                <a:cs typeface="Arial" panose="020B0604020202020204" pitchFamily="34" charset="0"/>
              </a:rPr>
              <a:t>Drive</a:t>
            </a:r>
            <a:r>
              <a:rPr lang="hr-HR" sz="3200" dirty="0">
                <a:latin typeface="Arial" panose="020B0604020202020204" pitchFamily="34" charset="0"/>
                <a:cs typeface="Arial" panose="020B0604020202020204" pitchFamily="34" charset="0"/>
              </a:rPr>
              <a:t>) ili više.</a:t>
            </a:r>
          </a:p>
          <a:p>
            <a:r>
              <a:rPr lang="hr-HR" sz="3200" b="1" dirty="0">
                <a:latin typeface="Arial" panose="020B0604020202020204" pitchFamily="34" charset="0"/>
                <a:cs typeface="Arial" panose="020B0604020202020204" pitchFamily="34" charset="0"/>
              </a:rPr>
              <a:t>Razlog</a:t>
            </a:r>
            <a:r>
              <a:rPr lang="hr-HR" sz="3200" dirty="0">
                <a:latin typeface="Arial" panose="020B0604020202020204" pitchFamily="34" charset="0"/>
                <a:cs typeface="Arial" panose="020B0604020202020204" pitchFamily="34" charset="0"/>
              </a:rPr>
              <a:t>: SSD-ovi su mnogo brži od tradicionalnih tvrdih diskova, što omogućuje brže učitavanje velikih multimedijskih datoteka i programa. Također je preporučljivo imati dodatni HDD (2 TB ili više) za pohranu podataka.</a:t>
            </a:r>
          </a:p>
          <a:p>
            <a:endParaRPr lang="hr-HR" dirty="0"/>
          </a:p>
        </p:txBody>
      </p:sp>
    </p:spTree>
    <p:extLst>
      <p:ext uri="{BB962C8B-B14F-4D97-AF65-F5344CB8AC3E}">
        <p14:creationId xmlns:p14="http://schemas.microsoft.com/office/powerpoint/2010/main" val="342572404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dirty="0">
                <a:latin typeface="Arial" charset="0"/>
              </a:rPr>
              <a:t>Multimedijski</a:t>
            </a:r>
            <a:r>
              <a:rPr lang="hr-HR" sz="3200" dirty="0"/>
              <a:t> </a:t>
            </a:r>
            <a:r>
              <a:rPr lang="hr-HR" sz="3200" dirty="0">
                <a:latin typeface="Arial" charset="0"/>
              </a:rPr>
              <a:t>računalni sustavi</a:t>
            </a:r>
          </a:p>
        </p:txBody>
      </p:sp>
      <p:sp>
        <p:nvSpPr>
          <p:cNvPr id="3" name="Content Placeholder 2"/>
          <p:cNvSpPr>
            <a:spLocks noGrp="1"/>
          </p:cNvSpPr>
          <p:nvPr>
            <p:ph sz="quarter" idx="1"/>
          </p:nvPr>
        </p:nvSpPr>
        <p:spPr>
          <a:xfrm>
            <a:off x="1741292" y="1072700"/>
            <a:ext cx="9064359" cy="5623068"/>
          </a:xfrm>
        </p:spPr>
        <p:txBody>
          <a:bodyPr>
            <a:normAutofit fontScale="77500" lnSpcReduction="20000"/>
          </a:bodyPr>
          <a:lstStyle/>
          <a:p>
            <a:r>
              <a:rPr lang="hr-HR" sz="3200" b="1" dirty="0">
                <a:latin typeface="Arial" panose="020B0604020202020204" pitchFamily="34" charset="0"/>
                <a:cs typeface="Arial" panose="020B0604020202020204" pitchFamily="34" charset="0"/>
              </a:rPr>
              <a:t>5. Monitor</a:t>
            </a:r>
          </a:p>
          <a:p>
            <a:r>
              <a:rPr lang="hr-HR" sz="3200" b="1" dirty="0">
                <a:latin typeface="Arial" panose="020B0604020202020204" pitchFamily="34" charset="0"/>
                <a:cs typeface="Arial" panose="020B0604020202020204" pitchFamily="34" charset="0"/>
              </a:rPr>
              <a:t>Preporučene karakteristike</a:t>
            </a:r>
            <a:r>
              <a:rPr lang="hr-HR" sz="3200" dirty="0">
                <a:latin typeface="Arial" panose="020B0604020202020204" pitchFamily="34" charset="0"/>
                <a:cs typeface="Arial" panose="020B0604020202020204" pitchFamily="34" charset="0"/>
              </a:rPr>
              <a:t>: 27" ili veći, s 4K rezolucijom i IPS tehnologijom.</a:t>
            </a:r>
          </a:p>
          <a:p>
            <a:r>
              <a:rPr lang="hr-HR" sz="3200" b="1" dirty="0">
                <a:latin typeface="Arial" panose="020B0604020202020204" pitchFamily="34" charset="0"/>
                <a:cs typeface="Arial" panose="020B0604020202020204" pitchFamily="34" charset="0"/>
              </a:rPr>
              <a:t>Razlog</a:t>
            </a:r>
            <a:r>
              <a:rPr lang="hr-HR" sz="3200" dirty="0">
                <a:latin typeface="Arial" panose="020B0604020202020204" pitchFamily="34" charset="0"/>
                <a:cs typeface="Arial" panose="020B0604020202020204" pitchFamily="34" charset="0"/>
              </a:rPr>
              <a:t>: Visoka razlučivost i preciznost boja ključne su za multimedijski rad, posebno za grafički dizajn, montažu videa i obradu fotografija.</a:t>
            </a:r>
          </a:p>
          <a:p>
            <a:r>
              <a:rPr lang="hr-HR" sz="3200" b="1" dirty="0">
                <a:latin typeface="Arial" panose="020B0604020202020204" pitchFamily="34" charset="0"/>
                <a:cs typeface="Arial" panose="020B0604020202020204" pitchFamily="34" charset="0"/>
              </a:rPr>
              <a:t>6. Zvuk i audio uređaji</a:t>
            </a:r>
          </a:p>
          <a:p>
            <a:r>
              <a:rPr lang="hr-HR" sz="3200" b="1" dirty="0">
                <a:latin typeface="Arial" panose="020B0604020202020204" pitchFamily="34" charset="0"/>
                <a:cs typeface="Arial" panose="020B0604020202020204" pitchFamily="34" charset="0"/>
              </a:rPr>
              <a:t>Zvučne kartice</a:t>
            </a:r>
            <a:r>
              <a:rPr lang="hr-HR" sz="3200" dirty="0">
                <a:latin typeface="Arial" panose="020B0604020202020204" pitchFamily="34" charset="0"/>
                <a:cs typeface="Arial" panose="020B0604020202020204" pitchFamily="34" charset="0"/>
              </a:rPr>
              <a:t>: Integrirane kartice često su dovoljne, ali za profesionalnu obradu zvuka preporučuje se vanjska zvučna kartica (npr. </a:t>
            </a:r>
            <a:r>
              <a:rPr lang="hr-HR" sz="3200" dirty="0" err="1">
                <a:latin typeface="Arial" panose="020B0604020202020204" pitchFamily="34" charset="0"/>
                <a:cs typeface="Arial" panose="020B0604020202020204" pitchFamily="34" charset="0"/>
              </a:rPr>
              <a:t>Focusrite</a:t>
            </a:r>
            <a:r>
              <a:rPr lang="hr-HR" sz="3200" dirty="0">
                <a:latin typeface="Arial" panose="020B0604020202020204" pitchFamily="34" charset="0"/>
                <a:cs typeface="Arial" panose="020B0604020202020204" pitchFamily="34" charset="0"/>
              </a:rPr>
              <a:t>).</a:t>
            </a:r>
          </a:p>
          <a:p>
            <a:r>
              <a:rPr lang="hr-HR" sz="3200" b="1" dirty="0">
                <a:latin typeface="Arial" panose="020B0604020202020204" pitchFamily="34" charset="0"/>
                <a:cs typeface="Arial" panose="020B0604020202020204" pitchFamily="34" charset="0"/>
              </a:rPr>
              <a:t>Zvučnici i slušalice</a:t>
            </a:r>
            <a:r>
              <a:rPr lang="hr-HR" sz="3200" dirty="0">
                <a:latin typeface="Arial" panose="020B0604020202020204" pitchFamily="34" charset="0"/>
                <a:cs typeface="Arial" panose="020B0604020202020204" pitchFamily="34" charset="0"/>
              </a:rPr>
              <a:t>: Profesionalni studio monitori (npr. KRK </a:t>
            </a:r>
            <a:r>
              <a:rPr lang="hr-HR" sz="3200" dirty="0" err="1">
                <a:latin typeface="Arial" panose="020B0604020202020204" pitchFamily="34" charset="0"/>
                <a:cs typeface="Arial" panose="020B0604020202020204" pitchFamily="34" charset="0"/>
              </a:rPr>
              <a:t>Rokit</a:t>
            </a:r>
            <a:r>
              <a:rPr lang="hr-HR" sz="3200" dirty="0">
                <a:latin typeface="Arial" panose="020B0604020202020204" pitchFamily="34" charset="0"/>
                <a:cs typeface="Arial" panose="020B0604020202020204" pitchFamily="34" charset="0"/>
              </a:rPr>
              <a:t>) i kvalitetne slušalice (npr. Audio-</a:t>
            </a:r>
            <a:r>
              <a:rPr lang="hr-HR" sz="3200" dirty="0" err="1">
                <a:latin typeface="Arial" panose="020B0604020202020204" pitchFamily="34" charset="0"/>
                <a:cs typeface="Arial" panose="020B0604020202020204" pitchFamily="34" charset="0"/>
              </a:rPr>
              <a:t>Technica</a:t>
            </a:r>
            <a:r>
              <a:rPr lang="hr-HR" sz="3200" dirty="0">
                <a:latin typeface="Arial" panose="020B0604020202020204" pitchFamily="34" charset="0"/>
                <a:cs typeface="Arial" panose="020B0604020202020204" pitchFamily="34" charset="0"/>
              </a:rPr>
              <a:t> ATH-M50X).</a:t>
            </a:r>
          </a:p>
          <a:p>
            <a:endParaRPr lang="hr-HR" dirty="0"/>
          </a:p>
        </p:txBody>
      </p:sp>
    </p:spTree>
    <p:extLst>
      <p:ext uri="{BB962C8B-B14F-4D97-AF65-F5344CB8AC3E}">
        <p14:creationId xmlns:p14="http://schemas.microsoft.com/office/powerpoint/2010/main" val="232082980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dirty="0">
                <a:latin typeface="Arial" charset="0"/>
              </a:rPr>
              <a:t>Multimedijski</a:t>
            </a:r>
            <a:r>
              <a:rPr lang="hr-HR" sz="3200" dirty="0"/>
              <a:t> </a:t>
            </a:r>
            <a:r>
              <a:rPr lang="hr-HR" sz="3200" dirty="0">
                <a:latin typeface="Arial" charset="0"/>
              </a:rPr>
              <a:t>računalni sustavi</a:t>
            </a:r>
          </a:p>
        </p:txBody>
      </p:sp>
      <p:sp>
        <p:nvSpPr>
          <p:cNvPr id="3" name="Content Placeholder 2"/>
          <p:cNvSpPr>
            <a:spLocks noGrp="1"/>
          </p:cNvSpPr>
          <p:nvPr>
            <p:ph sz="quarter" idx="1"/>
          </p:nvPr>
        </p:nvSpPr>
        <p:spPr>
          <a:xfrm>
            <a:off x="1741292" y="1072700"/>
            <a:ext cx="9064359" cy="5623068"/>
          </a:xfrm>
        </p:spPr>
        <p:txBody>
          <a:bodyPr>
            <a:normAutofit fontScale="85000" lnSpcReduction="20000"/>
          </a:bodyPr>
          <a:lstStyle/>
          <a:p>
            <a:r>
              <a:rPr lang="hr-HR" sz="3200" b="1" dirty="0">
                <a:latin typeface="Arial" panose="020B0604020202020204" pitchFamily="34" charset="0"/>
                <a:cs typeface="Arial" panose="020B0604020202020204" pitchFamily="34" charset="0"/>
              </a:rPr>
              <a:t>7. Priključci i </a:t>
            </a:r>
            <a:r>
              <a:rPr lang="hr-HR" sz="3200" b="1" dirty="0" err="1">
                <a:latin typeface="Arial" panose="020B0604020202020204" pitchFamily="34" charset="0"/>
                <a:cs typeface="Arial" panose="020B0604020202020204" pitchFamily="34" charset="0"/>
              </a:rPr>
              <a:t>povezivost</a:t>
            </a:r>
            <a:endParaRPr lang="hr-HR" sz="3200" b="1" dirty="0">
              <a:latin typeface="Arial" panose="020B0604020202020204" pitchFamily="34" charset="0"/>
              <a:cs typeface="Arial" panose="020B0604020202020204" pitchFamily="34" charset="0"/>
            </a:endParaRPr>
          </a:p>
          <a:p>
            <a:r>
              <a:rPr lang="hr-HR" sz="3200" b="1" dirty="0">
                <a:latin typeface="Arial" panose="020B0604020202020204" pitchFamily="34" charset="0"/>
                <a:cs typeface="Arial" panose="020B0604020202020204" pitchFamily="34" charset="0"/>
              </a:rPr>
              <a:t>USB-C, </a:t>
            </a:r>
            <a:r>
              <a:rPr lang="hr-HR" sz="3200" b="1" dirty="0" err="1">
                <a:latin typeface="Arial" panose="020B0604020202020204" pitchFamily="34" charset="0"/>
                <a:cs typeface="Arial" panose="020B0604020202020204" pitchFamily="34" charset="0"/>
              </a:rPr>
              <a:t>Thunderbolt</a:t>
            </a:r>
            <a:r>
              <a:rPr lang="hr-HR" sz="3200" dirty="0">
                <a:latin typeface="Arial" panose="020B0604020202020204" pitchFamily="34" charset="0"/>
                <a:cs typeface="Arial" panose="020B0604020202020204" pitchFamily="34" charset="0"/>
              </a:rPr>
              <a:t>: Brzi prijenos podataka za povezivanje vanjskih uređaja, kao što su vanjski diskovi i kamere.</a:t>
            </a:r>
          </a:p>
          <a:p>
            <a:r>
              <a:rPr lang="hr-HR" sz="3200" b="1" dirty="0">
                <a:latin typeface="Arial" panose="020B0604020202020204" pitchFamily="34" charset="0"/>
                <a:cs typeface="Arial" panose="020B0604020202020204" pitchFamily="34" charset="0"/>
              </a:rPr>
              <a:t>HDMI/</a:t>
            </a:r>
            <a:r>
              <a:rPr lang="hr-HR" sz="3200" b="1" dirty="0" err="1">
                <a:latin typeface="Arial" panose="020B0604020202020204" pitchFamily="34" charset="0"/>
                <a:cs typeface="Arial" panose="020B0604020202020204" pitchFamily="34" charset="0"/>
              </a:rPr>
              <a:t>DisplayPort</a:t>
            </a:r>
            <a:r>
              <a:rPr lang="hr-HR" sz="3200" dirty="0">
                <a:latin typeface="Arial" panose="020B0604020202020204" pitchFamily="34" charset="0"/>
                <a:cs typeface="Arial" panose="020B0604020202020204" pitchFamily="34" charset="0"/>
              </a:rPr>
              <a:t>: Za povezivanje s više monitora.</a:t>
            </a:r>
          </a:p>
          <a:p>
            <a:r>
              <a:rPr lang="hr-HR" sz="3200" b="1" dirty="0">
                <a:latin typeface="Arial" panose="020B0604020202020204" pitchFamily="34" charset="0"/>
                <a:cs typeface="Arial" panose="020B0604020202020204" pitchFamily="34" charset="0"/>
              </a:rPr>
              <a:t>8. Softver</a:t>
            </a:r>
          </a:p>
          <a:p>
            <a:r>
              <a:rPr lang="hr-HR" sz="3200" b="1" dirty="0">
                <a:latin typeface="Arial" panose="020B0604020202020204" pitchFamily="34" charset="0"/>
                <a:cs typeface="Arial" panose="020B0604020202020204" pitchFamily="34" charset="0"/>
              </a:rPr>
              <a:t>Operativni sustav</a:t>
            </a:r>
            <a:r>
              <a:rPr lang="hr-HR" sz="3200" dirty="0">
                <a:latin typeface="Arial" panose="020B0604020202020204" pitchFamily="34" charset="0"/>
                <a:cs typeface="Arial" panose="020B0604020202020204" pitchFamily="34" charset="0"/>
              </a:rPr>
              <a:t>: Windows 10/11 Pro ili </a:t>
            </a:r>
            <a:r>
              <a:rPr lang="hr-HR" sz="3200" dirty="0" err="1">
                <a:latin typeface="Arial" panose="020B0604020202020204" pitchFamily="34" charset="0"/>
                <a:cs typeface="Arial" panose="020B0604020202020204" pitchFamily="34" charset="0"/>
              </a:rPr>
              <a:t>macOS</a:t>
            </a:r>
            <a:r>
              <a:rPr lang="hr-HR" sz="3200" dirty="0">
                <a:latin typeface="Arial" panose="020B0604020202020204" pitchFamily="34" charset="0"/>
                <a:cs typeface="Arial" panose="020B0604020202020204" pitchFamily="34" charset="0"/>
              </a:rPr>
              <a:t> (ovisno o preferencijama).</a:t>
            </a:r>
          </a:p>
          <a:p>
            <a:r>
              <a:rPr lang="hr-HR" sz="3200" b="1" dirty="0">
                <a:latin typeface="Arial" panose="020B0604020202020204" pitchFamily="34" charset="0"/>
                <a:cs typeface="Arial" panose="020B0604020202020204" pitchFamily="34" charset="0"/>
              </a:rPr>
              <a:t>Multimedijski softver</a:t>
            </a:r>
            <a:r>
              <a:rPr lang="hr-HR" sz="3200" dirty="0">
                <a:latin typeface="Arial" panose="020B0604020202020204" pitchFamily="34" charset="0"/>
                <a:cs typeface="Arial" panose="020B0604020202020204" pitchFamily="34" charset="0"/>
              </a:rPr>
              <a:t>: Adobe Creative Suite (</a:t>
            </a:r>
            <a:r>
              <a:rPr lang="hr-HR" sz="3200" dirty="0" err="1">
                <a:latin typeface="Arial" panose="020B0604020202020204" pitchFamily="34" charset="0"/>
                <a:cs typeface="Arial" panose="020B0604020202020204" pitchFamily="34" charset="0"/>
              </a:rPr>
              <a:t>Premiere</a:t>
            </a:r>
            <a:r>
              <a:rPr lang="hr-HR" sz="3200" dirty="0">
                <a:latin typeface="Arial" panose="020B0604020202020204" pitchFamily="34" charset="0"/>
                <a:cs typeface="Arial" panose="020B0604020202020204" pitchFamily="34" charset="0"/>
              </a:rPr>
              <a:t> Pro, </a:t>
            </a:r>
            <a:r>
              <a:rPr lang="hr-HR" sz="3200" dirty="0" err="1">
                <a:latin typeface="Arial" panose="020B0604020202020204" pitchFamily="34" charset="0"/>
                <a:cs typeface="Arial" panose="020B0604020202020204" pitchFamily="34" charset="0"/>
              </a:rPr>
              <a:t>After</a:t>
            </a:r>
            <a:r>
              <a:rPr lang="hr-HR" sz="3200" dirty="0">
                <a:latin typeface="Arial" panose="020B0604020202020204" pitchFamily="34" charset="0"/>
                <a:cs typeface="Arial" panose="020B0604020202020204" pitchFamily="34" charset="0"/>
              </a:rPr>
              <a:t> </a:t>
            </a:r>
            <a:r>
              <a:rPr lang="hr-HR" sz="3200" dirty="0" err="1">
                <a:latin typeface="Arial" panose="020B0604020202020204" pitchFamily="34" charset="0"/>
                <a:cs typeface="Arial" panose="020B0604020202020204" pitchFamily="34" charset="0"/>
              </a:rPr>
              <a:t>Effects</a:t>
            </a:r>
            <a:r>
              <a:rPr lang="hr-HR" sz="3200" dirty="0">
                <a:latin typeface="Arial" panose="020B0604020202020204" pitchFamily="34" charset="0"/>
                <a:cs typeface="Arial" panose="020B0604020202020204" pitchFamily="34" charset="0"/>
              </a:rPr>
              <a:t>, </a:t>
            </a:r>
            <a:r>
              <a:rPr lang="hr-HR" sz="3200" dirty="0" err="1">
                <a:latin typeface="Arial" panose="020B0604020202020204" pitchFamily="34" charset="0"/>
                <a:cs typeface="Arial" panose="020B0604020202020204" pitchFamily="34" charset="0"/>
              </a:rPr>
              <a:t>Photoshop</a:t>
            </a:r>
            <a:r>
              <a:rPr lang="hr-HR" sz="3200" dirty="0">
                <a:latin typeface="Arial" panose="020B0604020202020204" pitchFamily="34" charset="0"/>
                <a:cs typeface="Arial" panose="020B0604020202020204" pitchFamily="34" charset="0"/>
              </a:rPr>
              <a:t>), </a:t>
            </a:r>
            <a:r>
              <a:rPr lang="hr-HR" sz="3200" dirty="0" err="1">
                <a:latin typeface="Arial" panose="020B0604020202020204" pitchFamily="34" charset="0"/>
                <a:cs typeface="Arial" panose="020B0604020202020204" pitchFamily="34" charset="0"/>
              </a:rPr>
              <a:t>DaVinci</a:t>
            </a:r>
            <a:r>
              <a:rPr lang="hr-HR" sz="3200" dirty="0">
                <a:latin typeface="Arial" panose="020B0604020202020204" pitchFamily="34" charset="0"/>
                <a:cs typeface="Arial" panose="020B0604020202020204" pitchFamily="34" charset="0"/>
              </a:rPr>
              <a:t> </a:t>
            </a:r>
            <a:r>
              <a:rPr lang="hr-HR" sz="3200" dirty="0" err="1">
                <a:latin typeface="Arial" panose="020B0604020202020204" pitchFamily="34" charset="0"/>
                <a:cs typeface="Arial" panose="020B0604020202020204" pitchFamily="34" charset="0"/>
              </a:rPr>
              <a:t>Resolve</a:t>
            </a:r>
            <a:r>
              <a:rPr lang="hr-HR" sz="3200" dirty="0">
                <a:latin typeface="Arial" panose="020B0604020202020204" pitchFamily="34" charset="0"/>
                <a:cs typeface="Arial" panose="020B0604020202020204" pitchFamily="34" charset="0"/>
              </a:rPr>
              <a:t>, Blender za 3D animacije, Pro </a:t>
            </a:r>
            <a:r>
              <a:rPr lang="hr-HR" sz="3200" dirty="0" err="1">
                <a:latin typeface="Arial" panose="020B0604020202020204" pitchFamily="34" charset="0"/>
                <a:cs typeface="Arial" panose="020B0604020202020204" pitchFamily="34" charset="0"/>
              </a:rPr>
              <a:t>Tools</a:t>
            </a:r>
            <a:r>
              <a:rPr lang="hr-HR" sz="3200" dirty="0">
                <a:latin typeface="Arial" panose="020B0604020202020204" pitchFamily="34" charset="0"/>
                <a:cs typeface="Arial" panose="020B0604020202020204" pitchFamily="34" charset="0"/>
              </a:rPr>
              <a:t> za audio produkciju.</a:t>
            </a:r>
          </a:p>
          <a:p>
            <a:endParaRPr lang="hr-HR" dirty="0"/>
          </a:p>
        </p:txBody>
      </p:sp>
    </p:spTree>
    <p:extLst>
      <p:ext uri="{BB962C8B-B14F-4D97-AF65-F5344CB8AC3E}">
        <p14:creationId xmlns:p14="http://schemas.microsoft.com/office/powerpoint/2010/main" val="12192888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dirty="0">
                <a:latin typeface="Arial" charset="0"/>
              </a:rPr>
              <a:t>Multimedijski</a:t>
            </a:r>
            <a:r>
              <a:rPr lang="hr-HR" sz="3200" dirty="0"/>
              <a:t> </a:t>
            </a:r>
            <a:r>
              <a:rPr lang="hr-HR" sz="3200" dirty="0">
                <a:latin typeface="Arial" charset="0"/>
              </a:rPr>
              <a:t>računalni sustavi</a:t>
            </a:r>
          </a:p>
        </p:txBody>
      </p:sp>
      <p:sp>
        <p:nvSpPr>
          <p:cNvPr id="3" name="Content Placeholder 2"/>
          <p:cNvSpPr>
            <a:spLocks noGrp="1"/>
          </p:cNvSpPr>
          <p:nvPr>
            <p:ph sz="quarter" idx="1"/>
          </p:nvPr>
        </p:nvSpPr>
        <p:spPr>
          <a:xfrm>
            <a:off x="1741292" y="1072700"/>
            <a:ext cx="9064359" cy="5623068"/>
          </a:xfrm>
        </p:spPr>
        <p:txBody>
          <a:bodyPr>
            <a:normAutofit fontScale="92500" lnSpcReduction="20000"/>
          </a:bodyPr>
          <a:lstStyle/>
          <a:p>
            <a:r>
              <a:rPr lang="hr-HR" sz="3200" b="1" dirty="0">
                <a:latin typeface="Arial" panose="020B0604020202020204" pitchFamily="34" charset="0"/>
                <a:cs typeface="Arial" panose="020B0604020202020204" pitchFamily="34" charset="0"/>
              </a:rPr>
              <a:t>9. Hlađenje i napajanje</a:t>
            </a:r>
          </a:p>
          <a:p>
            <a:r>
              <a:rPr lang="hr-HR" sz="3200" b="1" dirty="0">
                <a:latin typeface="Arial" panose="020B0604020202020204" pitchFamily="34" charset="0"/>
                <a:cs typeface="Arial" panose="020B0604020202020204" pitchFamily="34" charset="0"/>
              </a:rPr>
              <a:t>Sustav hlađenja</a:t>
            </a:r>
            <a:r>
              <a:rPr lang="hr-HR" sz="3200" dirty="0">
                <a:latin typeface="Arial" panose="020B0604020202020204" pitchFamily="34" charset="0"/>
                <a:cs typeface="Arial" panose="020B0604020202020204" pitchFamily="34" charset="0"/>
              </a:rPr>
              <a:t>: Snažno hlađenje je važno kako bi se izbjeglo pregrijavanje, posebno kod zahtjevnih zadataka poput renderiranja.</a:t>
            </a:r>
          </a:p>
          <a:p>
            <a:r>
              <a:rPr lang="hr-HR" sz="3200" b="1" dirty="0">
                <a:latin typeface="Arial" panose="020B0604020202020204" pitchFamily="34" charset="0"/>
                <a:cs typeface="Arial" panose="020B0604020202020204" pitchFamily="34" charset="0"/>
              </a:rPr>
              <a:t>Napajanje</a:t>
            </a:r>
            <a:r>
              <a:rPr lang="hr-HR" sz="3200" dirty="0">
                <a:latin typeface="Arial" panose="020B0604020202020204" pitchFamily="34" charset="0"/>
                <a:cs typeface="Arial" panose="020B0604020202020204" pitchFamily="34" charset="0"/>
              </a:rPr>
              <a:t>: Preporučeno je imati napajanje od najmanje 750 W za napajanje svih komponenti, uključujući snažnu grafičku karticu.</a:t>
            </a:r>
          </a:p>
          <a:p>
            <a:r>
              <a:rPr lang="hr-HR" sz="3200" dirty="0">
                <a:latin typeface="Arial" panose="020B0604020202020204" pitchFamily="34" charset="0"/>
                <a:cs typeface="Arial" panose="020B0604020202020204" pitchFamily="34" charset="0"/>
              </a:rPr>
              <a:t>Ove specifikacije osiguravaju visoke performanse za zahtjevne multimedijske zadatke, kao što su 3D modeliranje, video montaža u visokoj rezoluciji i obrada zvuka.</a:t>
            </a:r>
          </a:p>
          <a:p>
            <a:endParaRPr lang="hr-HR" dirty="0"/>
          </a:p>
        </p:txBody>
      </p:sp>
    </p:spTree>
    <p:extLst>
      <p:ext uri="{BB962C8B-B14F-4D97-AF65-F5344CB8AC3E}">
        <p14:creationId xmlns:p14="http://schemas.microsoft.com/office/powerpoint/2010/main" val="429245554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dirty="0">
                <a:latin typeface="Arial" charset="0"/>
              </a:rPr>
              <a:t>Superračunala u filmskoj industriji</a:t>
            </a:r>
          </a:p>
        </p:txBody>
      </p:sp>
      <p:sp>
        <p:nvSpPr>
          <p:cNvPr id="3" name="Content Placeholder 2"/>
          <p:cNvSpPr>
            <a:spLocks noGrp="1"/>
          </p:cNvSpPr>
          <p:nvPr>
            <p:ph sz="quarter" idx="1"/>
          </p:nvPr>
        </p:nvSpPr>
        <p:spPr>
          <a:xfrm>
            <a:off x="1692131" y="1234932"/>
            <a:ext cx="9064359" cy="5623068"/>
          </a:xfrm>
        </p:spPr>
        <p:txBody>
          <a:bodyPr>
            <a:normAutofit/>
          </a:bodyPr>
          <a:lstStyle/>
          <a:p>
            <a:r>
              <a:rPr lang="hr-HR" sz="2800" dirty="0">
                <a:latin typeface="Arial" panose="020B0604020202020204" pitchFamily="34" charset="0"/>
                <a:cs typeface="Arial" panose="020B0604020202020204" pitchFamily="34" charset="0"/>
              </a:rPr>
              <a:t>Superračunala igraju ključnu ulogu u filmskoj industriji, posebno kada je riječ o stvaranju složenih specijalnih efekata (VFX), animacija, renderiranja 3D modela i simulacija. Koriste se za obradu masivnih količina podataka i ubrzavanje renderiranja scena koje bi na standardnim računalima trajale predugo. </a:t>
            </a:r>
          </a:p>
          <a:p>
            <a:r>
              <a:rPr lang="hr-HR" sz="2800" dirty="0">
                <a:latin typeface="Arial" panose="020B0604020202020204" pitchFamily="34" charset="0"/>
                <a:cs typeface="Arial" panose="020B0604020202020204" pitchFamily="34" charset="0"/>
              </a:rPr>
              <a:t>U narednim slajdovima evo nekoliko poznatih superračunala i računalnih sustava koji se koriste u filmskoj industriji.</a:t>
            </a:r>
          </a:p>
          <a:p>
            <a:endParaRPr lang="hr-HR" sz="1400" dirty="0"/>
          </a:p>
        </p:txBody>
      </p:sp>
    </p:spTree>
    <p:extLst>
      <p:ext uri="{BB962C8B-B14F-4D97-AF65-F5344CB8AC3E}">
        <p14:creationId xmlns:p14="http://schemas.microsoft.com/office/powerpoint/2010/main" val="141356838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dirty="0">
                <a:latin typeface="Arial" charset="0"/>
              </a:rPr>
              <a:t>Superračunala u filmskoj industriji</a:t>
            </a:r>
          </a:p>
        </p:txBody>
      </p:sp>
      <p:sp>
        <p:nvSpPr>
          <p:cNvPr id="3" name="Content Placeholder 2"/>
          <p:cNvSpPr>
            <a:spLocks noGrp="1"/>
          </p:cNvSpPr>
          <p:nvPr>
            <p:ph sz="quarter" idx="1"/>
          </p:nvPr>
        </p:nvSpPr>
        <p:spPr>
          <a:xfrm>
            <a:off x="1692131" y="1234932"/>
            <a:ext cx="9064359" cy="5623068"/>
          </a:xfrm>
        </p:spPr>
        <p:txBody>
          <a:bodyPr>
            <a:normAutofit fontScale="85000" lnSpcReduction="10000"/>
          </a:bodyPr>
          <a:lstStyle/>
          <a:p>
            <a:r>
              <a:rPr lang="hr-HR" sz="2800" b="1" dirty="0">
                <a:latin typeface="Arial" panose="020B0604020202020204" pitchFamily="34" charset="0"/>
                <a:cs typeface="Arial" panose="020B0604020202020204" pitchFamily="34" charset="0"/>
              </a:rPr>
              <a:t>1. </a:t>
            </a:r>
            <a:r>
              <a:rPr lang="hr-HR" sz="2800" b="1" dirty="0" err="1">
                <a:latin typeface="Arial" panose="020B0604020202020204" pitchFamily="34" charset="0"/>
                <a:cs typeface="Arial" panose="020B0604020202020204" pitchFamily="34" charset="0"/>
              </a:rPr>
              <a:t>Weta</a:t>
            </a:r>
            <a:r>
              <a:rPr lang="hr-HR" sz="2800" b="1" dirty="0">
                <a:latin typeface="Arial" panose="020B0604020202020204" pitchFamily="34" charset="0"/>
                <a:cs typeface="Arial" panose="020B0604020202020204" pitchFamily="34" charset="0"/>
              </a:rPr>
              <a:t> Digital (Parker superračunalo)</a:t>
            </a:r>
          </a:p>
          <a:p>
            <a:r>
              <a:rPr lang="hr-HR" sz="2800" b="1" dirty="0">
                <a:latin typeface="Arial" panose="020B0604020202020204" pitchFamily="34" charset="0"/>
                <a:cs typeface="Arial" panose="020B0604020202020204" pitchFamily="34" charset="0"/>
              </a:rPr>
              <a:t>Primjena</a:t>
            </a:r>
            <a:r>
              <a:rPr lang="hr-HR" sz="2800" dirty="0">
                <a:latin typeface="Arial" panose="020B0604020202020204" pitchFamily="34" charset="0"/>
                <a:cs typeface="Arial" panose="020B0604020202020204" pitchFamily="34" charset="0"/>
              </a:rPr>
              <a:t>: </a:t>
            </a:r>
            <a:r>
              <a:rPr lang="hr-HR" sz="2800" dirty="0" err="1">
                <a:latin typeface="Arial" panose="020B0604020202020204" pitchFamily="34" charset="0"/>
                <a:cs typeface="Arial" panose="020B0604020202020204" pitchFamily="34" charset="0"/>
              </a:rPr>
              <a:t>Weta</a:t>
            </a:r>
            <a:r>
              <a:rPr lang="hr-HR" sz="2800" dirty="0">
                <a:latin typeface="Arial" panose="020B0604020202020204" pitchFamily="34" charset="0"/>
                <a:cs typeface="Arial" panose="020B0604020202020204" pitchFamily="34" charset="0"/>
              </a:rPr>
              <a:t> Digital je poznata VFX kompanija iz Novog Zelanda koja je radila na filmovima kao što su </a:t>
            </a:r>
            <a:r>
              <a:rPr lang="hr-HR" sz="2800" i="1" dirty="0" err="1">
                <a:latin typeface="Arial" panose="020B0604020202020204" pitchFamily="34" charset="0"/>
                <a:cs typeface="Arial" panose="020B0604020202020204" pitchFamily="34" charset="0"/>
              </a:rPr>
              <a:t>The</a:t>
            </a:r>
            <a:r>
              <a:rPr lang="hr-HR" sz="2800" i="1" dirty="0">
                <a:latin typeface="Arial" panose="020B0604020202020204" pitchFamily="34" charset="0"/>
                <a:cs typeface="Arial" panose="020B0604020202020204" pitchFamily="34" charset="0"/>
              </a:rPr>
              <a:t> Lord </a:t>
            </a:r>
            <a:r>
              <a:rPr lang="hr-HR" sz="2800" i="1" dirty="0" err="1">
                <a:latin typeface="Arial" panose="020B0604020202020204" pitchFamily="34" charset="0"/>
                <a:cs typeface="Arial" panose="020B0604020202020204" pitchFamily="34" charset="0"/>
              </a:rPr>
              <a:t>of</a:t>
            </a:r>
            <a:r>
              <a:rPr lang="hr-HR" sz="2800" i="1" dirty="0">
                <a:latin typeface="Arial" panose="020B0604020202020204" pitchFamily="34" charset="0"/>
                <a:cs typeface="Arial" panose="020B0604020202020204" pitchFamily="34" charset="0"/>
              </a:rPr>
              <a:t> </a:t>
            </a:r>
            <a:r>
              <a:rPr lang="hr-HR" sz="2800" i="1" dirty="0" err="1">
                <a:latin typeface="Arial" panose="020B0604020202020204" pitchFamily="34" charset="0"/>
                <a:cs typeface="Arial" panose="020B0604020202020204" pitchFamily="34" charset="0"/>
              </a:rPr>
              <a:t>the</a:t>
            </a:r>
            <a:r>
              <a:rPr lang="hr-HR" sz="2800" i="1" dirty="0">
                <a:latin typeface="Arial" panose="020B0604020202020204" pitchFamily="34" charset="0"/>
                <a:cs typeface="Arial" panose="020B0604020202020204" pitchFamily="34" charset="0"/>
              </a:rPr>
              <a:t> </a:t>
            </a:r>
            <a:r>
              <a:rPr lang="hr-HR" sz="2800" i="1" dirty="0" err="1">
                <a:latin typeface="Arial" panose="020B0604020202020204" pitchFamily="34" charset="0"/>
                <a:cs typeface="Arial" panose="020B0604020202020204" pitchFamily="34" charset="0"/>
              </a:rPr>
              <a:t>Rings</a:t>
            </a:r>
            <a:r>
              <a:rPr lang="hr-HR" sz="2800" dirty="0">
                <a:latin typeface="Arial" panose="020B0604020202020204" pitchFamily="34" charset="0"/>
                <a:cs typeface="Arial" panose="020B0604020202020204" pitchFamily="34" charset="0"/>
              </a:rPr>
              <a:t>, </a:t>
            </a:r>
            <a:r>
              <a:rPr lang="hr-HR" sz="2800" i="1" dirty="0" err="1">
                <a:latin typeface="Arial" panose="020B0604020202020204" pitchFamily="34" charset="0"/>
                <a:cs typeface="Arial" panose="020B0604020202020204" pitchFamily="34" charset="0"/>
              </a:rPr>
              <a:t>The</a:t>
            </a:r>
            <a:r>
              <a:rPr lang="hr-HR" sz="2800" i="1" dirty="0">
                <a:latin typeface="Arial" panose="020B0604020202020204" pitchFamily="34" charset="0"/>
                <a:cs typeface="Arial" panose="020B0604020202020204" pitchFamily="34" charset="0"/>
              </a:rPr>
              <a:t> </a:t>
            </a:r>
            <a:r>
              <a:rPr lang="hr-HR" sz="2800" i="1" dirty="0" err="1">
                <a:latin typeface="Arial" panose="020B0604020202020204" pitchFamily="34" charset="0"/>
                <a:cs typeface="Arial" panose="020B0604020202020204" pitchFamily="34" charset="0"/>
              </a:rPr>
              <a:t>Hobbit</a:t>
            </a:r>
            <a:r>
              <a:rPr lang="hr-HR" sz="2800" dirty="0">
                <a:latin typeface="Arial" panose="020B0604020202020204" pitchFamily="34" charset="0"/>
                <a:cs typeface="Arial" panose="020B0604020202020204" pitchFamily="34" charset="0"/>
              </a:rPr>
              <a:t>, </a:t>
            </a:r>
            <a:r>
              <a:rPr lang="hr-HR" sz="2800" i="1" dirty="0">
                <a:latin typeface="Arial" panose="020B0604020202020204" pitchFamily="34" charset="0"/>
                <a:cs typeface="Arial" panose="020B0604020202020204" pitchFamily="34" charset="0"/>
              </a:rPr>
              <a:t>Avatar</a:t>
            </a:r>
            <a:r>
              <a:rPr lang="hr-HR" sz="2800" dirty="0">
                <a:latin typeface="Arial" panose="020B0604020202020204" pitchFamily="34" charset="0"/>
                <a:cs typeface="Arial" panose="020B0604020202020204" pitchFamily="34" charset="0"/>
              </a:rPr>
              <a:t> i </a:t>
            </a:r>
            <a:r>
              <a:rPr lang="hr-HR" sz="2800" i="1" dirty="0" err="1">
                <a:latin typeface="Arial" panose="020B0604020202020204" pitchFamily="34" charset="0"/>
                <a:cs typeface="Arial" panose="020B0604020202020204" pitchFamily="34" charset="0"/>
              </a:rPr>
              <a:t>Avengers</a:t>
            </a:r>
            <a:r>
              <a:rPr lang="hr-HR" sz="2800" i="1" dirty="0">
                <a:latin typeface="Arial" panose="020B0604020202020204" pitchFamily="34" charset="0"/>
                <a:cs typeface="Arial" panose="020B0604020202020204" pitchFamily="34" charset="0"/>
              </a:rPr>
              <a:t>: </a:t>
            </a:r>
            <a:r>
              <a:rPr lang="hr-HR" sz="2800" i="1" dirty="0" err="1">
                <a:latin typeface="Arial" panose="020B0604020202020204" pitchFamily="34" charset="0"/>
                <a:cs typeface="Arial" panose="020B0604020202020204" pitchFamily="34" charset="0"/>
              </a:rPr>
              <a:t>Endgame</a:t>
            </a:r>
            <a:r>
              <a:rPr lang="hr-HR" sz="2800" dirty="0">
                <a:latin typeface="Arial" panose="020B0604020202020204" pitchFamily="34" charset="0"/>
                <a:cs typeface="Arial" panose="020B0604020202020204" pitchFamily="34" charset="0"/>
              </a:rPr>
              <a:t>.</a:t>
            </a:r>
          </a:p>
          <a:p>
            <a:r>
              <a:rPr lang="hr-HR" sz="2800" b="1" dirty="0">
                <a:latin typeface="Arial" panose="020B0604020202020204" pitchFamily="34" charset="0"/>
                <a:cs typeface="Arial" panose="020B0604020202020204" pitchFamily="34" charset="0"/>
              </a:rPr>
              <a:t>Superračunalo</a:t>
            </a:r>
            <a:r>
              <a:rPr lang="hr-HR" sz="2800" dirty="0">
                <a:latin typeface="Arial" panose="020B0604020202020204" pitchFamily="34" charset="0"/>
                <a:cs typeface="Arial" panose="020B0604020202020204" pitchFamily="34" charset="0"/>
              </a:rPr>
              <a:t>: </a:t>
            </a:r>
            <a:r>
              <a:rPr lang="hr-HR" sz="2800" dirty="0" err="1">
                <a:latin typeface="Arial" panose="020B0604020202020204" pitchFamily="34" charset="0"/>
                <a:cs typeface="Arial" panose="020B0604020202020204" pitchFamily="34" charset="0"/>
              </a:rPr>
              <a:t>Weta</a:t>
            </a:r>
            <a:r>
              <a:rPr lang="hr-HR" sz="2800" dirty="0">
                <a:latin typeface="Arial" panose="020B0604020202020204" pitchFamily="34" charset="0"/>
                <a:cs typeface="Arial" panose="020B0604020202020204" pitchFamily="34" charset="0"/>
              </a:rPr>
              <a:t> Digital koristi superračunalo zvano "Parker", koje je specijalizirano za masovno renderiranje 3D scena i animacija. Parker može izvoditi bilijune operacija u sekundi, omogućujući </a:t>
            </a:r>
            <a:r>
              <a:rPr lang="hr-HR" sz="2800" dirty="0" err="1">
                <a:latin typeface="Arial" panose="020B0604020202020204" pitchFamily="34" charset="0"/>
                <a:cs typeface="Arial" panose="020B0604020202020204" pitchFamily="34" charset="0"/>
              </a:rPr>
              <a:t>Weti</a:t>
            </a:r>
            <a:r>
              <a:rPr lang="hr-HR" sz="2800" dirty="0">
                <a:latin typeface="Arial" panose="020B0604020202020204" pitchFamily="34" charset="0"/>
                <a:cs typeface="Arial" panose="020B0604020202020204" pitchFamily="34" charset="0"/>
              </a:rPr>
              <a:t> da stvori nevjerojatno realistične CGI efekte.</a:t>
            </a:r>
          </a:p>
          <a:p>
            <a:r>
              <a:rPr lang="hr-HR" sz="2800" b="1" dirty="0">
                <a:latin typeface="Arial" panose="020B0604020202020204" pitchFamily="34" charset="0"/>
                <a:cs typeface="Arial" panose="020B0604020202020204" pitchFamily="34" charset="0"/>
              </a:rPr>
              <a:t>Zanimljivost</a:t>
            </a:r>
            <a:r>
              <a:rPr lang="hr-HR" sz="2800" dirty="0">
                <a:latin typeface="Arial" panose="020B0604020202020204" pitchFamily="34" charset="0"/>
                <a:cs typeface="Arial" panose="020B0604020202020204" pitchFamily="34" charset="0"/>
              </a:rPr>
              <a:t>: Parker superračunalo je ključan dio za stvaranje bogatih digitalnih okruženja i realističnih likova, poput </a:t>
            </a:r>
            <a:r>
              <a:rPr lang="hr-HR" sz="2800" dirty="0" err="1">
                <a:latin typeface="Arial" panose="020B0604020202020204" pitchFamily="34" charset="0"/>
                <a:cs typeface="Arial" panose="020B0604020202020204" pitchFamily="34" charset="0"/>
              </a:rPr>
              <a:t>Golluma</a:t>
            </a:r>
            <a:r>
              <a:rPr lang="hr-HR" sz="2800" dirty="0">
                <a:latin typeface="Arial" panose="020B0604020202020204" pitchFamily="34" charset="0"/>
                <a:cs typeface="Arial" panose="020B0604020202020204" pitchFamily="34" charset="0"/>
              </a:rPr>
              <a:t> u </a:t>
            </a:r>
            <a:r>
              <a:rPr lang="hr-HR" sz="2800" i="1" dirty="0" err="1">
                <a:latin typeface="Arial" panose="020B0604020202020204" pitchFamily="34" charset="0"/>
                <a:cs typeface="Arial" panose="020B0604020202020204" pitchFamily="34" charset="0"/>
              </a:rPr>
              <a:t>The</a:t>
            </a:r>
            <a:r>
              <a:rPr lang="hr-HR" sz="2800" i="1" dirty="0">
                <a:latin typeface="Arial" panose="020B0604020202020204" pitchFamily="34" charset="0"/>
                <a:cs typeface="Arial" panose="020B0604020202020204" pitchFamily="34" charset="0"/>
              </a:rPr>
              <a:t> Lord </a:t>
            </a:r>
            <a:r>
              <a:rPr lang="hr-HR" sz="2800" i="1" dirty="0" err="1">
                <a:latin typeface="Arial" panose="020B0604020202020204" pitchFamily="34" charset="0"/>
                <a:cs typeface="Arial" panose="020B0604020202020204" pitchFamily="34" charset="0"/>
              </a:rPr>
              <a:t>of</a:t>
            </a:r>
            <a:r>
              <a:rPr lang="hr-HR" sz="2800" i="1" dirty="0">
                <a:latin typeface="Arial" panose="020B0604020202020204" pitchFamily="34" charset="0"/>
                <a:cs typeface="Arial" panose="020B0604020202020204" pitchFamily="34" charset="0"/>
              </a:rPr>
              <a:t> </a:t>
            </a:r>
            <a:r>
              <a:rPr lang="hr-HR" sz="2800" i="1" dirty="0" err="1">
                <a:latin typeface="Arial" panose="020B0604020202020204" pitchFamily="34" charset="0"/>
                <a:cs typeface="Arial" panose="020B0604020202020204" pitchFamily="34" charset="0"/>
              </a:rPr>
              <a:t>the</a:t>
            </a:r>
            <a:r>
              <a:rPr lang="hr-HR" sz="2800" i="1" dirty="0">
                <a:latin typeface="Arial" panose="020B0604020202020204" pitchFamily="34" charset="0"/>
                <a:cs typeface="Arial" panose="020B0604020202020204" pitchFamily="34" charset="0"/>
              </a:rPr>
              <a:t> </a:t>
            </a:r>
            <a:r>
              <a:rPr lang="hr-HR" sz="2800" i="1" dirty="0" err="1">
                <a:latin typeface="Arial" panose="020B0604020202020204" pitchFamily="34" charset="0"/>
                <a:cs typeface="Arial" panose="020B0604020202020204" pitchFamily="34" charset="0"/>
              </a:rPr>
              <a:t>Rings</a:t>
            </a:r>
            <a:r>
              <a:rPr lang="hr-HR" sz="2800" dirty="0">
                <a:latin typeface="Arial" panose="020B0604020202020204" pitchFamily="34" charset="0"/>
                <a:cs typeface="Arial" panose="020B0604020202020204" pitchFamily="34" charset="0"/>
              </a:rPr>
              <a:t>.</a:t>
            </a:r>
          </a:p>
          <a:p>
            <a:endParaRPr lang="hr-HR" sz="1400" dirty="0"/>
          </a:p>
        </p:txBody>
      </p:sp>
    </p:spTree>
    <p:extLst>
      <p:ext uri="{BB962C8B-B14F-4D97-AF65-F5344CB8AC3E}">
        <p14:creationId xmlns:p14="http://schemas.microsoft.com/office/powerpoint/2010/main" val="167778853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406BD704-01C2-4341-B99A-116CC7EC5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Why Pixar is the Powerhouse They are Today, and How You Can Easily Follow  In Their Footsteps – His Grace Productions">
            <a:extLst>
              <a:ext uri="{FF2B5EF4-FFF2-40B4-BE49-F238E27FC236}">
                <a16:creationId xmlns:a16="http://schemas.microsoft.com/office/drawing/2014/main" id="{83506868-9207-E2C2-D4C8-4F45D2040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useBgFill="1">
        <p:nvSpPr>
          <p:cNvPr id="3081" name="Rectangle 3080">
            <a:extLst>
              <a:ext uri="{FF2B5EF4-FFF2-40B4-BE49-F238E27FC236}">
                <a16:creationId xmlns:a16="http://schemas.microsoft.com/office/drawing/2014/main" id="{0225C01B-A296-4FAA-AA46-794F27DF6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894" y="979075"/>
            <a:ext cx="5777024" cy="5074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9451" y="1352492"/>
            <a:ext cx="4665540" cy="1143000"/>
          </a:xfrm>
        </p:spPr>
        <p:txBody>
          <a:bodyPr anchor="t">
            <a:normAutofit/>
          </a:bodyPr>
          <a:lstStyle/>
          <a:p>
            <a:pPr>
              <a:lnSpc>
                <a:spcPct val="90000"/>
              </a:lnSpc>
            </a:pPr>
            <a:r>
              <a:rPr lang="hr-HR" sz="3700">
                <a:latin typeface="Arial" charset="0"/>
              </a:rPr>
              <a:t>Superračunala u filmskoj industriji</a:t>
            </a:r>
          </a:p>
        </p:txBody>
      </p:sp>
      <p:sp>
        <p:nvSpPr>
          <p:cNvPr id="3" name="Content Placeholder 2"/>
          <p:cNvSpPr>
            <a:spLocks noGrp="1"/>
          </p:cNvSpPr>
          <p:nvPr>
            <p:ph sz="quarter" idx="1"/>
          </p:nvPr>
        </p:nvSpPr>
        <p:spPr>
          <a:xfrm>
            <a:off x="1049454" y="2662356"/>
            <a:ext cx="4665546" cy="3057911"/>
          </a:xfrm>
        </p:spPr>
        <p:txBody>
          <a:bodyPr>
            <a:normAutofit lnSpcReduction="10000"/>
          </a:bodyPr>
          <a:lstStyle/>
          <a:p>
            <a:pPr>
              <a:lnSpc>
                <a:spcPct val="110000"/>
              </a:lnSpc>
            </a:pPr>
            <a:r>
              <a:rPr lang="hr-HR" sz="1400" b="1" dirty="0">
                <a:latin typeface="Arial" panose="020B0604020202020204" pitchFamily="34" charset="0"/>
                <a:cs typeface="Arial" panose="020B0604020202020204" pitchFamily="34" charset="0"/>
              </a:rPr>
              <a:t>2. </a:t>
            </a:r>
            <a:r>
              <a:rPr lang="hr-HR" sz="1400" b="1" dirty="0" err="1">
                <a:latin typeface="Arial" panose="020B0604020202020204" pitchFamily="34" charset="0"/>
                <a:cs typeface="Arial" panose="020B0604020202020204" pitchFamily="34" charset="0"/>
              </a:rPr>
              <a:t>Pixar</a:t>
            </a:r>
            <a:r>
              <a:rPr lang="hr-HR" sz="1400" b="1" dirty="0">
                <a:latin typeface="Arial" panose="020B0604020202020204" pitchFamily="34" charset="0"/>
                <a:cs typeface="Arial" panose="020B0604020202020204" pitchFamily="34" charset="0"/>
              </a:rPr>
              <a:t> (</a:t>
            </a:r>
            <a:r>
              <a:rPr lang="hr-HR" sz="1400" b="1" dirty="0" err="1">
                <a:latin typeface="Arial" panose="020B0604020202020204" pitchFamily="34" charset="0"/>
                <a:cs typeface="Arial" panose="020B0604020202020204" pitchFamily="34" charset="0"/>
              </a:rPr>
              <a:t>RenderMan</a:t>
            </a:r>
            <a:r>
              <a:rPr lang="hr-HR" sz="1400" b="1" dirty="0">
                <a:latin typeface="Arial" panose="020B0604020202020204" pitchFamily="34" charset="0"/>
                <a:cs typeface="Arial" panose="020B0604020202020204" pitchFamily="34" charset="0"/>
              </a:rPr>
              <a:t> i </a:t>
            </a:r>
            <a:r>
              <a:rPr lang="hr-HR" sz="1400" b="1" dirty="0" err="1">
                <a:latin typeface="Arial" panose="020B0604020202020204" pitchFamily="34" charset="0"/>
                <a:cs typeface="Arial" panose="020B0604020202020204" pitchFamily="34" charset="0"/>
              </a:rPr>
              <a:t>custom</a:t>
            </a:r>
            <a:r>
              <a:rPr lang="hr-HR" sz="1400" b="1" dirty="0">
                <a:latin typeface="Arial" panose="020B0604020202020204" pitchFamily="34" charset="0"/>
                <a:cs typeface="Arial" panose="020B0604020202020204" pitchFamily="34" charset="0"/>
              </a:rPr>
              <a:t> </a:t>
            </a:r>
            <a:r>
              <a:rPr lang="hr-HR" sz="1400" b="1" dirty="0" err="1">
                <a:latin typeface="Arial" panose="020B0604020202020204" pitchFamily="34" charset="0"/>
                <a:cs typeface="Arial" panose="020B0604020202020204" pitchFamily="34" charset="0"/>
              </a:rPr>
              <a:t>render</a:t>
            </a:r>
            <a:r>
              <a:rPr lang="hr-HR" sz="1400" b="1" dirty="0">
                <a:latin typeface="Arial" panose="020B0604020202020204" pitchFamily="34" charset="0"/>
                <a:cs typeface="Arial" panose="020B0604020202020204" pitchFamily="34" charset="0"/>
              </a:rPr>
              <a:t> </a:t>
            </a:r>
            <a:r>
              <a:rPr lang="hr-HR" sz="1400" b="1" dirty="0" err="1">
                <a:latin typeface="Arial" panose="020B0604020202020204" pitchFamily="34" charset="0"/>
                <a:cs typeface="Arial" panose="020B0604020202020204" pitchFamily="34" charset="0"/>
              </a:rPr>
              <a:t>farm</a:t>
            </a:r>
            <a:r>
              <a:rPr lang="hr-HR" sz="1400" b="1" dirty="0">
                <a:latin typeface="Arial" panose="020B0604020202020204" pitchFamily="34" charset="0"/>
                <a:cs typeface="Arial" panose="020B0604020202020204" pitchFamily="34" charset="0"/>
              </a:rPr>
              <a:t>)</a:t>
            </a:r>
          </a:p>
          <a:p>
            <a:pPr>
              <a:lnSpc>
                <a:spcPct val="110000"/>
              </a:lnSpc>
            </a:pPr>
            <a:r>
              <a:rPr lang="hr-HR" sz="1400" b="1" dirty="0">
                <a:latin typeface="Arial" panose="020B0604020202020204" pitchFamily="34" charset="0"/>
                <a:cs typeface="Arial" panose="020B0604020202020204" pitchFamily="34" charset="0"/>
              </a:rPr>
              <a:t>Primjena</a:t>
            </a:r>
            <a:r>
              <a:rPr lang="hr-HR" sz="1400" dirty="0">
                <a:latin typeface="Arial" panose="020B0604020202020204" pitchFamily="34" charset="0"/>
                <a:cs typeface="Arial" panose="020B0604020202020204" pitchFamily="34" charset="0"/>
              </a:rPr>
              <a:t>: </a:t>
            </a:r>
            <a:r>
              <a:rPr lang="hr-HR" sz="1400" dirty="0" err="1">
                <a:latin typeface="Arial" panose="020B0604020202020204" pitchFamily="34" charset="0"/>
                <a:cs typeface="Arial" panose="020B0604020202020204" pitchFamily="34" charset="0"/>
              </a:rPr>
              <a:t>Pixar</a:t>
            </a:r>
            <a:r>
              <a:rPr lang="hr-HR" sz="1400" dirty="0">
                <a:latin typeface="Arial" panose="020B0604020202020204" pitchFamily="34" charset="0"/>
                <a:cs typeface="Arial" panose="020B0604020202020204" pitchFamily="34" charset="0"/>
              </a:rPr>
              <a:t> koristi vlastitu tehnologiju i infrastrukturu za renderiranje filmova kao što su </a:t>
            </a:r>
            <a:r>
              <a:rPr lang="hr-HR" sz="1400" i="1" dirty="0" err="1">
                <a:latin typeface="Arial" panose="020B0604020202020204" pitchFamily="34" charset="0"/>
                <a:cs typeface="Arial" panose="020B0604020202020204" pitchFamily="34" charset="0"/>
              </a:rPr>
              <a:t>Toy</a:t>
            </a:r>
            <a:r>
              <a:rPr lang="hr-HR" sz="1400" i="1" dirty="0">
                <a:latin typeface="Arial" panose="020B0604020202020204" pitchFamily="34" charset="0"/>
                <a:cs typeface="Arial" panose="020B0604020202020204" pitchFamily="34" charset="0"/>
              </a:rPr>
              <a:t> Story</a:t>
            </a:r>
            <a:r>
              <a:rPr lang="hr-HR" sz="1400" dirty="0">
                <a:latin typeface="Arial" panose="020B0604020202020204" pitchFamily="34" charset="0"/>
                <a:cs typeface="Arial" panose="020B0604020202020204" pitchFamily="34" charset="0"/>
              </a:rPr>
              <a:t>, </a:t>
            </a:r>
            <a:r>
              <a:rPr lang="hr-HR" sz="1400" i="1" dirty="0" err="1">
                <a:latin typeface="Arial" panose="020B0604020202020204" pitchFamily="34" charset="0"/>
                <a:cs typeface="Arial" panose="020B0604020202020204" pitchFamily="34" charset="0"/>
              </a:rPr>
              <a:t>Finding</a:t>
            </a:r>
            <a:r>
              <a:rPr lang="hr-HR" sz="1400" i="1" dirty="0">
                <a:latin typeface="Arial" panose="020B0604020202020204" pitchFamily="34" charset="0"/>
                <a:cs typeface="Arial" panose="020B0604020202020204" pitchFamily="34" charset="0"/>
              </a:rPr>
              <a:t> Nemo</a:t>
            </a:r>
            <a:r>
              <a:rPr lang="hr-HR" sz="1400" dirty="0">
                <a:latin typeface="Arial" panose="020B0604020202020204" pitchFamily="34" charset="0"/>
                <a:cs typeface="Arial" panose="020B0604020202020204" pitchFamily="34" charset="0"/>
              </a:rPr>
              <a:t>, </a:t>
            </a:r>
            <a:r>
              <a:rPr lang="hr-HR" sz="1400" i="1" dirty="0">
                <a:latin typeface="Arial" panose="020B0604020202020204" pitchFamily="34" charset="0"/>
                <a:cs typeface="Arial" panose="020B0604020202020204" pitchFamily="34" charset="0"/>
              </a:rPr>
              <a:t>Coco</a:t>
            </a:r>
            <a:r>
              <a:rPr lang="hr-HR" sz="1400" dirty="0">
                <a:latin typeface="Arial" panose="020B0604020202020204" pitchFamily="34" charset="0"/>
                <a:cs typeface="Arial" panose="020B0604020202020204" pitchFamily="34" charset="0"/>
              </a:rPr>
              <a:t> i </a:t>
            </a:r>
            <a:r>
              <a:rPr lang="hr-HR" sz="1400" i="1" dirty="0">
                <a:latin typeface="Arial" panose="020B0604020202020204" pitchFamily="34" charset="0"/>
                <a:cs typeface="Arial" panose="020B0604020202020204" pitchFamily="34" charset="0"/>
              </a:rPr>
              <a:t>Soul</a:t>
            </a:r>
            <a:r>
              <a:rPr lang="hr-HR" sz="1400" dirty="0">
                <a:latin typeface="Arial" panose="020B0604020202020204" pitchFamily="34" charset="0"/>
                <a:cs typeface="Arial" panose="020B0604020202020204" pitchFamily="34" charset="0"/>
              </a:rPr>
              <a:t>.</a:t>
            </a:r>
          </a:p>
          <a:p>
            <a:pPr>
              <a:lnSpc>
                <a:spcPct val="110000"/>
              </a:lnSpc>
            </a:pPr>
            <a:r>
              <a:rPr lang="hr-HR" sz="1400" b="1" dirty="0" err="1">
                <a:latin typeface="Arial" panose="020B0604020202020204" pitchFamily="34" charset="0"/>
                <a:cs typeface="Arial" panose="020B0604020202020204" pitchFamily="34" charset="0"/>
              </a:rPr>
              <a:t>RenderMan</a:t>
            </a:r>
            <a:r>
              <a:rPr lang="hr-HR" sz="1400" dirty="0">
                <a:latin typeface="Arial" panose="020B0604020202020204" pitchFamily="34" charset="0"/>
                <a:cs typeface="Arial" panose="020B0604020202020204" pitchFamily="34" charset="0"/>
              </a:rPr>
              <a:t>: </a:t>
            </a:r>
            <a:r>
              <a:rPr lang="hr-HR" sz="1400" dirty="0" err="1">
                <a:latin typeface="Arial" panose="020B0604020202020204" pitchFamily="34" charset="0"/>
                <a:cs typeface="Arial" panose="020B0604020202020204" pitchFamily="34" charset="0"/>
              </a:rPr>
              <a:t>Pixarov</a:t>
            </a:r>
            <a:r>
              <a:rPr lang="hr-HR" sz="1400" dirty="0">
                <a:latin typeface="Arial" panose="020B0604020202020204" pitchFamily="34" charset="0"/>
                <a:cs typeface="Arial" panose="020B0604020202020204" pitchFamily="34" charset="0"/>
              </a:rPr>
              <a:t> softver za renderiranje, </a:t>
            </a:r>
            <a:r>
              <a:rPr lang="hr-HR" sz="1400" dirty="0" err="1">
                <a:latin typeface="Arial" panose="020B0604020202020204" pitchFamily="34" charset="0"/>
                <a:cs typeface="Arial" panose="020B0604020202020204" pitchFamily="34" charset="0"/>
              </a:rPr>
              <a:t>RenderMan</a:t>
            </a:r>
            <a:r>
              <a:rPr lang="hr-HR" sz="1400" dirty="0">
                <a:latin typeface="Arial" panose="020B0604020202020204" pitchFamily="34" charset="0"/>
                <a:cs typeface="Arial" panose="020B0604020202020204" pitchFamily="34" charset="0"/>
              </a:rPr>
              <a:t>, koristi se na njihovim računalnim farmama koje funkcioniraju kao superračunala. Ova </a:t>
            </a:r>
            <a:r>
              <a:rPr lang="hr-HR" sz="1400" dirty="0" err="1">
                <a:latin typeface="Arial" panose="020B0604020202020204" pitchFamily="34" charset="0"/>
                <a:cs typeface="Arial" panose="020B0604020202020204" pitchFamily="34" charset="0"/>
              </a:rPr>
              <a:t>render</a:t>
            </a:r>
            <a:r>
              <a:rPr lang="hr-HR" sz="1400" dirty="0">
                <a:latin typeface="Arial" panose="020B0604020202020204" pitchFamily="34" charset="0"/>
                <a:cs typeface="Arial" panose="020B0604020202020204" pitchFamily="34" charset="0"/>
              </a:rPr>
              <a:t> farma omogućuje ubrzani proces renderiranja složenih scena sa CGI likovima i animacijama.</a:t>
            </a:r>
          </a:p>
          <a:p>
            <a:pPr>
              <a:lnSpc>
                <a:spcPct val="110000"/>
              </a:lnSpc>
            </a:pPr>
            <a:r>
              <a:rPr lang="hr-HR" sz="1400" b="1" dirty="0">
                <a:latin typeface="Arial" panose="020B0604020202020204" pitchFamily="34" charset="0"/>
                <a:cs typeface="Arial" panose="020B0604020202020204" pitchFamily="34" charset="0"/>
              </a:rPr>
              <a:t>Zanimljivost</a:t>
            </a:r>
            <a:r>
              <a:rPr lang="hr-HR" sz="1400" dirty="0">
                <a:latin typeface="Arial" panose="020B0604020202020204" pitchFamily="34" charset="0"/>
                <a:cs typeface="Arial" panose="020B0604020202020204" pitchFamily="34" charset="0"/>
              </a:rPr>
              <a:t>: </a:t>
            </a:r>
            <a:r>
              <a:rPr lang="hr-HR" sz="1400" dirty="0" err="1">
                <a:latin typeface="Arial" panose="020B0604020202020204" pitchFamily="34" charset="0"/>
                <a:cs typeface="Arial" panose="020B0604020202020204" pitchFamily="34" charset="0"/>
              </a:rPr>
              <a:t>Pixar</a:t>
            </a:r>
            <a:r>
              <a:rPr lang="hr-HR" sz="1400" dirty="0">
                <a:latin typeface="Arial" panose="020B0604020202020204" pitchFamily="34" charset="0"/>
                <a:cs typeface="Arial" panose="020B0604020202020204" pitchFamily="34" charset="0"/>
              </a:rPr>
              <a:t> je jedan od pionira u korištenju </a:t>
            </a:r>
            <a:r>
              <a:rPr lang="hr-HR" sz="1400" dirty="0" err="1">
                <a:latin typeface="Arial" panose="020B0604020202020204" pitchFamily="34" charset="0"/>
                <a:cs typeface="Arial" panose="020B0604020202020204" pitchFamily="34" charset="0"/>
              </a:rPr>
              <a:t>superračunalnih</a:t>
            </a:r>
            <a:r>
              <a:rPr lang="hr-HR" sz="1400" dirty="0">
                <a:latin typeface="Arial" panose="020B0604020202020204" pitchFamily="34" charset="0"/>
                <a:cs typeface="Arial" panose="020B0604020202020204" pitchFamily="34" charset="0"/>
              </a:rPr>
              <a:t> sustava za računalno generiranu animaciju (CGI).</a:t>
            </a:r>
          </a:p>
          <a:p>
            <a:pPr>
              <a:lnSpc>
                <a:spcPct val="110000"/>
              </a:lnSpc>
            </a:pPr>
            <a:endParaRPr lang="hr-HR" sz="1100" dirty="0"/>
          </a:p>
        </p:txBody>
      </p:sp>
      <p:cxnSp>
        <p:nvCxnSpPr>
          <p:cNvPr id="3083" name="Straight Connector 3082">
            <a:extLst>
              <a:ext uri="{FF2B5EF4-FFF2-40B4-BE49-F238E27FC236}">
                <a16:creationId xmlns:a16="http://schemas.microsoft.com/office/drawing/2014/main" id="{62713E66-598D-4B8A-9D2A-67C7AF46EF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5673" y="979075"/>
            <a:ext cx="0" cy="507492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436467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93149" y="1371600"/>
            <a:ext cx="5737859" cy="1097280"/>
          </a:xfrm>
        </p:spPr>
        <p:txBody>
          <a:bodyPr>
            <a:normAutofit/>
          </a:bodyPr>
          <a:lstStyle/>
          <a:p>
            <a:pPr>
              <a:lnSpc>
                <a:spcPct val="90000"/>
              </a:lnSpc>
            </a:pPr>
            <a:r>
              <a:rPr lang="hr-HR" sz="3400">
                <a:latin typeface="Arial" charset="0"/>
              </a:rPr>
              <a:t>Superračunala u filmskoj industriji</a:t>
            </a:r>
          </a:p>
        </p:txBody>
      </p:sp>
      <p:sp>
        <p:nvSpPr>
          <p:cNvPr id="3" name="Content Placeholder 2"/>
          <p:cNvSpPr>
            <a:spLocks noGrp="1"/>
          </p:cNvSpPr>
          <p:nvPr>
            <p:ph sz="quarter" idx="1"/>
          </p:nvPr>
        </p:nvSpPr>
        <p:spPr>
          <a:xfrm>
            <a:off x="5793149" y="2633236"/>
            <a:ext cx="5737860" cy="3666980"/>
          </a:xfrm>
        </p:spPr>
        <p:txBody>
          <a:bodyPr>
            <a:noAutofit/>
          </a:bodyPr>
          <a:lstStyle/>
          <a:p>
            <a:pPr>
              <a:lnSpc>
                <a:spcPct val="110000"/>
              </a:lnSpc>
            </a:pPr>
            <a:r>
              <a:rPr lang="hr-HR" sz="1600" b="1" dirty="0">
                <a:latin typeface="Arial" panose="020B0604020202020204" pitchFamily="34" charset="0"/>
                <a:cs typeface="Arial" panose="020B0604020202020204" pitchFamily="34" charset="0"/>
              </a:rPr>
              <a:t>3. </a:t>
            </a:r>
            <a:r>
              <a:rPr lang="hr-HR" sz="1600" b="1" dirty="0" err="1">
                <a:latin typeface="Arial" panose="020B0604020202020204" pitchFamily="34" charset="0"/>
                <a:cs typeface="Arial" panose="020B0604020202020204" pitchFamily="34" charset="0"/>
              </a:rPr>
              <a:t>Industrial</a:t>
            </a:r>
            <a:r>
              <a:rPr lang="hr-HR" sz="1600" b="1" dirty="0">
                <a:latin typeface="Arial" panose="020B0604020202020204" pitchFamily="34" charset="0"/>
                <a:cs typeface="Arial" panose="020B0604020202020204" pitchFamily="34" charset="0"/>
              </a:rPr>
              <a:t> </a:t>
            </a:r>
            <a:r>
              <a:rPr lang="hr-HR" sz="1600" b="1" dirty="0" err="1">
                <a:latin typeface="Arial" panose="020B0604020202020204" pitchFamily="34" charset="0"/>
                <a:cs typeface="Arial" panose="020B0604020202020204" pitchFamily="34" charset="0"/>
              </a:rPr>
              <a:t>Light</a:t>
            </a:r>
            <a:r>
              <a:rPr lang="hr-HR" sz="1600" b="1" dirty="0">
                <a:latin typeface="Arial" panose="020B0604020202020204" pitchFamily="34" charset="0"/>
                <a:cs typeface="Arial" panose="020B0604020202020204" pitchFamily="34" charset="0"/>
              </a:rPr>
              <a:t> &amp; </a:t>
            </a:r>
            <a:r>
              <a:rPr lang="hr-HR" sz="1600" b="1" dirty="0" err="1">
                <a:latin typeface="Arial" panose="020B0604020202020204" pitchFamily="34" charset="0"/>
                <a:cs typeface="Arial" panose="020B0604020202020204" pitchFamily="34" charset="0"/>
              </a:rPr>
              <a:t>Magic</a:t>
            </a:r>
            <a:r>
              <a:rPr lang="hr-HR" sz="1600" b="1" dirty="0">
                <a:latin typeface="Arial" panose="020B0604020202020204" pitchFamily="34" charset="0"/>
                <a:cs typeface="Arial" panose="020B0604020202020204" pitchFamily="34" charset="0"/>
              </a:rPr>
              <a:t> (ILM)</a:t>
            </a:r>
          </a:p>
          <a:p>
            <a:pPr>
              <a:lnSpc>
                <a:spcPct val="110000"/>
              </a:lnSpc>
            </a:pPr>
            <a:r>
              <a:rPr lang="hr-HR" sz="1600" b="1" dirty="0">
                <a:latin typeface="Arial" panose="020B0604020202020204" pitchFamily="34" charset="0"/>
                <a:cs typeface="Arial" panose="020B0604020202020204" pitchFamily="34" charset="0"/>
              </a:rPr>
              <a:t>Primjena</a:t>
            </a:r>
            <a:r>
              <a:rPr lang="hr-HR" sz="1600" dirty="0">
                <a:latin typeface="Arial" panose="020B0604020202020204" pitchFamily="34" charset="0"/>
                <a:cs typeface="Arial" panose="020B0604020202020204" pitchFamily="34" charset="0"/>
              </a:rPr>
              <a:t>: ILM, koja je dio </a:t>
            </a:r>
            <a:r>
              <a:rPr lang="hr-HR" sz="1600" dirty="0" err="1">
                <a:latin typeface="Arial" panose="020B0604020202020204" pitchFamily="34" charset="0"/>
                <a:cs typeface="Arial" panose="020B0604020202020204" pitchFamily="34" charset="0"/>
              </a:rPr>
              <a:t>Lucasfilma</a:t>
            </a:r>
            <a:r>
              <a:rPr lang="hr-HR" sz="1600" dirty="0">
                <a:latin typeface="Arial" panose="020B0604020202020204" pitchFamily="34" charset="0"/>
                <a:cs typeface="Arial" panose="020B0604020202020204" pitchFamily="34" charset="0"/>
              </a:rPr>
              <a:t>, koristi superračunala za stvaranje specijalnih efekata u </a:t>
            </a:r>
            <a:r>
              <a:rPr lang="hr-HR" sz="1600" dirty="0" err="1">
                <a:latin typeface="Arial" panose="020B0604020202020204" pitchFamily="34" charset="0"/>
                <a:cs typeface="Arial" panose="020B0604020202020204" pitchFamily="34" charset="0"/>
              </a:rPr>
              <a:t>blockbusterima</a:t>
            </a:r>
            <a:r>
              <a:rPr lang="hr-HR" sz="1600" dirty="0">
                <a:latin typeface="Arial" panose="020B0604020202020204" pitchFamily="34" charset="0"/>
                <a:cs typeface="Arial" panose="020B0604020202020204" pitchFamily="34" charset="0"/>
              </a:rPr>
              <a:t> kao što su </a:t>
            </a:r>
            <a:r>
              <a:rPr lang="hr-HR" sz="1600" i="1" dirty="0">
                <a:latin typeface="Arial" panose="020B0604020202020204" pitchFamily="34" charset="0"/>
                <a:cs typeface="Arial" panose="020B0604020202020204" pitchFamily="34" charset="0"/>
              </a:rPr>
              <a:t>Star </a:t>
            </a:r>
            <a:r>
              <a:rPr lang="hr-HR" sz="1600" i="1" dirty="0" err="1">
                <a:latin typeface="Arial" panose="020B0604020202020204" pitchFamily="34" charset="0"/>
                <a:cs typeface="Arial" panose="020B0604020202020204" pitchFamily="34" charset="0"/>
              </a:rPr>
              <a:t>Wars</a:t>
            </a:r>
            <a:r>
              <a:rPr lang="hr-HR" sz="1600" dirty="0">
                <a:latin typeface="Arial" panose="020B0604020202020204" pitchFamily="34" charset="0"/>
                <a:cs typeface="Arial" panose="020B0604020202020204" pitchFamily="34" charset="0"/>
              </a:rPr>
              <a:t>, </a:t>
            </a:r>
            <a:r>
              <a:rPr lang="hr-HR" sz="1600" i="1" dirty="0" err="1">
                <a:latin typeface="Arial" panose="020B0604020202020204" pitchFamily="34" charset="0"/>
                <a:cs typeface="Arial" panose="020B0604020202020204" pitchFamily="34" charset="0"/>
              </a:rPr>
              <a:t>Jurassic</a:t>
            </a:r>
            <a:r>
              <a:rPr lang="hr-HR" sz="1600" i="1" dirty="0">
                <a:latin typeface="Arial" panose="020B0604020202020204" pitchFamily="34" charset="0"/>
                <a:cs typeface="Arial" panose="020B0604020202020204" pitchFamily="34" charset="0"/>
              </a:rPr>
              <a:t> Park</a:t>
            </a:r>
            <a:r>
              <a:rPr lang="hr-HR" sz="1600" dirty="0">
                <a:latin typeface="Arial" panose="020B0604020202020204" pitchFamily="34" charset="0"/>
                <a:cs typeface="Arial" panose="020B0604020202020204" pitchFamily="34" charset="0"/>
              </a:rPr>
              <a:t>, </a:t>
            </a:r>
            <a:r>
              <a:rPr lang="hr-HR" sz="1600" i="1" dirty="0" err="1">
                <a:latin typeface="Arial" panose="020B0604020202020204" pitchFamily="34" charset="0"/>
                <a:cs typeface="Arial" panose="020B0604020202020204" pitchFamily="34" charset="0"/>
              </a:rPr>
              <a:t>The</a:t>
            </a:r>
            <a:r>
              <a:rPr lang="hr-HR" sz="1600" i="1" dirty="0">
                <a:latin typeface="Arial" panose="020B0604020202020204" pitchFamily="34" charset="0"/>
                <a:cs typeface="Arial" panose="020B0604020202020204" pitchFamily="34" charset="0"/>
              </a:rPr>
              <a:t> </a:t>
            </a:r>
            <a:r>
              <a:rPr lang="hr-HR" sz="1600" i="1" dirty="0" err="1">
                <a:latin typeface="Arial" panose="020B0604020202020204" pitchFamily="34" charset="0"/>
                <a:cs typeface="Arial" panose="020B0604020202020204" pitchFamily="34" charset="0"/>
              </a:rPr>
              <a:t>Avengers</a:t>
            </a:r>
            <a:r>
              <a:rPr lang="hr-HR" sz="1600" dirty="0">
                <a:latin typeface="Arial" panose="020B0604020202020204" pitchFamily="34" charset="0"/>
                <a:cs typeface="Arial" panose="020B0604020202020204" pitchFamily="34" charset="0"/>
              </a:rPr>
              <a:t> i </a:t>
            </a:r>
            <a:r>
              <a:rPr lang="hr-HR" sz="1600" i="1" dirty="0" err="1">
                <a:latin typeface="Arial" panose="020B0604020202020204" pitchFamily="34" charset="0"/>
                <a:cs typeface="Arial" panose="020B0604020202020204" pitchFamily="34" charset="0"/>
              </a:rPr>
              <a:t>Pirates</a:t>
            </a:r>
            <a:r>
              <a:rPr lang="hr-HR" sz="1600" i="1" dirty="0">
                <a:latin typeface="Arial" panose="020B0604020202020204" pitchFamily="34" charset="0"/>
                <a:cs typeface="Arial" panose="020B0604020202020204" pitchFamily="34" charset="0"/>
              </a:rPr>
              <a:t> </a:t>
            </a:r>
            <a:r>
              <a:rPr lang="hr-HR" sz="1600" i="1" dirty="0" err="1">
                <a:latin typeface="Arial" panose="020B0604020202020204" pitchFamily="34" charset="0"/>
                <a:cs typeface="Arial" panose="020B0604020202020204" pitchFamily="34" charset="0"/>
              </a:rPr>
              <a:t>of</a:t>
            </a:r>
            <a:r>
              <a:rPr lang="hr-HR" sz="1600" i="1" dirty="0">
                <a:latin typeface="Arial" panose="020B0604020202020204" pitchFamily="34" charset="0"/>
                <a:cs typeface="Arial" panose="020B0604020202020204" pitchFamily="34" charset="0"/>
              </a:rPr>
              <a:t> </a:t>
            </a:r>
            <a:r>
              <a:rPr lang="hr-HR" sz="1600" i="1" dirty="0" err="1">
                <a:latin typeface="Arial" panose="020B0604020202020204" pitchFamily="34" charset="0"/>
                <a:cs typeface="Arial" panose="020B0604020202020204" pitchFamily="34" charset="0"/>
              </a:rPr>
              <a:t>the</a:t>
            </a:r>
            <a:r>
              <a:rPr lang="hr-HR" sz="1600" i="1" dirty="0">
                <a:latin typeface="Arial" panose="020B0604020202020204" pitchFamily="34" charset="0"/>
                <a:cs typeface="Arial" panose="020B0604020202020204" pitchFamily="34" charset="0"/>
              </a:rPr>
              <a:t> </a:t>
            </a:r>
            <a:r>
              <a:rPr lang="hr-HR" sz="1600" i="1" dirty="0" err="1">
                <a:latin typeface="Arial" panose="020B0604020202020204" pitchFamily="34" charset="0"/>
                <a:cs typeface="Arial" panose="020B0604020202020204" pitchFamily="34" charset="0"/>
              </a:rPr>
              <a:t>Caribbean</a:t>
            </a:r>
            <a:r>
              <a:rPr lang="hr-HR" sz="1600" dirty="0">
                <a:latin typeface="Arial" panose="020B0604020202020204" pitchFamily="34" charset="0"/>
                <a:cs typeface="Arial" panose="020B0604020202020204" pitchFamily="34" charset="0"/>
              </a:rPr>
              <a:t>.</a:t>
            </a:r>
          </a:p>
          <a:p>
            <a:pPr>
              <a:lnSpc>
                <a:spcPct val="110000"/>
              </a:lnSpc>
            </a:pPr>
            <a:r>
              <a:rPr lang="hr-HR" sz="1600" b="1" dirty="0">
                <a:latin typeface="Arial" panose="020B0604020202020204" pitchFamily="34" charset="0"/>
                <a:cs typeface="Arial" panose="020B0604020202020204" pitchFamily="34" charset="0"/>
              </a:rPr>
              <a:t>Računalni sustavi</a:t>
            </a:r>
            <a:r>
              <a:rPr lang="hr-HR" sz="1600" dirty="0">
                <a:latin typeface="Arial" panose="020B0604020202020204" pitchFamily="34" charset="0"/>
                <a:cs typeface="Arial" panose="020B0604020202020204" pitchFamily="34" charset="0"/>
              </a:rPr>
              <a:t>: ILM koristi velike "</a:t>
            </a:r>
            <a:r>
              <a:rPr lang="hr-HR" sz="1600" dirty="0" err="1">
                <a:latin typeface="Arial" panose="020B0604020202020204" pitchFamily="34" charset="0"/>
                <a:cs typeface="Arial" panose="020B0604020202020204" pitchFamily="34" charset="0"/>
              </a:rPr>
              <a:t>render</a:t>
            </a:r>
            <a:r>
              <a:rPr lang="hr-HR" sz="1600" dirty="0">
                <a:latin typeface="Arial" panose="020B0604020202020204" pitchFamily="34" charset="0"/>
                <a:cs typeface="Arial" panose="020B0604020202020204" pitchFamily="34" charset="0"/>
              </a:rPr>
              <a:t> farme" koje su sastavljene od tisuća računala povezanih u mrežu, djelujući kao superračunalo za brzi rad na kompleksnim efektima.</a:t>
            </a:r>
          </a:p>
          <a:p>
            <a:pPr>
              <a:lnSpc>
                <a:spcPct val="110000"/>
              </a:lnSpc>
            </a:pPr>
            <a:r>
              <a:rPr lang="hr-HR" sz="1600" b="1" dirty="0">
                <a:latin typeface="Arial" panose="020B0604020202020204" pitchFamily="34" charset="0"/>
                <a:cs typeface="Arial" panose="020B0604020202020204" pitchFamily="34" charset="0"/>
              </a:rPr>
              <a:t>Zanimljivost</a:t>
            </a:r>
            <a:r>
              <a:rPr lang="hr-HR" sz="1600" dirty="0">
                <a:latin typeface="Arial" panose="020B0604020202020204" pitchFamily="34" charset="0"/>
                <a:cs typeface="Arial" panose="020B0604020202020204" pitchFamily="34" charset="0"/>
              </a:rPr>
              <a:t>: ILM je razvila inovativne tehnike za CGI i digitalne efekte, uključujući pionirski rad na stvaranju digitalnih dvojnika i virtualnih okruženja.</a:t>
            </a:r>
          </a:p>
          <a:p>
            <a:pPr>
              <a:lnSpc>
                <a:spcPct val="110000"/>
              </a:lnSpc>
            </a:pPr>
            <a:endParaRPr lang="hr-HR" sz="1600" dirty="0"/>
          </a:p>
        </p:txBody>
      </p:sp>
      <p:pic>
        <p:nvPicPr>
          <p:cNvPr id="4098" name="Picture 2" descr="Lucasfilm">
            <a:extLst>
              <a:ext uri="{FF2B5EF4-FFF2-40B4-BE49-F238E27FC236}">
                <a16:creationId xmlns:a16="http://schemas.microsoft.com/office/drawing/2014/main" id="{14A000E3-C8F1-E65F-BA0B-33538378E15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3232" y="1956816"/>
            <a:ext cx="4343400" cy="4343400"/>
          </a:xfrm>
          <a:prstGeom prst="rect">
            <a:avLst/>
          </a:prstGeom>
          <a:noFill/>
          <a:extLst>
            <a:ext uri="{909E8E84-426E-40DD-AFC4-6F175D3DCCD1}">
              <a14:hiddenFill xmlns:a14="http://schemas.microsoft.com/office/drawing/2010/main">
                <a:solidFill>
                  <a:srgbClr val="FFFFFF"/>
                </a:solidFill>
              </a14:hiddenFill>
            </a:ext>
          </a:extLst>
        </p:spPr>
      </p:pic>
      <p:cxnSp>
        <p:nvCxnSpPr>
          <p:cNvPr id="4105" name="Straight Connector 4104">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979049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4" name="Rectangle 5133">
            <a:extLst>
              <a:ext uri="{FF2B5EF4-FFF2-40B4-BE49-F238E27FC236}">
                <a16:creationId xmlns:a16="http://schemas.microsoft.com/office/drawing/2014/main" id="{89BBA96D-760C-44C0-B94F-3FDC8357B2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DreamWorks Animation | GreatestMovies Wiki | Fandom">
            <a:extLst>
              <a:ext uri="{FF2B5EF4-FFF2-40B4-BE49-F238E27FC236}">
                <a16:creationId xmlns:a16="http://schemas.microsoft.com/office/drawing/2014/main" id="{00B2DD3B-9CFB-1C25-9EF8-8765E1EB3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useBgFill="1">
        <p:nvSpPr>
          <p:cNvPr id="5136" name="Rectangle 5135">
            <a:extLst>
              <a:ext uri="{FF2B5EF4-FFF2-40B4-BE49-F238E27FC236}">
                <a16:creationId xmlns:a16="http://schemas.microsoft.com/office/drawing/2014/main" id="{EAA5F1BF-F733-47EA-A79A-01F3AD5A79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0600" y="1071435"/>
            <a:ext cx="10208830" cy="47197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61863" y="1584797"/>
            <a:ext cx="3305701" cy="3584187"/>
          </a:xfrm>
        </p:spPr>
        <p:txBody>
          <a:bodyPr>
            <a:normAutofit/>
          </a:bodyPr>
          <a:lstStyle/>
          <a:p>
            <a:r>
              <a:rPr lang="hr-HR" sz="3300">
                <a:latin typeface="Arial" charset="0"/>
              </a:rPr>
              <a:t>Superračunala u filmskoj industriji</a:t>
            </a:r>
          </a:p>
        </p:txBody>
      </p:sp>
      <p:sp>
        <p:nvSpPr>
          <p:cNvPr id="3" name="Content Placeholder 2"/>
          <p:cNvSpPr>
            <a:spLocks noGrp="1"/>
          </p:cNvSpPr>
          <p:nvPr>
            <p:ph sz="quarter" idx="1"/>
          </p:nvPr>
        </p:nvSpPr>
        <p:spPr>
          <a:xfrm>
            <a:off x="5337314" y="1278199"/>
            <a:ext cx="5214006" cy="4247530"/>
          </a:xfrm>
        </p:spPr>
        <p:txBody>
          <a:bodyPr>
            <a:normAutofit/>
          </a:bodyPr>
          <a:lstStyle/>
          <a:p>
            <a:pPr>
              <a:lnSpc>
                <a:spcPct val="110000"/>
              </a:lnSpc>
            </a:pPr>
            <a:r>
              <a:rPr lang="hr-HR" sz="1600" b="1" dirty="0">
                <a:latin typeface="Arial" panose="020B0604020202020204" pitchFamily="34" charset="0"/>
                <a:cs typeface="Arial" panose="020B0604020202020204" pitchFamily="34" charset="0"/>
              </a:rPr>
              <a:t>4. </a:t>
            </a:r>
            <a:r>
              <a:rPr lang="hr-HR" sz="1600" b="1" dirty="0" err="1">
                <a:latin typeface="Arial" panose="020B0604020202020204" pitchFamily="34" charset="0"/>
                <a:cs typeface="Arial" panose="020B0604020202020204" pitchFamily="34" charset="0"/>
              </a:rPr>
              <a:t>DreamWorks</a:t>
            </a:r>
            <a:r>
              <a:rPr lang="hr-HR" sz="1600" b="1" dirty="0">
                <a:latin typeface="Arial" panose="020B0604020202020204" pitchFamily="34" charset="0"/>
                <a:cs typeface="Arial" panose="020B0604020202020204" pitchFamily="34" charset="0"/>
              </a:rPr>
              <a:t> </a:t>
            </a:r>
            <a:r>
              <a:rPr lang="hr-HR" sz="1600" b="1" dirty="0" err="1">
                <a:latin typeface="Arial" panose="020B0604020202020204" pitchFamily="34" charset="0"/>
                <a:cs typeface="Arial" panose="020B0604020202020204" pitchFamily="34" charset="0"/>
              </a:rPr>
              <a:t>Animation</a:t>
            </a:r>
            <a:r>
              <a:rPr lang="hr-HR" sz="1600" b="1" dirty="0">
                <a:latin typeface="Arial" panose="020B0604020202020204" pitchFamily="34" charset="0"/>
                <a:cs typeface="Arial" panose="020B0604020202020204" pitchFamily="34" charset="0"/>
              </a:rPr>
              <a:t> (HP Z800 </a:t>
            </a:r>
            <a:r>
              <a:rPr lang="hr-HR" sz="1600" b="1" dirty="0" err="1">
                <a:latin typeface="Arial" panose="020B0604020202020204" pitchFamily="34" charset="0"/>
                <a:cs typeface="Arial" panose="020B0604020202020204" pitchFamily="34" charset="0"/>
              </a:rPr>
              <a:t>Workstations</a:t>
            </a:r>
            <a:r>
              <a:rPr lang="hr-HR" sz="1600" b="1" dirty="0">
                <a:latin typeface="Arial" panose="020B0604020202020204" pitchFamily="34" charset="0"/>
                <a:cs typeface="Arial" panose="020B0604020202020204" pitchFamily="34" charset="0"/>
              </a:rPr>
              <a:t> </a:t>
            </a:r>
            <a:r>
              <a:rPr lang="hr-HR" sz="1600" b="1" dirty="0" err="1">
                <a:latin typeface="Arial" panose="020B0604020202020204" pitchFamily="34" charset="0"/>
                <a:cs typeface="Arial" panose="020B0604020202020204" pitchFamily="34" charset="0"/>
              </a:rPr>
              <a:t>and</a:t>
            </a:r>
            <a:r>
              <a:rPr lang="hr-HR" sz="1600" b="1" dirty="0">
                <a:latin typeface="Arial" panose="020B0604020202020204" pitchFamily="34" charset="0"/>
                <a:cs typeface="Arial" panose="020B0604020202020204" pitchFamily="34" charset="0"/>
              </a:rPr>
              <a:t> </a:t>
            </a:r>
            <a:r>
              <a:rPr lang="hr-HR" sz="1600" b="1" dirty="0" err="1">
                <a:latin typeface="Arial" panose="020B0604020202020204" pitchFamily="34" charset="0"/>
                <a:cs typeface="Arial" panose="020B0604020202020204" pitchFamily="34" charset="0"/>
              </a:rPr>
              <a:t>custom</a:t>
            </a:r>
            <a:r>
              <a:rPr lang="hr-HR" sz="1600" b="1" dirty="0">
                <a:latin typeface="Arial" panose="020B0604020202020204" pitchFamily="34" charset="0"/>
                <a:cs typeface="Arial" panose="020B0604020202020204" pitchFamily="34" charset="0"/>
              </a:rPr>
              <a:t> </a:t>
            </a:r>
            <a:r>
              <a:rPr lang="hr-HR" sz="1600" b="1" dirty="0" err="1">
                <a:latin typeface="Arial" panose="020B0604020202020204" pitchFamily="34" charset="0"/>
                <a:cs typeface="Arial" panose="020B0604020202020204" pitchFamily="34" charset="0"/>
              </a:rPr>
              <a:t>supercomputers</a:t>
            </a:r>
            <a:r>
              <a:rPr lang="hr-HR" sz="1600" b="1" dirty="0">
                <a:latin typeface="Arial" panose="020B0604020202020204" pitchFamily="34" charset="0"/>
                <a:cs typeface="Arial" panose="020B0604020202020204" pitchFamily="34" charset="0"/>
              </a:rPr>
              <a:t>)</a:t>
            </a:r>
          </a:p>
          <a:p>
            <a:pPr>
              <a:lnSpc>
                <a:spcPct val="110000"/>
              </a:lnSpc>
            </a:pPr>
            <a:r>
              <a:rPr lang="hr-HR" sz="1600" b="1" dirty="0">
                <a:latin typeface="Arial" panose="020B0604020202020204" pitchFamily="34" charset="0"/>
                <a:cs typeface="Arial" panose="020B0604020202020204" pitchFamily="34" charset="0"/>
              </a:rPr>
              <a:t>Primjena</a:t>
            </a:r>
            <a:r>
              <a:rPr lang="hr-HR" sz="1600" dirty="0">
                <a:latin typeface="Arial" panose="020B0604020202020204" pitchFamily="34" charset="0"/>
                <a:cs typeface="Arial" panose="020B0604020202020204" pitchFamily="34" charset="0"/>
              </a:rPr>
              <a:t>: </a:t>
            </a:r>
            <a:r>
              <a:rPr lang="hr-HR" sz="1600" dirty="0" err="1">
                <a:latin typeface="Arial" panose="020B0604020202020204" pitchFamily="34" charset="0"/>
                <a:cs typeface="Arial" panose="020B0604020202020204" pitchFamily="34" charset="0"/>
              </a:rPr>
              <a:t>DreamWorks</a:t>
            </a:r>
            <a:r>
              <a:rPr lang="hr-HR" sz="1600" dirty="0">
                <a:latin typeface="Arial" panose="020B0604020202020204" pitchFamily="34" charset="0"/>
                <a:cs typeface="Arial" panose="020B0604020202020204" pitchFamily="34" charset="0"/>
              </a:rPr>
              <a:t> je poznat po animiranim filmovima kao što su </a:t>
            </a:r>
            <a:r>
              <a:rPr lang="hr-HR" sz="1600" i="1" dirty="0" err="1">
                <a:latin typeface="Arial" panose="020B0604020202020204" pitchFamily="34" charset="0"/>
                <a:cs typeface="Arial" panose="020B0604020202020204" pitchFamily="34" charset="0"/>
              </a:rPr>
              <a:t>Shrek</a:t>
            </a:r>
            <a:r>
              <a:rPr lang="hr-HR" sz="1600" dirty="0">
                <a:latin typeface="Arial" panose="020B0604020202020204" pitchFamily="34" charset="0"/>
                <a:cs typeface="Arial" panose="020B0604020202020204" pitchFamily="34" charset="0"/>
              </a:rPr>
              <a:t>, </a:t>
            </a:r>
            <a:r>
              <a:rPr lang="hr-HR" sz="1600" i="1" dirty="0">
                <a:latin typeface="Arial" panose="020B0604020202020204" pitchFamily="34" charset="0"/>
                <a:cs typeface="Arial" panose="020B0604020202020204" pitchFamily="34" charset="0"/>
              </a:rPr>
              <a:t>Kung Fu Panda</a:t>
            </a:r>
            <a:r>
              <a:rPr lang="hr-HR" sz="1600" dirty="0">
                <a:latin typeface="Arial" panose="020B0604020202020204" pitchFamily="34" charset="0"/>
                <a:cs typeface="Arial" panose="020B0604020202020204" pitchFamily="34" charset="0"/>
              </a:rPr>
              <a:t>, i </a:t>
            </a:r>
            <a:r>
              <a:rPr lang="hr-HR" sz="1600" i="1" dirty="0">
                <a:latin typeface="Arial" panose="020B0604020202020204" pitchFamily="34" charset="0"/>
                <a:cs typeface="Arial" panose="020B0604020202020204" pitchFamily="34" charset="0"/>
              </a:rPr>
              <a:t>How to </a:t>
            </a:r>
            <a:r>
              <a:rPr lang="hr-HR" sz="1600" i="1" dirty="0" err="1">
                <a:latin typeface="Arial" panose="020B0604020202020204" pitchFamily="34" charset="0"/>
                <a:cs typeface="Arial" panose="020B0604020202020204" pitchFamily="34" charset="0"/>
              </a:rPr>
              <a:t>Train</a:t>
            </a:r>
            <a:r>
              <a:rPr lang="hr-HR" sz="1600" i="1" dirty="0">
                <a:latin typeface="Arial" panose="020B0604020202020204" pitchFamily="34" charset="0"/>
                <a:cs typeface="Arial" panose="020B0604020202020204" pitchFamily="34" charset="0"/>
              </a:rPr>
              <a:t> </a:t>
            </a:r>
            <a:r>
              <a:rPr lang="hr-HR" sz="1600" i="1" dirty="0" err="1">
                <a:latin typeface="Arial" panose="020B0604020202020204" pitchFamily="34" charset="0"/>
                <a:cs typeface="Arial" panose="020B0604020202020204" pitchFamily="34" charset="0"/>
              </a:rPr>
              <a:t>Your</a:t>
            </a:r>
            <a:r>
              <a:rPr lang="hr-HR" sz="1600" i="1" dirty="0">
                <a:latin typeface="Arial" panose="020B0604020202020204" pitchFamily="34" charset="0"/>
                <a:cs typeface="Arial" panose="020B0604020202020204" pitchFamily="34" charset="0"/>
              </a:rPr>
              <a:t> Dragon</a:t>
            </a:r>
            <a:r>
              <a:rPr lang="hr-HR" sz="1600" dirty="0">
                <a:latin typeface="Arial" panose="020B0604020202020204" pitchFamily="34" charset="0"/>
                <a:cs typeface="Arial" panose="020B0604020202020204" pitchFamily="34" charset="0"/>
              </a:rPr>
              <a:t>.</a:t>
            </a:r>
          </a:p>
          <a:p>
            <a:pPr>
              <a:lnSpc>
                <a:spcPct val="110000"/>
              </a:lnSpc>
            </a:pPr>
            <a:r>
              <a:rPr lang="hr-HR" sz="1600" b="1" dirty="0">
                <a:latin typeface="Arial" panose="020B0604020202020204" pitchFamily="34" charset="0"/>
                <a:cs typeface="Arial" panose="020B0604020202020204" pitchFamily="34" charset="0"/>
              </a:rPr>
              <a:t>Superračunala</a:t>
            </a:r>
            <a:r>
              <a:rPr lang="hr-HR" sz="1600" dirty="0">
                <a:latin typeface="Arial" panose="020B0604020202020204" pitchFamily="34" charset="0"/>
                <a:cs typeface="Arial" panose="020B0604020202020204" pitchFamily="34" charset="0"/>
              </a:rPr>
              <a:t>: </a:t>
            </a:r>
            <a:r>
              <a:rPr lang="hr-HR" sz="1600" dirty="0" err="1">
                <a:latin typeface="Arial" panose="020B0604020202020204" pitchFamily="34" charset="0"/>
                <a:cs typeface="Arial" panose="020B0604020202020204" pitchFamily="34" charset="0"/>
              </a:rPr>
              <a:t>DreamWorks</a:t>
            </a:r>
            <a:r>
              <a:rPr lang="hr-HR" sz="1600" dirty="0">
                <a:latin typeface="Arial" panose="020B0604020202020204" pitchFamily="34" charset="0"/>
                <a:cs typeface="Arial" panose="020B0604020202020204" pitchFamily="34" charset="0"/>
              </a:rPr>
              <a:t> koristi specijalno dizajnirana superračunala i HP Z800 radne stanice za ubrzavanje procesa animacije i renderiranja. Njihov </a:t>
            </a:r>
            <a:r>
              <a:rPr lang="hr-HR" sz="1600" dirty="0" err="1">
                <a:latin typeface="Arial" panose="020B0604020202020204" pitchFamily="34" charset="0"/>
                <a:cs typeface="Arial" panose="020B0604020202020204" pitchFamily="34" charset="0"/>
              </a:rPr>
              <a:t>superračunalni</a:t>
            </a:r>
            <a:r>
              <a:rPr lang="hr-HR" sz="1600" dirty="0">
                <a:latin typeface="Arial" panose="020B0604020202020204" pitchFamily="34" charset="0"/>
                <a:cs typeface="Arial" panose="020B0604020202020204" pitchFamily="34" charset="0"/>
              </a:rPr>
              <a:t> sustav koristi stotine tisuća jezgri za simultano renderiranje složenih scena.</a:t>
            </a:r>
          </a:p>
          <a:p>
            <a:pPr>
              <a:lnSpc>
                <a:spcPct val="110000"/>
              </a:lnSpc>
            </a:pPr>
            <a:r>
              <a:rPr lang="hr-HR" sz="1600" b="1" dirty="0">
                <a:latin typeface="Arial" panose="020B0604020202020204" pitchFamily="34" charset="0"/>
                <a:cs typeface="Arial" panose="020B0604020202020204" pitchFamily="34" charset="0"/>
              </a:rPr>
              <a:t>Zanimljivost</a:t>
            </a:r>
            <a:r>
              <a:rPr lang="hr-HR" sz="1600" dirty="0">
                <a:latin typeface="Arial" panose="020B0604020202020204" pitchFamily="34" charset="0"/>
                <a:cs typeface="Arial" panose="020B0604020202020204" pitchFamily="34" charset="0"/>
              </a:rPr>
              <a:t>: Filmovi poput </a:t>
            </a:r>
            <a:r>
              <a:rPr lang="hr-HR" sz="1600" i="1" dirty="0" err="1">
                <a:latin typeface="Arial" panose="020B0604020202020204" pitchFamily="34" charset="0"/>
                <a:cs typeface="Arial" panose="020B0604020202020204" pitchFamily="34" charset="0"/>
              </a:rPr>
              <a:t>Shreka</a:t>
            </a:r>
            <a:r>
              <a:rPr lang="hr-HR" sz="1600" dirty="0">
                <a:latin typeface="Arial" panose="020B0604020202020204" pitchFamily="34" charset="0"/>
                <a:cs typeface="Arial" panose="020B0604020202020204" pitchFamily="34" charset="0"/>
              </a:rPr>
              <a:t> zahtijevali su stotine tisuća renderiranih sličica, a jedno superračunalo moglo je obraditi jednu sličicu u nekoliko minuta.</a:t>
            </a:r>
          </a:p>
          <a:p>
            <a:pPr>
              <a:lnSpc>
                <a:spcPct val="110000"/>
              </a:lnSpc>
            </a:pPr>
            <a:endParaRPr lang="hr-HR" sz="1400" dirty="0"/>
          </a:p>
        </p:txBody>
      </p:sp>
      <p:cxnSp>
        <p:nvCxnSpPr>
          <p:cNvPr id="5138" name="Straight Connector 5137">
            <a:extLst>
              <a:ext uri="{FF2B5EF4-FFF2-40B4-BE49-F238E27FC236}">
                <a16:creationId xmlns:a16="http://schemas.microsoft.com/office/drawing/2014/main" id="{652938D1-813E-4650-AAB9-E09257454F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83456" y="5765296"/>
            <a:ext cx="10215974"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3659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0">
            <a:extLst>
              <a:ext uri="{FF2B5EF4-FFF2-40B4-BE49-F238E27FC236}">
                <a16:creationId xmlns:a16="http://schemas.microsoft.com/office/drawing/2014/main" id="{406BD704-01C2-4341-B99A-116CC7EC5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Slika 5">
            <a:extLst>
              <a:ext uri="{FF2B5EF4-FFF2-40B4-BE49-F238E27FC236}">
                <a16:creationId xmlns:a16="http://schemas.microsoft.com/office/drawing/2014/main" id="{30D62ABD-7C44-49F8-D262-12156D8230AC}"/>
              </a:ext>
            </a:extLst>
          </p:cNvPr>
          <p:cNvPicPr>
            <a:picLocks noChangeAspect="1"/>
          </p:cNvPicPr>
          <p:nvPr/>
        </p:nvPicPr>
        <p:blipFill>
          <a:blip r:embed="rId3"/>
          <a:srcRect t="12179" r="1" b="1"/>
          <a:stretch/>
        </p:blipFill>
        <p:spPr>
          <a:xfrm>
            <a:off x="20" y="10"/>
            <a:ext cx="12191980" cy="6857990"/>
          </a:xfrm>
          <a:prstGeom prst="rect">
            <a:avLst/>
          </a:prstGeom>
        </p:spPr>
      </p:pic>
      <p:sp useBgFill="1">
        <p:nvSpPr>
          <p:cNvPr id="18" name="Rectangle 12">
            <a:extLst>
              <a:ext uri="{FF2B5EF4-FFF2-40B4-BE49-F238E27FC236}">
                <a16:creationId xmlns:a16="http://schemas.microsoft.com/office/drawing/2014/main" id="{0225C01B-A296-4FAA-AA46-794F27DF6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894" y="979075"/>
            <a:ext cx="5777024" cy="5074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9451" y="1352492"/>
            <a:ext cx="4665540" cy="1143000"/>
          </a:xfrm>
        </p:spPr>
        <p:txBody>
          <a:bodyPr anchor="t">
            <a:normAutofit/>
          </a:bodyPr>
          <a:lstStyle/>
          <a:p>
            <a:pPr>
              <a:lnSpc>
                <a:spcPct val="90000"/>
              </a:lnSpc>
            </a:pPr>
            <a:r>
              <a:rPr lang="hr-HR" sz="3700">
                <a:latin typeface="Arial" charset="0"/>
              </a:rPr>
              <a:t>Superračunala u filmskoj industriji</a:t>
            </a:r>
          </a:p>
        </p:txBody>
      </p:sp>
      <p:sp>
        <p:nvSpPr>
          <p:cNvPr id="3" name="Content Placeholder 2"/>
          <p:cNvSpPr>
            <a:spLocks noGrp="1"/>
          </p:cNvSpPr>
          <p:nvPr>
            <p:ph sz="quarter" idx="1"/>
          </p:nvPr>
        </p:nvSpPr>
        <p:spPr>
          <a:xfrm>
            <a:off x="1049454" y="2662356"/>
            <a:ext cx="4665546" cy="3057911"/>
          </a:xfrm>
        </p:spPr>
        <p:txBody>
          <a:bodyPr>
            <a:normAutofit/>
          </a:bodyPr>
          <a:lstStyle/>
          <a:p>
            <a:pPr>
              <a:lnSpc>
                <a:spcPct val="110000"/>
              </a:lnSpc>
            </a:pPr>
            <a:r>
              <a:rPr lang="hr-HR" sz="1400" b="1">
                <a:latin typeface="Arial" panose="020B0604020202020204" pitchFamily="34" charset="0"/>
                <a:cs typeface="Arial" panose="020B0604020202020204" pitchFamily="34" charset="0"/>
              </a:rPr>
              <a:t>5. </a:t>
            </a:r>
            <a:r>
              <a:rPr lang="hr-HR" sz="1400" b="1" err="1">
                <a:latin typeface="Arial" panose="020B0604020202020204" pitchFamily="34" charset="0"/>
                <a:cs typeface="Arial" panose="020B0604020202020204" pitchFamily="34" charset="0"/>
              </a:rPr>
              <a:t>Animal</a:t>
            </a:r>
            <a:r>
              <a:rPr lang="hr-HR" sz="1400" b="1">
                <a:latin typeface="Arial" panose="020B0604020202020204" pitchFamily="34" charset="0"/>
                <a:cs typeface="Arial" panose="020B0604020202020204" pitchFamily="34" charset="0"/>
              </a:rPr>
              <a:t> </a:t>
            </a:r>
            <a:r>
              <a:rPr lang="hr-HR" sz="1400" b="1" err="1">
                <a:latin typeface="Arial" panose="020B0604020202020204" pitchFamily="34" charset="0"/>
                <a:cs typeface="Arial" panose="020B0604020202020204" pitchFamily="34" charset="0"/>
              </a:rPr>
              <a:t>Logic</a:t>
            </a:r>
            <a:r>
              <a:rPr lang="hr-HR" sz="1400" b="1">
                <a:latin typeface="Arial" panose="020B0604020202020204" pitchFamily="34" charset="0"/>
                <a:cs typeface="Arial" panose="020B0604020202020204" pitchFamily="34" charset="0"/>
              </a:rPr>
              <a:t> (Yeti superračunalo)</a:t>
            </a:r>
          </a:p>
          <a:p>
            <a:pPr>
              <a:lnSpc>
                <a:spcPct val="110000"/>
              </a:lnSpc>
            </a:pPr>
            <a:r>
              <a:rPr lang="hr-HR" sz="1400" b="1">
                <a:latin typeface="Arial" panose="020B0604020202020204" pitchFamily="34" charset="0"/>
                <a:cs typeface="Arial" panose="020B0604020202020204" pitchFamily="34" charset="0"/>
              </a:rPr>
              <a:t>Primjena</a:t>
            </a:r>
            <a:r>
              <a:rPr lang="hr-HR" sz="1400">
                <a:latin typeface="Arial" panose="020B0604020202020204" pitchFamily="34" charset="0"/>
                <a:cs typeface="Arial" panose="020B0604020202020204" pitchFamily="34" charset="0"/>
              </a:rPr>
              <a:t>: </a:t>
            </a:r>
            <a:r>
              <a:rPr lang="hr-HR" sz="1400" err="1">
                <a:latin typeface="Arial" panose="020B0604020202020204" pitchFamily="34" charset="0"/>
                <a:cs typeface="Arial" panose="020B0604020202020204" pitchFamily="34" charset="0"/>
              </a:rPr>
              <a:t>Animal</a:t>
            </a:r>
            <a:r>
              <a:rPr lang="hr-HR" sz="1400">
                <a:latin typeface="Arial" panose="020B0604020202020204" pitchFamily="34" charset="0"/>
                <a:cs typeface="Arial" panose="020B0604020202020204" pitchFamily="34" charset="0"/>
              </a:rPr>
              <a:t> </a:t>
            </a:r>
            <a:r>
              <a:rPr lang="hr-HR" sz="1400" err="1">
                <a:latin typeface="Arial" panose="020B0604020202020204" pitchFamily="34" charset="0"/>
                <a:cs typeface="Arial" panose="020B0604020202020204" pitchFamily="34" charset="0"/>
              </a:rPr>
              <a:t>Logic</a:t>
            </a:r>
            <a:r>
              <a:rPr lang="hr-HR" sz="1400">
                <a:latin typeface="Arial" panose="020B0604020202020204" pitchFamily="34" charset="0"/>
                <a:cs typeface="Arial" panose="020B0604020202020204" pitchFamily="34" charset="0"/>
              </a:rPr>
              <a:t> je VFX kompanija koja je radila na filmovima kao što su </a:t>
            </a:r>
            <a:r>
              <a:rPr lang="hr-HR" sz="1400" i="1" err="1">
                <a:latin typeface="Arial" panose="020B0604020202020204" pitchFamily="34" charset="0"/>
                <a:cs typeface="Arial" panose="020B0604020202020204" pitchFamily="34" charset="0"/>
              </a:rPr>
              <a:t>The</a:t>
            </a:r>
            <a:r>
              <a:rPr lang="hr-HR" sz="1400" i="1">
                <a:latin typeface="Arial" panose="020B0604020202020204" pitchFamily="34" charset="0"/>
                <a:cs typeface="Arial" panose="020B0604020202020204" pitchFamily="34" charset="0"/>
              </a:rPr>
              <a:t> </a:t>
            </a:r>
            <a:r>
              <a:rPr lang="hr-HR" sz="1400" i="1" err="1">
                <a:latin typeface="Arial" panose="020B0604020202020204" pitchFamily="34" charset="0"/>
                <a:cs typeface="Arial" panose="020B0604020202020204" pitchFamily="34" charset="0"/>
              </a:rPr>
              <a:t>Matrix</a:t>
            </a:r>
            <a:r>
              <a:rPr lang="hr-HR" sz="1400">
                <a:latin typeface="Arial" panose="020B0604020202020204" pitchFamily="34" charset="0"/>
                <a:cs typeface="Arial" panose="020B0604020202020204" pitchFamily="34" charset="0"/>
              </a:rPr>
              <a:t>, </a:t>
            </a:r>
            <a:r>
              <a:rPr lang="hr-HR" sz="1400" i="1" err="1">
                <a:latin typeface="Arial" panose="020B0604020202020204" pitchFamily="34" charset="0"/>
                <a:cs typeface="Arial" panose="020B0604020202020204" pitchFamily="34" charset="0"/>
              </a:rPr>
              <a:t>Happy</a:t>
            </a:r>
            <a:r>
              <a:rPr lang="hr-HR" sz="1400" i="1">
                <a:latin typeface="Arial" panose="020B0604020202020204" pitchFamily="34" charset="0"/>
                <a:cs typeface="Arial" panose="020B0604020202020204" pitchFamily="34" charset="0"/>
              </a:rPr>
              <a:t> </a:t>
            </a:r>
            <a:r>
              <a:rPr lang="hr-HR" sz="1400" i="1" err="1">
                <a:latin typeface="Arial" panose="020B0604020202020204" pitchFamily="34" charset="0"/>
                <a:cs typeface="Arial" panose="020B0604020202020204" pitchFamily="34" charset="0"/>
              </a:rPr>
              <a:t>Feet</a:t>
            </a:r>
            <a:r>
              <a:rPr lang="hr-HR" sz="1400">
                <a:latin typeface="Arial" panose="020B0604020202020204" pitchFamily="34" charset="0"/>
                <a:cs typeface="Arial" panose="020B0604020202020204" pitchFamily="34" charset="0"/>
              </a:rPr>
              <a:t>, </a:t>
            </a:r>
            <a:r>
              <a:rPr lang="hr-HR" sz="1400" i="1" err="1">
                <a:latin typeface="Arial" panose="020B0604020202020204" pitchFamily="34" charset="0"/>
                <a:cs typeface="Arial" panose="020B0604020202020204" pitchFamily="34" charset="0"/>
              </a:rPr>
              <a:t>The</a:t>
            </a:r>
            <a:r>
              <a:rPr lang="hr-HR" sz="1400" i="1">
                <a:latin typeface="Arial" panose="020B0604020202020204" pitchFamily="34" charset="0"/>
                <a:cs typeface="Arial" panose="020B0604020202020204" pitchFamily="34" charset="0"/>
              </a:rPr>
              <a:t> LEGO </a:t>
            </a:r>
            <a:r>
              <a:rPr lang="hr-HR" sz="1400" i="1" err="1">
                <a:latin typeface="Arial" panose="020B0604020202020204" pitchFamily="34" charset="0"/>
                <a:cs typeface="Arial" panose="020B0604020202020204" pitchFamily="34" charset="0"/>
              </a:rPr>
              <a:t>Movie</a:t>
            </a:r>
            <a:r>
              <a:rPr lang="hr-HR" sz="1400">
                <a:latin typeface="Arial" panose="020B0604020202020204" pitchFamily="34" charset="0"/>
                <a:cs typeface="Arial" panose="020B0604020202020204" pitchFamily="34" charset="0"/>
              </a:rPr>
              <a:t>, i </a:t>
            </a:r>
            <a:r>
              <a:rPr lang="hr-HR" sz="1400" i="1" err="1">
                <a:latin typeface="Arial" panose="020B0604020202020204" pitchFamily="34" charset="0"/>
                <a:cs typeface="Arial" panose="020B0604020202020204" pitchFamily="34" charset="0"/>
              </a:rPr>
              <a:t>The</a:t>
            </a:r>
            <a:r>
              <a:rPr lang="hr-HR" sz="1400" i="1">
                <a:latin typeface="Arial" panose="020B0604020202020204" pitchFamily="34" charset="0"/>
                <a:cs typeface="Arial" panose="020B0604020202020204" pitchFamily="34" charset="0"/>
              </a:rPr>
              <a:t> Great </a:t>
            </a:r>
            <a:r>
              <a:rPr lang="hr-HR" sz="1400" i="1" err="1">
                <a:latin typeface="Arial" panose="020B0604020202020204" pitchFamily="34" charset="0"/>
                <a:cs typeface="Arial" panose="020B0604020202020204" pitchFamily="34" charset="0"/>
              </a:rPr>
              <a:t>Gatsby</a:t>
            </a:r>
            <a:r>
              <a:rPr lang="hr-HR" sz="1400">
                <a:latin typeface="Arial" panose="020B0604020202020204" pitchFamily="34" charset="0"/>
                <a:cs typeface="Arial" panose="020B0604020202020204" pitchFamily="34" charset="0"/>
              </a:rPr>
              <a:t>.</a:t>
            </a:r>
          </a:p>
          <a:p>
            <a:pPr>
              <a:lnSpc>
                <a:spcPct val="110000"/>
              </a:lnSpc>
            </a:pPr>
            <a:r>
              <a:rPr lang="hr-HR" sz="1400" b="1">
                <a:latin typeface="Arial" panose="020B0604020202020204" pitchFamily="34" charset="0"/>
                <a:cs typeface="Arial" panose="020B0604020202020204" pitchFamily="34" charset="0"/>
              </a:rPr>
              <a:t>Superračunalo</a:t>
            </a:r>
            <a:r>
              <a:rPr lang="hr-HR" sz="1400">
                <a:latin typeface="Arial" panose="020B0604020202020204" pitchFamily="34" charset="0"/>
                <a:cs typeface="Arial" panose="020B0604020202020204" pitchFamily="34" charset="0"/>
              </a:rPr>
              <a:t>: </a:t>
            </a:r>
            <a:r>
              <a:rPr lang="hr-HR" sz="1400" err="1">
                <a:latin typeface="Arial" panose="020B0604020202020204" pitchFamily="34" charset="0"/>
                <a:cs typeface="Arial" panose="020B0604020202020204" pitchFamily="34" charset="0"/>
              </a:rPr>
              <a:t>Animal</a:t>
            </a:r>
            <a:r>
              <a:rPr lang="hr-HR" sz="1400">
                <a:latin typeface="Arial" panose="020B0604020202020204" pitchFamily="34" charset="0"/>
                <a:cs typeface="Arial" panose="020B0604020202020204" pitchFamily="34" charset="0"/>
              </a:rPr>
              <a:t> </a:t>
            </a:r>
            <a:r>
              <a:rPr lang="hr-HR" sz="1400" err="1">
                <a:latin typeface="Arial" panose="020B0604020202020204" pitchFamily="34" charset="0"/>
                <a:cs typeface="Arial" panose="020B0604020202020204" pitchFamily="34" charset="0"/>
              </a:rPr>
              <a:t>Logic</a:t>
            </a:r>
            <a:r>
              <a:rPr lang="hr-HR" sz="1400">
                <a:latin typeface="Arial" panose="020B0604020202020204" pitchFamily="34" charset="0"/>
                <a:cs typeface="Arial" panose="020B0604020202020204" pitchFamily="34" charset="0"/>
              </a:rPr>
              <a:t> koristi svoje vlastito superračunalo "Yeti" za renderiranje filmova, posebno za animirane filmove poput </a:t>
            </a:r>
            <a:r>
              <a:rPr lang="hr-HR" sz="1400" i="1" err="1">
                <a:latin typeface="Arial" panose="020B0604020202020204" pitchFamily="34" charset="0"/>
                <a:cs typeface="Arial" panose="020B0604020202020204" pitchFamily="34" charset="0"/>
              </a:rPr>
              <a:t>Happy</a:t>
            </a:r>
            <a:r>
              <a:rPr lang="hr-HR" sz="1400" i="1">
                <a:latin typeface="Arial" panose="020B0604020202020204" pitchFamily="34" charset="0"/>
                <a:cs typeface="Arial" panose="020B0604020202020204" pitchFamily="34" charset="0"/>
              </a:rPr>
              <a:t> </a:t>
            </a:r>
            <a:r>
              <a:rPr lang="hr-HR" sz="1400" i="1" err="1">
                <a:latin typeface="Arial" panose="020B0604020202020204" pitchFamily="34" charset="0"/>
                <a:cs typeface="Arial" panose="020B0604020202020204" pitchFamily="34" charset="0"/>
              </a:rPr>
              <a:t>Feet</a:t>
            </a:r>
            <a:r>
              <a:rPr lang="hr-HR" sz="1400">
                <a:latin typeface="Arial" panose="020B0604020202020204" pitchFamily="34" charset="0"/>
                <a:cs typeface="Arial" panose="020B0604020202020204" pitchFamily="34" charset="0"/>
              </a:rPr>
              <a:t>, koji su poznati po složenim CGI scenama i simulacijama.</a:t>
            </a:r>
          </a:p>
          <a:p>
            <a:pPr>
              <a:lnSpc>
                <a:spcPct val="110000"/>
              </a:lnSpc>
            </a:pPr>
            <a:r>
              <a:rPr lang="hr-HR" sz="1400" b="1">
                <a:latin typeface="Arial" panose="020B0604020202020204" pitchFamily="34" charset="0"/>
                <a:cs typeface="Arial" panose="020B0604020202020204" pitchFamily="34" charset="0"/>
              </a:rPr>
              <a:t>Zanimljivost</a:t>
            </a:r>
            <a:r>
              <a:rPr lang="hr-HR" sz="1400">
                <a:latin typeface="Arial" panose="020B0604020202020204" pitchFamily="34" charset="0"/>
                <a:cs typeface="Arial" panose="020B0604020202020204" pitchFamily="34" charset="0"/>
              </a:rPr>
              <a:t>: </a:t>
            </a:r>
            <a:r>
              <a:rPr lang="hr-HR" sz="1400" i="1" err="1">
                <a:latin typeface="Arial" panose="020B0604020202020204" pitchFamily="34" charset="0"/>
                <a:cs typeface="Arial" panose="020B0604020202020204" pitchFamily="34" charset="0"/>
              </a:rPr>
              <a:t>Happy</a:t>
            </a:r>
            <a:r>
              <a:rPr lang="hr-HR" sz="1400" i="1">
                <a:latin typeface="Arial" panose="020B0604020202020204" pitchFamily="34" charset="0"/>
                <a:cs typeface="Arial" panose="020B0604020202020204" pitchFamily="34" charset="0"/>
              </a:rPr>
              <a:t> </a:t>
            </a:r>
            <a:r>
              <a:rPr lang="hr-HR" sz="1400" i="1" err="1">
                <a:latin typeface="Arial" panose="020B0604020202020204" pitchFamily="34" charset="0"/>
                <a:cs typeface="Arial" panose="020B0604020202020204" pitchFamily="34" charset="0"/>
              </a:rPr>
              <a:t>Feet</a:t>
            </a:r>
            <a:r>
              <a:rPr lang="hr-HR" sz="1400">
                <a:latin typeface="Arial" panose="020B0604020202020204" pitchFamily="34" charset="0"/>
                <a:cs typeface="Arial" panose="020B0604020202020204" pitchFamily="34" charset="0"/>
              </a:rPr>
              <a:t> je postao poznat po detaljnim renderiranim snježnim i vodenim scenama koje su stvorene uz pomoć Yeti superračunala.</a:t>
            </a:r>
          </a:p>
          <a:p>
            <a:pPr>
              <a:lnSpc>
                <a:spcPct val="110000"/>
              </a:lnSpc>
            </a:pPr>
            <a:endParaRPr lang="hr-HR" sz="1400"/>
          </a:p>
        </p:txBody>
      </p:sp>
      <p:cxnSp>
        <p:nvCxnSpPr>
          <p:cNvPr id="19" name="Straight Connector 14">
            <a:extLst>
              <a:ext uri="{FF2B5EF4-FFF2-40B4-BE49-F238E27FC236}">
                <a16:creationId xmlns:a16="http://schemas.microsoft.com/office/drawing/2014/main" id="{62713E66-598D-4B8A-9D2A-67C7AF46EF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5673" y="979075"/>
            <a:ext cx="0" cy="507492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53137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History Timeline | Sony Pictures Imageworks">
            <a:extLst>
              <a:ext uri="{FF2B5EF4-FFF2-40B4-BE49-F238E27FC236}">
                <a16:creationId xmlns:a16="http://schemas.microsoft.com/office/drawing/2014/main" id="{87A75BDD-0ACA-0746-C544-2D6C7430E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1180" r="-1" b="-1"/>
          <a:stretch/>
        </p:blipFill>
        <p:spPr bwMode="auto">
          <a:xfrm>
            <a:off x="5671128" y="914399"/>
            <a:ext cx="6520872" cy="5353521"/>
          </a:xfrm>
          <a:prstGeom prst="rect">
            <a:avLst/>
          </a:prstGeom>
          <a:noFill/>
          <a:extLst>
            <a:ext uri="{909E8E84-426E-40DD-AFC4-6F175D3DCCD1}">
              <a14:hiddenFill xmlns:a14="http://schemas.microsoft.com/office/drawing/2010/main">
                <a:solidFill>
                  <a:srgbClr val="FFFFFF"/>
                </a:solidFill>
              </a14:hiddenFill>
            </a:ext>
          </a:extLst>
        </p:spPr>
      </p:pic>
      <p:cxnSp>
        <p:nvCxnSpPr>
          <p:cNvPr id="7177" name="Straight Connector 7176">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40079" y="914400"/>
            <a:ext cx="4261104" cy="1097280"/>
          </a:xfrm>
        </p:spPr>
        <p:txBody>
          <a:bodyPr anchor="t">
            <a:normAutofit/>
          </a:bodyPr>
          <a:lstStyle/>
          <a:p>
            <a:pPr>
              <a:lnSpc>
                <a:spcPct val="90000"/>
              </a:lnSpc>
            </a:pPr>
            <a:r>
              <a:rPr lang="hr-HR" sz="3600">
                <a:latin typeface="Arial" charset="0"/>
              </a:rPr>
              <a:t>Superračunala u filmskoj industriji</a:t>
            </a:r>
          </a:p>
        </p:txBody>
      </p:sp>
      <p:sp>
        <p:nvSpPr>
          <p:cNvPr id="3" name="Content Placeholder 2"/>
          <p:cNvSpPr>
            <a:spLocks noGrp="1"/>
          </p:cNvSpPr>
          <p:nvPr>
            <p:ph sz="quarter" idx="1"/>
          </p:nvPr>
        </p:nvSpPr>
        <p:spPr>
          <a:xfrm>
            <a:off x="640079" y="2176036"/>
            <a:ext cx="4261104" cy="4121887"/>
          </a:xfrm>
        </p:spPr>
        <p:txBody>
          <a:bodyPr>
            <a:normAutofit/>
          </a:bodyPr>
          <a:lstStyle/>
          <a:p>
            <a:pPr>
              <a:lnSpc>
                <a:spcPct val="110000"/>
              </a:lnSpc>
            </a:pPr>
            <a:r>
              <a:rPr lang="hr-HR" sz="1700" b="1">
                <a:latin typeface="Arial" panose="020B0604020202020204" pitchFamily="34" charset="0"/>
                <a:cs typeface="Arial" panose="020B0604020202020204" pitchFamily="34" charset="0"/>
              </a:rPr>
              <a:t>6. Sony </a:t>
            </a:r>
            <a:r>
              <a:rPr lang="hr-HR" sz="1700" b="1" err="1">
                <a:latin typeface="Arial" panose="020B0604020202020204" pitchFamily="34" charset="0"/>
                <a:cs typeface="Arial" panose="020B0604020202020204" pitchFamily="34" charset="0"/>
              </a:rPr>
              <a:t>Pictures</a:t>
            </a:r>
            <a:r>
              <a:rPr lang="hr-HR" sz="1700" b="1">
                <a:latin typeface="Arial" panose="020B0604020202020204" pitchFamily="34" charset="0"/>
                <a:cs typeface="Arial" panose="020B0604020202020204" pitchFamily="34" charset="0"/>
              </a:rPr>
              <a:t> </a:t>
            </a:r>
            <a:r>
              <a:rPr lang="hr-HR" sz="1700" b="1" err="1">
                <a:latin typeface="Arial" panose="020B0604020202020204" pitchFamily="34" charset="0"/>
                <a:cs typeface="Arial" panose="020B0604020202020204" pitchFamily="34" charset="0"/>
              </a:rPr>
              <a:t>Imageworks</a:t>
            </a:r>
            <a:endParaRPr lang="hr-HR" sz="1700" b="1">
              <a:latin typeface="Arial" panose="020B0604020202020204" pitchFamily="34" charset="0"/>
              <a:cs typeface="Arial" panose="020B0604020202020204" pitchFamily="34" charset="0"/>
            </a:endParaRPr>
          </a:p>
          <a:p>
            <a:pPr>
              <a:lnSpc>
                <a:spcPct val="110000"/>
              </a:lnSpc>
            </a:pPr>
            <a:r>
              <a:rPr lang="hr-HR" sz="1700" b="1">
                <a:latin typeface="Arial" panose="020B0604020202020204" pitchFamily="34" charset="0"/>
                <a:cs typeface="Arial" panose="020B0604020202020204" pitchFamily="34" charset="0"/>
              </a:rPr>
              <a:t>Primjena</a:t>
            </a:r>
            <a:r>
              <a:rPr lang="hr-HR" sz="1700">
                <a:latin typeface="Arial" panose="020B0604020202020204" pitchFamily="34" charset="0"/>
                <a:cs typeface="Arial" panose="020B0604020202020204" pitchFamily="34" charset="0"/>
              </a:rPr>
              <a:t>: Sony </a:t>
            </a:r>
            <a:r>
              <a:rPr lang="hr-HR" sz="1700" err="1">
                <a:latin typeface="Arial" panose="020B0604020202020204" pitchFamily="34" charset="0"/>
                <a:cs typeface="Arial" panose="020B0604020202020204" pitchFamily="34" charset="0"/>
              </a:rPr>
              <a:t>Pictures</a:t>
            </a:r>
            <a:r>
              <a:rPr lang="hr-HR" sz="1700">
                <a:latin typeface="Arial" panose="020B0604020202020204" pitchFamily="34" charset="0"/>
                <a:cs typeface="Arial" panose="020B0604020202020204" pitchFamily="34" charset="0"/>
              </a:rPr>
              <a:t> </a:t>
            </a:r>
            <a:r>
              <a:rPr lang="hr-HR" sz="1700" err="1">
                <a:latin typeface="Arial" panose="020B0604020202020204" pitchFamily="34" charset="0"/>
                <a:cs typeface="Arial" panose="020B0604020202020204" pitchFamily="34" charset="0"/>
              </a:rPr>
              <a:t>Imageworks</a:t>
            </a:r>
            <a:r>
              <a:rPr lang="hr-HR" sz="1700">
                <a:latin typeface="Arial" panose="020B0604020202020204" pitchFamily="34" charset="0"/>
                <a:cs typeface="Arial" panose="020B0604020202020204" pitchFamily="34" charset="0"/>
              </a:rPr>
              <a:t> koristi se superračunalima za stvaranje specijalnih efekata u filmovima poput </a:t>
            </a:r>
            <a:r>
              <a:rPr lang="hr-HR" sz="1700" i="1" err="1">
                <a:latin typeface="Arial" panose="020B0604020202020204" pitchFamily="34" charset="0"/>
                <a:cs typeface="Arial" panose="020B0604020202020204" pitchFamily="34" charset="0"/>
              </a:rPr>
              <a:t>Spider</a:t>
            </a:r>
            <a:r>
              <a:rPr lang="hr-HR" sz="1700" i="1">
                <a:latin typeface="Arial" panose="020B0604020202020204" pitchFamily="34" charset="0"/>
                <a:cs typeface="Arial" panose="020B0604020202020204" pitchFamily="34" charset="0"/>
              </a:rPr>
              <a:t>-Man: </a:t>
            </a:r>
            <a:r>
              <a:rPr lang="hr-HR" sz="1700" i="1" err="1">
                <a:latin typeface="Arial" panose="020B0604020202020204" pitchFamily="34" charset="0"/>
                <a:cs typeface="Arial" panose="020B0604020202020204" pitchFamily="34" charset="0"/>
              </a:rPr>
              <a:t>Into</a:t>
            </a:r>
            <a:r>
              <a:rPr lang="hr-HR" sz="1700" i="1">
                <a:latin typeface="Arial" panose="020B0604020202020204" pitchFamily="34" charset="0"/>
                <a:cs typeface="Arial" panose="020B0604020202020204" pitchFamily="34" charset="0"/>
              </a:rPr>
              <a:t> </a:t>
            </a:r>
            <a:r>
              <a:rPr lang="hr-HR" sz="1700" i="1" err="1">
                <a:latin typeface="Arial" panose="020B0604020202020204" pitchFamily="34" charset="0"/>
                <a:cs typeface="Arial" panose="020B0604020202020204" pitchFamily="34" charset="0"/>
              </a:rPr>
              <a:t>the</a:t>
            </a:r>
            <a:r>
              <a:rPr lang="hr-HR" sz="1700" i="1">
                <a:latin typeface="Arial" panose="020B0604020202020204" pitchFamily="34" charset="0"/>
                <a:cs typeface="Arial" panose="020B0604020202020204" pitchFamily="34" charset="0"/>
              </a:rPr>
              <a:t> </a:t>
            </a:r>
            <a:r>
              <a:rPr lang="hr-HR" sz="1700" i="1" err="1">
                <a:latin typeface="Arial" panose="020B0604020202020204" pitchFamily="34" charset="0"/>
                <a:cs typeface="Arial" panose="020B0604020202020204" pitchFamily="34" charset="0"/>
              </a:rPr>
              <a:t>Spider-Verse</a:t>
            </a:r>
            <a:r>
              <a:rPr lang="hr-HR" sz="1700">
                <a:latin typeface="Arial" panose="020B0604020202020204" pitchFamily="34" charset="0"/>
                <a:cs typeface="Arial" panose="020B0604020202020204" pitchFamily="34" charset="0"/>
              </a:rPr>
              <a:t>, </a:t>
            </a:r>
            <a:r>
              <a:rPr lang="hr-HR" sz="1700" i="1" err="1">
                <a:latin typeface="Arial" panose="020B0604020202020204" pitchFamily="34" charset="0"/>
                <a:cs typeface="Arial" panose="020B0604020202020204" pitchFamily="34" charset="0"/>
              </a:rPr>
              <a:t>The</a:t>
            </a:r>
            <a:r>
              <a:rPr lang="hr-HR" sz="1700" i="1">
                <a:latin typeface="Arial" panose="020B0604020202020204" pitchFamily="34" charset="0"/>
                <a:cs typeface="Arial" panose="020B0604020202020204" pitchFamily="34" charset="0"/>
              </a:rPr>
              <a:t> </a:t>
            </a:r>
            <a:r>
              <a:rPr lang="hr-HR" sz="1700" i="1" err="1">
                <a:latin typeface="Arial" panose="020B0604020202020204" pitchFamily="34" charset="0"/>
                <a:cs typeface="Arial" panose="020B0604020202020204" pitchFamily="34" charset="0"/>
              </a:rPr>
              <a:t>Amazing</a:t>
            </a:r>
            <a:r>
              <a:rPr lang="hr-HR" sz="1700" i="1">
                <a:latin typeface="Arial" panose="020B0604020202020204" pitchFamily="34" charset="0"/>
                <a:cs typeface="Arial" panose="020B0604020202020204" pitchFamily="34" charset="0"/>
              </a:rPr>
              <a:t> </a:t>
            </a:r>
            <a:r>
              <a:rPr lang="hr-HR" sz="1700" i="1" err="1">
                <a:latin typeface="Arial" panose="020B0604020202020204" pitchFamily="34" charset="0"/>
                <a:cs typeface="Arial" panose="020B0604020202020204" pitchFamily="34" charset="0"/>
              </a:rPr>
              <a:t>Spider</a:t>
            </a:r>
            <a:r>
              <a:rPr lang="hr-HR" sz="1700" i="1">
                <a:latin typeface="Arial" panose="020B0604020202020204" pitchFamily="34" charset="0"/>
                <a:cs typeface="Arial" panose="020B0604020202020204" pitchFamily="34" charset="0"/>
              </a:rPr>
              <a:t>-Man</a:t>
            </a:r>
            <a:r>
              <a:rPr lang="hr-HR" sz="1700">
                <a:latin typeface="Arial" panose="020B0604020202020204" pitchFamily="34" charset="0"/>
                <a:cs typeface="Arial" panose="020B0604020202020204" pitchFamily="34" charset="0"/>
              </a:rPr>
              <a:t>, i </a:t>
            </a:r>
            <a:r>
              <a:rPr lang="hr-HR" sz="1700" i="1" err="1">
                <a:latin typeface="Arial" panose="020B0604020202020204" pitchFamily="34" charset="0"/>
                <a:cs typeface="Arial" panose="020B0604020202020204" pitchFamily="34" charset="0"/>
              </a:rPr>
              <a:t>Cloudy</a:t>
            </a:r>
            <a:r>
              <a:rPr lang="hr-HR" sz="1700" i="1">
                <a:latin typeface="Arial" panose="020B0604020202020204" pitchFamily="34" charset="0"/>
                <a:cs typeface="Arial" panose="020B0604020202020204" pitchFamily="34" charset="0"/>
              </a:rPr>
              <a:t> </a:t>
            </a:r>
            <a:r>
              <a:rPr lang="hr-HR" sz="1700" i="1" err="1">
                <a:latin typeface="Arial" panose="020B0604020202020204" pitchFamily="34" charset="0"/>
                <a:cs typeface="Arial" panose="020B0604020202020204" pitchFamily="34" charset="0"/>
              </a:rPr>
              <a:t>with</a:t>
            </a:r>
            <a:r>
              <a:rPr lang="hr-HR" sz="1700" i="1">
                <a:latin typeface="Arial" panose="020B0604020202020204" pitchFamily="34" charset="0"/>
                <a:cs typeface="Arial" panose="020B0604020202020204" pitchFamily="34" charset="0"/>
              </a:rPr>
              <a:t> a </a:t>
            </a:r>
            <a:r>
              <a:rPr lang="hr-HR" sz="1700" i="1" err="1">
                <a:latin typeface="Arial" panose="020B0604020202020204" pitchFamily="34" charset="0"/>
                <a:cs typeface="Arial" panose="020B0604020202020204" pitchFamily="34" charset="0"/>
              </a:rPr>
              <a:t>Chance</a:t>
            </a:r>
            <a:r>
              <a:rPr lang="hr-HR" sz="1700" i="1">
                <a:latin typeface="Arial" panose="020B0604020202020204" pitchFamily="34" charset="0"/>
                <a:cs typeface="Arial" panose="020B0604020202020204" pitchFamily="34" charset="0"/>
              </a:rPr>
              <a:t> </a:t>
            </a:r>
            <a:r>
              <a:rPr lang="hr-HR" sz="1700" i="1" err="1">
                <a:latin typeface="Arial" panose="020B0604020202020204" pitchFamily="34" charset="0"/>
                <a:cs typeface="Arial" panose="020B0604020202020204" pitchFamily="34" charset="0"/>
              </a:rPr>
              <a:t>of</a:t>
            </a:r>
            <a:r>
              <a:rPr lang="hr-HR" sz="1700" i="1">
                <a:latin typeface="Arial" panose="020B0604020202020204" pitchFamily="34" charset="0"/>
                <a:cs typeface="Arial" panose="020B0604020202020204" pitchFamily="34" charset="0"/>
              </a:rPr>
              <a:t> </a:t>
            </a:r>
            <a:r>
              <a:rPr lang="hr-HR" sz="1700" i="1" err="1">
                <a:latin typeface="Arial" panose="020B0604020202020204" pitchFamily="34" charset="0"/>
                <a:cs typeface="Arial" panose="020B0604020202020204" pitchFamily="34" charset="0"/>
              </a:rPr>
              <a:t>Meatballs</a:t>
            </a:r>
            <a:r>
              <a:rPr lang="hr-HR" sz="1700">
                <a:latin typeface="Arial" panose="020B0604020202020204" pitchFamily="34" charset="0"/>
                <a:cs typeface="Arial" panose="020B0604020202020204" pitchFamily="34" charset="0"/>
              </a:rPr>
              <a:t>.</a:t>
            </a:r>
          </a:p>
          <a:p>
            <a:pPr>
              <a:lnSpc>
                <a:spcPct val="110000"/>
              </a:lnSpc>
            </a:pPr>
            <a:r>
              <a:rPr lang="hr-HR" sz="1700" b="1">
                <a:latin typeface="Arial" panose="020B0604020202020204" pitchFamily="34" charset="0"/>
                <a:cs typeface="Arial" panose="020B0604020202020204" pitchFamily="34" charset="0"/>
              </a:rPr>
              <a:t>Superračunalo</a:t>
            </a:r>
            <a:r>
              <a:rPr lang="hr-HR" sz="1700">
                <a:latin typeface="Arial" panose="020B0604020202020204" pitchFamily="34" charset="0"/>
                <a:cs typeface="Arial" panose="020B0604020202020204" pitchFamily="34" charset="0"/>
              </a:rPr>
              <a:t>: Sony koristi ogromne </a:t>
            </a:r>
            <a:r>
              <a:rPr lang="hr-HR" sz="1700" err="1">
                <a:latin typeface="Arial" panose="020B0604020202020204" pitchFamily="34" charset="0"/>
                <a:cs typeface="Arial" panose="020B0604020202020204" pitchFamily="34" charset="0"/>
              </a:rPr>
              <a:t>render</a:t>
            </a:r>
            <a:r>
              <a:rPr lang="hr-HR" sz="1700">
                <a:latin typeface="Arial" panose="020B0604020202020204" pitchFamily="34" charset="0"/>
                <a:cs typeface="Arial" panose="020B0604020202020204" pitchFamily="34" charset="0"/>
              </a:rPr>
              <a:t> farme i napredne grafičke procesore (GPU) kako bi ubrzali animacijske procese i stvaranje CGI efekata.</a:t>
            </a:r>
          </a:p>
          <a:p>
            <a:pPr>
              <a:lnSpc>
                <a:spcPct val="110000"/>
              </a:lnSpc>
            </a:pPr>
            <a:endParaRPr lang="hr-HR" sz="1700"/>
          </a:p>
        </p:txBody>
      </p:sp>
    </p:spTree>
    <p:extLst>
      <p:ext uri="{BB962C8B-B14F-4D97-AF65-F5344CB8AC3E}">
        <p14:creationId xmlns:p14="http://schemas.microsoft.com/office/powerpoint/2010/main" val="238367738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Disney Closing Down Blue Sky Studios, Creators Of 'Ice Age'">
            <a:extLst>
              <a:ext uri="{FF2B5EF4-FFF2-40B4-BE49-F238E27FC236}">
                <a16:creationId xmlns:a16="http://schemas.microsoft.com/office/drawing/2014/main" id="{E36F3013-E957-D7DC-D3CE-506254EC2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543" r="19415"/>
          <a:stretch/>
        </p:blipFill>
        <p:spPr bwMode="auto">
          <a:xfrm>
            <a:off x="-1" y="914399"/>
            <a:ext cx="6657255" cy="5353523"/>
          </a:xfrm>
          <a:prstGeom prst="rect">
            <a:avLst/>
          </a:prstGeom>
          <a:noFill/>
          <a:extLst>
            <a:ext uri="{909E8E84-426E-40DD-AFC4-6F175D3DCCD1}">
              <a14:hiddenFill xmlns:a14="http://schemas.microsoft.com/office/drawing/2010/main">
                <a:solidFill>
                  <a:srgbClr val="FFFFFF"/>
                </a:solidFill>
              </a14:hiddenFill>
            </a:ext>
          </a:extLst>
        </p:spPr>
      </p:pic>
      <p:cxnSp>
        <p:nvCxnSpPr>
          <p:cNvPr id="8201" name="Straight Connector 8200">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69904" y="914400"/>
            <a:ext cx="4261104" cy="1097280"/>
          </a:xfrm>
        </p:spPr>
        <p:txBody>
          <a:bodyPr anchor="t">
            <a:normAutofit/>
          </a:bodyPr>
          <a:lstStyle/>
          <a:p>
            <a:pPr>
              <a:lnSpc>
                <a:spcPct val="90000"/>
              </a:lnSpc>
            </a:pPr>
            <a:r>
              <a:rPr lang="hr-HR" sz="3600">
                <a:latin typeface="Arial" charset="0"/>
              </a:rPr>
              <a:t>Superračunala u filmskoj industriji</a:t>
            </a:r>
          </a:p>
        </p:txBody>
      </p:sp>
      <p:sp>
        <p:nvSpPr>
          <p:cNvPr id="3" name="Content Placeholder 2"/>
          <p:cNvSpPr>
            <a:spLocks noGrp="1"/>
          </p:cNvSpPr>
          <p:nvPr>
            <p:ph sz="quarter" idx="1"/>
          </p:nvPr>
        </p:nvSpPr>
        <p:spPr>
          <a:xfrm>
            <a:off x="7269905" y="2176036"/>
            <a:ext cx="4261104" cy="4121887"/>
          </a:xfrm>
        </p:spPr>
        <p:txBody>
          <a:bodyPr>
            <a:normAutofit/>
          </a:bodyPr>
          <a:lstStyle/>
          <a:p>
            <a:pPr>
              <a:lnSpc>
                <a:spcPct val="110000"/>
              </a:lnSpc>
            </a:pPr>
            <a:r>
              <a:rPr lang="hr-HR" sz="1700" b="1">
                <a:latin typeface="Arial" panose="020B0604020202020204" pitchFamily="34" charset="0"/>
                <a:cs typeface="Arial" panose="020B0604020202020204" pitchFamily="34" charset="0"/>
              </a:rPr>
              <a:t>7. Blue </a:t>
            </a:r>
            <a:r>
              <a:rPr lang="hr-HR" sz="1700" b="1" err="1">
                <a:latin typeface="Arial" panose="020B0604020202020204" pitchFamily="34" charset="0"/>
                <a:cs typeface="Arial" panose="020B0604020202020204" pitchFamily="34" charset="0"/>
              </a:rPr>
              <a:t>Sky</a:t>
            </a:r>
            <a:r>
              <a:rPr lang="hr-HR" sz="1700" b="1">
                <a:latin typeface="Arial" panose="020B0604020202020204" pitchFamily="34" charset="0"/>
                <a:cs typeface="Arial" panose="020B0604020202020204" pitchFamily="34" charset="0"/>
              </a:rPr>
              <a:t> </a:t>
            </a:r>
            <a:r>
              <a:rPr lang="hr-HR" sz="1700" b="1" err="1">
                <a:latin typeface="Arial" panose="020B0604020202020204" pitchFamily="34" charset="0"/>
                <a:cs typeface="Arial" panose="020B0604020202020204" pitchFamily="34" charset="0"/>
              </a:rPr>
              <a:t>Studios</a:t>
            </a:r>
            <a:endParaRPr lang="hr-HR" sz="1700" b="1">
              <a:latin typeface="Arial" panose="020B0604020202020204" pitchFamily="34" charset="0"/>
              <a:cs typeface="Arial" panose="020B0604020202020204" pitchFamily="34" charset="0"/>
            </a:endParaRPr>
          </a:p>
          <a:p>
            <a:pPr>
              <a:lnSpc>
                <a:spcPct val="110000"/>
              </a:lnSpc>
            </a:pPr>
            <a:r>
              <a:rPr lang="hr-HR" sz="1700" b="1">
                <a:latin typeface="Arial" panose="020B0604020202020204" pitchFamily="34" charset="0"/>
                <a:cs typeface="Arial" panose="020B0604020202020204" pitchFamily="34" charset="0"/>
              </a:rPr>
              <a:t>Primjena</a:t>
            </a:r>
            <a:r>
              <a:rPr lang="hr-HR" sz="1700">
                <a:latin typeface="Arial" panose="020B0604020202020204" pitchFamily="34" charset="0"/>
                <a:cs typeface="Arial" panose="020B0604020202020204" pitchFamily="34" charset="0"/>
              </a:rPr>
              <a:t>: Poznati po animiranim filmovima kao što su </a:t>
            </a:r>
            <a:r>
              <a:rPr lang="hr-HR" sz="1700" i="1" err="1">
                <a:latin typeface="Arial" panose="020B0604020202020204" pitchFamily="34" charset="0"/>
                <a:cs typeface="Arial" panose="020B0604020202020204" pitchFamily="34" charset="0"/>
              </a:rPr>
              <a:t>Ice</a:t>
            </a:r>
            <a:r>
              <a:rPr lang="hr-HR" sz="1700" i="1">
                <a:latin typeface="Arial" panose="020B0604020202020204" pitchFamily="34" charset="0"/>
                <a:cs typeface="Arial" panose="020B0604020202020204" pitchFamily="34" charset="0"/>
              </a:rPr>
              <a:t> Age</a:t>
            </a:r>
            <a:r>
              <a:rPr lang="hr-HR" sz="1700">
                <a:latin typeface="Arial" panose="020B0604020202020204" pitchFamily="34" charset="0"/>
                <a:cs typeface="Arial" panose="020B0604020202020204" pitchFamily="34" charset="0"/>
              </a:rPr>
              <a:t>, </a:t>
            </a:r>
            <a:r>
              <a:rPr lang="hr-HR" sz="1700" i="1">
                <a:latin typeface="Arial" panose="020B0604020202020204" pitchFamily="34" charset="0"/>
                <a:cs typeface="Arial" panose="020B0604020202020204" pitchFamily="34" charset="0"/>
              </a:rPr>
              <a:t>Rio</a:t>
            </a:r>
            <a:r>
              <a:rPr lang="hr-HR" sz="1700">
                <a:latin typeface="Arial" panose="020B0604020202020204" pitchFamily="34" charset="0"/>
                <a:cs typeface="Arial" panose="020B0604020202020204" pitchFamily="34" charset="0"/>
              </a:rPr>
              <a:t>, i </a:t>
            </a:r>
            <a:r>
              <a:rPr lang="hr-HR" sz="1700" i="1">
                <a:latin typeface="Arial" panose="020B0604020202020204" pitchFamily="34" charset="0"/>
                <a:cs typeface="Arial" panose="020B0604020202020204" pitchFamily="34" charset="0"/>
              </a:rPr>
              <a:t>Ferdinand</a:t>
            </a:r>
            <a:r>
              <a:rPr lang="hr-HR" sz="1700">
                <a:latin typeface="Arial" panose="020B0604020202020204" pitchFamily="34" charset="0"/>
                <a:cs typeface="Arial" panose="020B0604020202020204" pitchFamily="34" charset="0"/>
              </a:rPr>
              <a:t>.</a:t>
            </a:r>
          </a:p>
          <a:p>
            <a:pPr>
              <a:lnSpc>
                <a:spcPct val="110000"/>
              </a:lnSpc>
            </a:pPr>
            <a:r>
              <a:rPr lang="hr-HR" sz="1700" b="1">
                <a:latin typeface="Arial" panose="020B0604020202020204" pitchFamily="34" charset="0"/>
                <a:cs typeface="Arial" panose="020B0604020202020204" pitchFamily="34" charset="0"/>
              </a:rPr>
              <a:t>Superračunalo</a:t>
            </a:r>
            <a:r>
              <a:rPr lang="hr-HR" sz="1700">
                <a:latin typeface="Arial" panose="020B0604020202020204" pitchFamily="34" charset="0"/>
                <a:cs typeface="Arial" panose="020B0604020202020204" pitchFamily="34" charset="0"/>
              </a:rPr>
              <a:t>: Koristili su naprednu </a:t>
            </a:r>
            <a:r>
              <a:rPr lang="hr-HR" sz="1700" err="1">
                <a:latin typeface="Arial" panose="020B0604020202020204" pitchFamily="34" charset="0"/>
                <a:cs typeface="Arial" panose="020B0604020202020204" pitchFamily="34" charset="0"/>
              </a:rPr>
              <a:t>render</a:t>
            </a:r>
            <a:r>
              <a:rPr lang="hr-HR" sz="1700">
                <a:latin typeface="Arial" panose="020B0604020202020204" pitchFamily="34" charset="0"/>
                <a:cs typeface="Arial" panose="020B0604020202020204" pitchFamily="34" charset="0"/>
              </a:rPr>
              <a:t> farmu koja je uključivala tisuće procesora za obradu CGI animacija i simulacija.</a:t>
            </a:r>
          </a:p>
          <a:p>
            <a:pPr>
              <a:lnSpc>
                <a:spcPct val="110000"/>
              </a:lnSpc>
            </a:pPr>
            <a:r>
              <a:rPr lang="hr-HR" sz="1700" b="1">
                <a:latin typeface="Arial" panose="020B0604020202020204" pitchFamily="34" charset="0"/>
                <a:cs typeface="Arial" panose="020B0604020202020204" pitchFamily="34" charset="0"/>
              </a:rPr>
              <a:t>Zanimljivost</a:t>
            </a:r>
            <a:r>
              <a:rPr lang="hr-HR" sz="1700">
                <a:latin typeface="Arial" panose="020B0604020202020204" pitchFamily="34" charset="0"/>
                <a:cs typeface="Arial" panose="020B0604020202020204" pitchFamily="34" charset="0"/>
              </a:rPr>
              <a:t>: Blue </a:t>
            </a:r>
            <a:r>
              <a:rPr lang="hr-HR" sz="1700" err="1">
                <a:latin typeface="Arial" panose="020B0604020202020204" pitchFamily="34" charset="0"/>
                <a:cs typeface="Arial" panose="020B0604020202020204" pitchFamily="34" charset="0"/>
              </a:rPr>
              <a:t>Sky</a:t>
            </a:r>
            <a:r>
              <a:rPr lang="hr-HR" sz="1700">
                <a:latin typeface="Arial" panose="020B0604020202020204" pitchFamily="34" charset="0"/>
                <a:cs typeface="Arial" panose="020B0604020202020204" pitchFamily="34" charset="0"/>
              </a:rPr>
              <a:t> </a:t>
            </a:r>
            <a:r>
              <a:rPr lang="hr-HR" sz="1700" err="1">
                <a:latin typeface="Arial" panose="020B0604020202020204" pitchFamily="34" charset="0"/>
                <a:cs typeface="Arial" panose="020B0604020202020204" pitchFamily="34" charset="0"/>
              </a:rPr>
              <a:t>Studios</a:t>
            </a:r>
            <a:r>
              <a:rPr lang="hr-HR" sz="1700">
                <a:latin typeface="Arial" panose="020B0604020202020204" pitchFamily="34" charset="0"/>
                <a:cs typeface="Arial" panose="020B0604020202020204" pitchFamily="34" charset="0"/>
              </a:rPr>
              <a:t> je poznat po inovacijama u računalnim tehnikama za stvaranje realističnih tekstura i fizikalnih simulacija.</a:t>
            </a:r>
          </a:p>
          <a:p>
            <a:pPr>
              <a:lnSpc>
                <a:spcPct val="110000"/>
              </a:lnSpc>
            </a:pPr>
            <a:endParaRPr lang="hr-HR" sz="1700"/>
          </a:p>
        </p:txBody>
      </p:sp>
    </p:spTree>
    <p:extLst>
      <p:ext uri="{BB962C8B-B14F-4D97-AF65-F5344CB8AC3E}">
        <p14:creationId xmlns:p14="http://schemas.microsoft.com/office/powerpoint/2010/main" val="163716988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2298" y="221856"/>
            <a:ext cx="9624799" cy="1097280"/>
          </a:xfrm>
        </p:spPr>
        <p:txBody>
          <a:bodyPr>
            <a:normAutofit/>
          </a:bodyPr>
          <a:lstStyle/>
          <a:p>
            <a:r>
              <a:rPr lang="hr-HR" sz="3200" dirty="0">
                <a:latin typeface="Arial" charset="0"/>
              </a:rPr>
              <a:t>Osnovni elementi multimedijskih sadržaja</a:t>
            </a:r>
          </a:p>
        </p:txBody>
      </p:sp>
      <p:pic>
        <p:nvPicPr>
          <p:cNvPr id="4" name="Content Placeholder 3"/>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1981200" y="1288023"/>
            <a:ext cx="8229600" cy="4799481"/>
          </a:xfrm>
        </p:spPr>
      </p:pic>
    </p:spTree>
    <p:extLst>
      <p:ext uri="{BB962C8B-B14F-4D97-AF65-F5344CB8AC3E}">
        <p14:creationId xmlns:p14="http://schemas.microsoft.com/office/powerpoint/2010/main" val="171519313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131" y="309717"/>
            <a:ext cx="9838877" cy="1097280"/>
          </a:xfrm>
        </p:spPr>
        <p:txBody>
          <a:bodyPr>
            <a:normAutofit/>
          </a:bodyPr>
          <a:lstStyle/>
          <a:p>
            <a:r>
              <a:rPr lang="hr-HR" sz="3200">
                <a:latin typeface="Arial" charset="0"/>
              </a:rPr>
              <a:t>Zaključak</a:t>
            </a:r>
            <a:endParaRPr lang="hr-HR" sz="3200" dirty="0">
              <a:latin typeface="Arial" charset="0"/>
            </a:endParaRPr>
          </a:p>
        </p:txBody>
      </p:sp>
      <p:sp>
        <p:nvSpPr>
          <p:cNvPr id="3" name="Content Placeholder 2"/>
          <p:cNvSpPr>
            <a:spLocks noGrp="1"/>
          </p:cNvSpPr>
          <p:nvPr>
            <p:ph sz="quarter" idx="1"/>
          </p:nvPr>
        </p:nvSpPr>
        <p:spPr>
          <a:xfrm>
            <a:off x="1692131" y="1234932"/>
            <a:ext cx="9064359" cy="5623068"/>
          </a:xfrm>
        </p:spPr>
        <p:txBody>
          <a:bodyPr>
            <a:normAutofit/>
          </a:bodyPr>
          <a:lstStyle/>
          <a:p>
            <a:r>
              <a:rPr lang="hr-HR" sz="2400" dirty="0">
                <a:latin typeface="Arial" panose="020B0604020202020204" pitchFamily="34" charset="0"/>
                <a:cs typeface="Arial" panose="020B0604020202020204" pitchFamily="34" charset="0"/>
              </a:rPr>
              <a:t>Multimedija je postala neizostavan dio suvremenog života i poslovanja, kombinirajući različite oblike medija poput teksta, slike, zvuka, videa i interaktivnih elemenata kako bi se stvorila bogatija komunikacija i interakcija. Kroz ovu prezentaciju naučili smo ključne pojmove multimedije, njezine komponente i ulogu u različitim područjima poput obrazovanja, zabave, marketinga i poslovne komunikacije. Razumijevanje osnovnih pojmova multimedije omogućava nam bolje korištenje tehnologije za kreiranje atraktivnih i učinkovitih sadržaja, što je danas ključna vještina u digitalnom svijetu.</a:t>
            </a:r>
          </a:p>
        </p:txBody>
      </p:sp>
    </p:spTree>
    <p:extLst>
      <p:ext uri="{BB962C8B-B14F-4D97-AF65-F5344CB8AC3E}">
        <p14:creationId xmlns:p14="http://schemas.microsoft.com/office/powerpoint/2010/main" val="19169274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hr-HR" dirty="0"/>
          </a:p>
        </p:txBody>
      </p:sp>
      <p:sp>
        <p:nvSpPr>
          <p:cNvPr id="3" name="Content Placeholder 2"/>
          <p:cNvSpPr>
            <a:spLocks noGrp="1"/>
          </p:cNvSpPr>
          <p:nvPr>
            <p:ph sz="quarter" idx="1"/>
          </p:nvPr>
        </p:nvSpPr>
        <p:spPr>
          <a:xfrm>
            <a:off x="2018581" y="1219160"/>
            <a:ext cx="8229600" cy="4937760"/>
          </a:xfrm>
        </p:spPr>
        <p:txBody>
          <a:bodyPr>
            <a:normAutofit/>
          </a:bodyPr>
          <a:lstStyle/>
          <a:p>
            <a:pPr marL="0" indent="0">
              <a:lnSpc>
                <a:spcPct val="80000"/>
              </a:lnSpc>
              <a:buNone/>
              <a:defRPr/>
            </a:pPr>
            <a:endParaRPr lang="hr-HR" sz="2800" dirty="0">
              <a:latin typeface="Calibri" pitchFamily="34" charset="0"/>
              <a:cs typeface="Calibri" pitchFamily="34" charset="0"/>
            </a:endParaRPr>
          </a:p>
          <a:p>
            <a:pPr>
              <a:lnSpc>
                <a:spcPct val="80000"/>
              </a:lnSpc>
              <a:defRPr/>
            </a:pPr>
            <a:endParaRPr lang="hr-HR" sz="4800" dirty="0"/>
          </a:p>
          <a:p>
            <a:pPr marL="0" indent="0" algn="ctr">
              <a:lnSpc>
                <a:spcPct val="80000"/>
              </a:lnSpc>
              <a:buNone/>
              <a:defRPr/>
            </a:pPr>
            <a:r>
              <a:rPr lang="hr-HR" sz="16600" dirty="0">
                <a:latin typeface="Gigi" panose="04040504061007020D02" pitchFamily="82" charset="0"/>
                <a:ea typeface="ADLaM Display" panose="020B0604020202020204" pitchFamily="2" charset="0"/>
                <a:cs typeface="ADLaM Display" panose="020B0604020202020204" pitchFamily="2" charset="0"/>
              </a:rPr>
              <a:t>KRAJ</a:t>
            </a:r>
          </a:p>
        </p:txBody>
      </p:sp>
    </p:spTree>
    <p:extLst>
      <p:ext uri="{BB962C8B-B14F-4D97-AF65-F5344CB8AC3E}">
        <p14:creationId xmlns:p14="http://schemas.microsoft.com/office/powerpoint/2010/main" val="2181156142"/>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C74526B780CB7E40AAED50781EDEFDF6" ma:contentTypeVersion="11" ma:contentTypeDescription="Stvaranje novog dokumenta." ma:contentTypeScope="" ma:versionID="79af287b44b7cbb33ae4938ddf72dab6">
  <xsd:schema xmlns:xsd="http://www.w3.org/2001/XMLSchema" xmlns:xs="http://www.w3.org/2001/XMLSchema" xmlns:p="http://schemas.microsoft.com/office/2006/metadata/properties" xmlns:ns2="c041744a-391e-4a25-927f-1fb68203ca47" targetNamespace="http://schemas.microsoft.com/office/2006/metadata/properties" ma:root="true" ma:fieldsID="300e3a099caf659ae55a244f86e5c8b3" ns2:_="">
    <xsd:import namespace="c041744a-391e-4a25-927f-1fb68203ca47"/>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41744a-391e-4a25-927f-1fb68203ca47"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Oznake slika" ma:readOnly="false" ma:fieldId="{5cf76f15-5ced-4ddc-b409-7134ff3c332f}" ma:taxonomyMulti="true" ma:sspId="a0d909bf-645b-46a2-8bb9-ccdb7433476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Vrsta sadržaja"/>
        <xsd:element ref="dc:title" minOccurs="0" maxOccurs="1" ma:index="4" ma:displayName="Naslov"/>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041744a-391e-4a25-927f-1fb68203ca4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A4BECAD-44B5-436A-B75E-0C47400A31B6}">
  <ds:schemaRefs>
    <ds:schemaRef ds:uri="http://schemas.microsoft.com/sharepoint/v3/contenttype/forms"/>
  </ds:schemaRefs>
</ds:datastoreItem>
</file>

<file path=customXml/itemProps2.xml><?xml version="1.0" encoding="utf-8"?>
<ds:datastoreItem xmlns:ds="http://schemas.openxmlformats.org/officeDocument/2006/customXml" ds:itemID="{9C5B8CEF-DC17-459F-92B1-F686711434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41744a-391e-4a25-927f-1fb68203ca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375309-D7D5-45EF-B4AC-428E3C1D79A6}">
  <ds:schemaRefs>
    <ds:schemaRef ds:uri="http://schemas.microsoft.com/office/2006/metadata/properties"/>
    <ds:schemaRef ds:uri="http://schemas.microsoft.com/office/infopath/2007/PartnerControls"/>
    <ds:schemaRef ds:uri="c041744a-391e-4a25-927f-1fb68203ca47"/>
  </ds:schemaRefs>
</ds:datastoreItem>
</file>

<file path=docProps/app.xml><?xml version="1.0" encoding="utf-8"?>
<Properties xmlns="http://schemas.openxmlformats.org/officeDocument/2006/extended-properties" xmlns:vt="http://schemas.openxmlformats.org/officeDocument/2006/docPropsVTypes">
  <TotalTime>12859</TotalTime>
  <Words>2273</Words>
  <Application>Microsoft Macintosh PowerPoint</Application>
  <PresentationFormat>Widescreen</PresentationFormat>
  <Paragraphs>182</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Gigi</vt:lpstr>
      <vt:lpstr>Grandview Display</vt:lpstr>
      <vt:lpstr>DashVTI</vt:lpstr>
      <vt:lpstr>Multimedija – osnovni pojmovi</vt:lpstr>
      <vt:lpstr>Sadržaj</vt:lpstr>
      <vt:lpstr>Ishodi prezentacije</vt:lpstr>
      <vt:lpstr>PowerPoint Presentation</vt:lpstr>
      <vt:lpstr>Što je multimedija?</vt:lpstr>
      <vt:lpstr>Povijest multimedije</vt:lpstr>
      <vt:lpstr>Povijest multimedije</vt:lpstr>
      <vt:lpstr>Povijest multimedije</vt:lpstr>
      <vt:lpstr>Svrha i ciljevi multimedije</vt:lpstr>
      <vt:lpstr>Hipermedija</vt:lpstr>
      <vt:lpstr>Hipermedija</vt:lpstr>
      <vt:lpstr>Multimedijski računalni sustavi</vt:lpstr>
      <vt:lpstr>Multimedijski računalni sustavi</vt:lpstr>
      <vt:lpstr>Multimedijski računalni sustavi</vt:lpstr>
      <vt:lpstr>Multimedijski računalni sustavi</vt:lpstr>
      <vt:lpstr>Multimedijski računalni sustavi</vt:lpstr>
      <vt:lpstr>Multimedijski računalni sustavi</vt:lpstr>
      <vt:lpstr>Multimedijski računalni sustavi</vt:lpstr>
      <vt:lpstr>Superračunala u filmskoj industriji</vt:lpstr>
      <vt:lpstr>Superračunala u filmskoj industriji</vt:lpstr>
      <vt:lpstr>Superračunala u filmskoj industriji</vt:lpstr>
      <vt:lpstr>Superračunala u filmskoj industriji</vt:lpstr>
      <vt:lpstr>Superračunala u filmskoj industriji</vt:lpstr>
      <vt:lpstr>Superračunala u filmskoj industriji</vt:lpstr>
      <vt:lpstr>Superračunala u filmskoj industriji</vt:lpstr>
      <vt:lpstr>Superračunala u filmskoj industriji</vt:lpstr>
      <vt:lpstr>Osnovni elementi multimedijskih sadržaja</vt:lpstr>
      <vt:lpstr>Zaključak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VIRTUALBOX</dc:title>
  <dc:creator>OGNJEN</dc:creator>
  <cp:lastModifiedBy>Matija Šimić</cp:lastModifiedBy>
  <cp:revision>95</cp:revision>
  <dcterms:created xsi:type="dcterms:W3CDTF">2024-07-02T10:01:58Z</dcterms:created>
  <dcterms:modified xsi:type="dcterms:W3CDTF">2026-03-16T17:46:45Z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0x010100C74526B780CB7E40AAED50781EDEFDF6</vt:lpwstr>
  </property>
</Properties>
</file>