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21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"/>
  </p:notesMasterIdLst>
  <p:sldIdLst>
    <p:sldId id="257" r:id="rId3"/>
    <p:sldId id="264" r:id="rId4"/>
    <p:sldId id="265" r:id="rId5"/>
    <p:sldId id="266" r:id="rId6"/>
    <p:sldId id="267" r:id="rId7"/>
    <p:sldId id="268" r:id="rId8"/>
    <p:sldId id="269" r:id="rId9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42C63-65DE-4A59-B605-1EBD9F6BA0EA}" type="datetimeFigureOut">
              <a:rPr lang="hr-HR" smtClean="0"/>
              <a:t>14.9.2023.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12843-1FC1-43DB-B39C-3BBAFA515E0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7763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1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2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3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4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5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6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7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74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9992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DDE9EC"/>
                </a:solidFill>
              </a:rPr>
              <a:pPr/>
              <a:t>14.9.2023.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>
              <a:solidFill>
                <a:srgbClr val="DDE9E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>
                <a:solidFill>
                  <a:srgbClr val="DDE9EC"/>
                </a:solidFill>
              </a:rPr>
              <a:pPr/>
              <a:t>‹#›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829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4728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6688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91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0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2526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DDE9EC"/>
                </a:solidFill>
              </a:rPr>
              <a:pPr/>
              <a:t>14.9.2023.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DDE9E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DDE9EC"/>
                </a:solidFill>
              </a:rPr>
              <a:pPr/>
              <a:t>‹#›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752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39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99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596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79568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DDE9EC"/>
                </a:solidFill>
              </a:rPr>
              <a:pPr/>
              <a:t>14.9.2023.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>
              <a:solidFill>
                <a:srgbClr val="DDE9E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>
                <a:solidFill>
                  <a:srgbClr val="DDE9EC"/>
                </a:solidFill>
              </a:rPr>
              <a:pPr/>
              <a:t>‹#›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880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17386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64931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108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2381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08646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DDE9EC"/>
                </a:solidFill>
              </a:rPr>
              <a:pPr/>
              <a:t>14.9.2023.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DDE9E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DDE9EC"/>
                </a:solidFill>
              </a:rPr>
              <a:pPr/>
              <a:t>‹#›</a:t>
            </a:fld>
            <a:endParaRPr lang="hr-HR">
              <a:solidFill>
                <a:srgbClr val="DDE9EC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12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780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2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19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>
                <a:solidFill>
                  <a:srgbClr val="464653"/>
                </a:solidFill>
              </a:rPr>
              <a:pPr/>
              <a:t>14.9.2023.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>
              <a:solidFill>
                <a:srgbClr val="464653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>
                <a:solidFill>
                  <a:srgbClr val="464653"/>
                </a:solidFill>
              </a:rPr>
              <a:pPr/>
              <a:t>‹#›</a:t>
            </a:fld>
            <a:endParaRPr lang="hr-HR">
              <a:solidFill>
                <a:srgbClr val="464653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10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794" y="3789040"/>
            <a:ext cx="6858000" cy="990600"/>
          </a:xfrm>
        </p:spPr>
        <p:txBody>
          <a:bodyPr>
            <a:noAutofit/>
          </a:bodyPr>
          <a:lstStyle/>
          <a:p>
            <a:r>
              <a:rPr lang="hr-HR" dirty="0">
                <a:solidFill>
                  <a:schemeClr val="hlink"/>
                </a:solidFill>
              </a:rPr>
              <a:t>Komponente multimedijskog sustava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Multimedija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543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Multimedijski sustavi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Multimedijski sustav je sustav sposoban za obradu multimedijskih podataka i aplikacija. </a:t>
            </a:r>
          </a:p>
          <a:p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Osnovne funkcije:</a:t>
            </a:r>
          </a:p>
          <a:p>
            <a:pPr lvl="1"/>
            <a:r>
              <a:rPr lang="hr-HR" sz="2600" dirty="0">
                <a:latin typeface="Calibri" pitchFamily="34" charset="0"/>
                <a:cs typeface="Calibri" pitchFamily="34" charset="0"/>
              </a:rPr>
              <a:t>prerada, skladištenje, proizvodnja, manipulacija i izlaganje multimedijskih informacija</a:t>
            </a:r>
          </a:p>
          <a:p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Multimedijski sustav je računalo koje objedinjuje primjenu telekomunikacije, slike, zvuka i video sekvenci. </a:t>
            </a:r>
          </a:p>
          <a:p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r>
              <a:rPr lang="hr-HR" sz="2400" dirty="0">
                <a:latin typeface="Calibri" pitchFamily="34" charset="0"/>
                <a:cs typeface="Calibri" pitchFamily="34" charset="0"/>
              </a:rPr>
              <a:t>Sastavni dijelovi ili komponente multimedijskog sustava su:</a:t>
            </a:r>
          </a:p>
          <a:p>
            <a:pPr lvl="1"/>
            <a:r>
              <a:rPr lang="hr-HR" sz="2100" dirty="0">
                <a:latin typeface="Calibri" pitchFamily="34" charset="0"/>
                <a:cs typeface="Calibri" pitchFamily="34" charset="0"/>
              </a:rPr>
              <a:t>hardver (temeljna konfiguracija i prateća tehnologija)</a:t>
            </a:r>
          </a:p>
          <a:p>
            <a:pPr lvl="1"/>
            <a:r>
              <a:rPr lang="hr-HR" sz="2100" dirty="0">
                <a:latin typeface="Calibri" pitchFamily="34" charset="0"/>
                <a:cs typeface="Calibri" pitchFamily="34" charset="0"/>
              </a:rPr>
              <a:t>softver (multimedijske aplikacije i alati)</a:t>
            </a:r>
          </a:p>
        </p:txBody>
      </p:sp>
    </p:spTree>
    <p:extLst>
      <p:ext uri="{BB962C8B-B14F-4D97-AF65-F5344CB8AC3E}">
        <p14:creationId xmlns:p14="http://schemas.microsoft.com/office/powerpoint/2010/main" val="351178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Karakteristike multimedijskih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4937760"/>
          </a:xfrm>
        </p:spPr>
        <p:txBody>
          <a:bodyPr>
            <a:normAutofit/>
          </a:bodyPr>
          <a:lstStyle/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Multimedijski sustavi moraju biti </a:t>
            </a:r>
            <a:r>
              <a:rPr lang="hr-HR" sz="2800" b="1" dirty="0">
                <a:latin typeface="Calibri" pitchFamily="34" charset="0"/>
                <a:cs typeface="Calibri" pitchFamily="34" charset="0"/>
              </a:rPr>
              <a:t>računalno kontrolirani</a:t>
            </a:r>
            <a:r>
              <a:rPr lang="hr-HR" sz="2800" dirty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Multimedijalni sistemi su </a:t>
            </a:r>
            <a:r>
              <a:rPr lang="hr-HR" sz="2800" b="1" dirty="0">
                <a:latin typeface="Calibri" pitchFamily="34" charset="0"/>
                <a:cs typeface="Calibri" pitchFamily="34" charset="0"/>
              </a:rPr>
              <a:t>integrirani</a:t>
            </a:r>
            <a:r>
              <a:rPr lang="hr-HR" sz="2800" dirty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r>
              <a:rPr lang="hr-HR" sz="2800" dirty="0">
                <a:latin typeface="Calibri" pitchFamily="34" charset="0"/>
                <a:cs typeface="Calibri" pitchFamily="34" charset="0"/>
              </a:rPr>
              <a:t>Predstavljene informacije moraju biti prikazane </a:t>
            </a:r>
            <a:r>
              <a:rPr lang="hr-HR" sz="2800" b="1" dirty="0">
                <a:latin typeface="Calibri" pitchFamily="34" charset="0"/>
                <a:cs typeface="Calibri" pitchFamily="34" charset="0"/>
              </a:rPr>
              <a:t>digitalno</a:t>
            </a:r>
            <a:r>
              <a:rPr lang="hr-HR" sz="2800" dirty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pl-PL" sz="2800" dirty="0">
              <a:latin typeface="Calibri" pitchFamily="34" charset="0"/>
              <a:cs typeface="Calibri" pitchFamily="34" charset="0"/>
            </a:endParaRPr>
          </a:p>
          <a:p>
            <a:r>
              <a:rPr lang="pl-PL" sz="2800" dirty="0">
                <a:latin typeface="Calibri" pitchFamily="34" charset="0"/>
                <a:cs typeface="Calibri" pitchFamily="34" charset="0"/>
              </a:rPr>
              <a:t>Sučelje za prikaz medija je </a:t>
            </a:r>
            <a:r>
              <a:rPr lang="pl-PL" sz="2800" b="1" dirty="0">
                <a:latin typeface="Calibri" pitchFamily="34" charset="0"/>
                <a:cs typeface="Calibri" pitchFamily="34" charset="0"/>
              </a:rPr>
              <a:t>interaktivno</a:t>
            </a:r>
            <a:r>
              <a:rPr lang="pl-PL" sz="2800" dirty="0">
                <a:latin typeface="Calibri" pitchFamily="34" charset="0"/>
                <a:cs typeface="Calibri" pitchFamily="34" charset="0"/>
              </a:rPr>
              <a:t>.</a:t>
            </a:r>
            <a:endParaRPr lang="hr-HR" sz="28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07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Poželjna svojstva multimedijskog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4937760"/>
          </a:xfrm>
        </p:spPr>
        <p:txBody>
          <a:bodyPr>
            <a:normAutofit fontScale="32500" lnSpcReduction="20000"/>
          </a:bodyPr>
          <a:lstStyle/>
          <a:p>
            <a:r>
              <a:rPr lang="hr-HR" sz="7000" b="1" dirty="0">
                <a:latin typeface="Calibri" pitchFamily="34" charset="0"/>
                <a:cs typeface="Calibri" pitchFamily="34" charset="0"/>
              </a:rPr>
              <a:t>Velika procesorska moć</a:t>
            </a:r>
          </a:p>
          <a:p>
            <a:pPr lvl="1"/>
            <a:r>
              <a:rPr lang="hr-HR" sz="6100" dirty="0">
                <a:latin typeface="Calibri" pitchFamily="34" charset="0"/>
                <a:cs typeface="Calibri" pitchFamily="34" charset="0"/>
              </a:rPr>
              <a:t>istovremena obrada i isporuka velike količine podataka i stvarnom vremenu</a:t>
            </a:r>
          </a:p>
          <a:p>
            <a:endParaRPr lang="hr-HR" sz="7000" b="1" dirty="0">
              <a:latin typeface="Calibri" pitchFamily="34" charset="0"/>
              <a:cs typeface="Calibri" pitchFamily="34" charset="0"/>
            </a:endParaRPr>
          </a:p>
          <a:p>
            <a:r>
              <a:rPr lang="hr-HR" sz="7000" b="1" dirty="0">
                <a:latin typeface="Calibri" pitchFamily="34" charset="0"/>
                <a:cs typeface="Calibri" pitchFamily="34" charset="0"/>
              </a:rPr>
              <a:t>Multimedijski podržan sustav datoteka</a:t>
            </a:r>
          </a:p>
          <a:p>
            <a:pPr lvl="1"/>
            <a:r>
              <a:rPr lang="hr-HR" sz="6700" dirty="0">
                <a:latin typeface="Calibri" pitchFamily="34" charset="0"/>
                <a:cs typeface="Calibri" pitchFamily="34" charset="0"/>
              </a:rPr>
              <a:t>dostava medija u stvarnom vremenu (video / audio streaming)</a:t>
            </a:r>
          </a:p>
          <a:p>
            <a:endParaRPr lang="hr-HR" sz="7000" b="1" dirty="0">
              <a:latin typeface="Calibri" pitchFamily="34" charset="0"/>
              <a:cs typeface="Calibri" pitchFamily="34" charset="0"/>
            </a:endParaRPr>
          </a:p>
          <a:p>
            <a:r>
              <a:rPr lang="hr-HR" sz="7000" b="1" dirty="0">
                <a:latin typeface="Calibri" pitchFamily="34" charset="0"/>
                <a:cs typeface="Calibri" pitchFamily="34" charset="0"/>
              </a:rPr>
              <a:t>Formati datoteka koji podržavaju multimediju</a:t>
            </a:r>
          </a:p>
          <a:p>
            <a:pPr lvl="1"/>
            <a:r>
              <a:rPr lang="hr-HR" sz="6700" dirty="0">
                <a:latin typeface="Calibri" pitchFamily="34" charset="0"/>
                <a:cs typeface="Calibri" pitchFamily="34" charset="0"/>
              </a:rPr>
              <a:t>podaci za prikazi (formati) datoteka trebali bi biti jednostavni za rukovanje s mogućnošću </a:t>
            </a:r>
            <a:r>
              <a:rPr lang="pl-PL" sz="7000" dirty="0">
                <a:latin typeface="Calibri" pitchFamily="34" charset="0"/>
                <a:cs typeface="Calibri" pitchFamily="34" charset="0"/>
              </a:rPr>
              <a:t>kompresije / dekompresije u realnom vremenu.</a:t>
            </a:r>
          </a:p>
          <a:p>
            <a:endParaRPr lang="pl-PL" sz="7000" b="1" dirty="0">
              <a:latin typeface="Calibri" pitchFamily="34" charset="0"/>
              <a:cs typeface="Calibri" pitchFamily="34" charset="0"/>
            </a:endParaRPr>
          </a:p>
          <a:p>
            <a:r>
              <a:rPr lang="pl-PL" sz="7000" b="1" dirty="0">
                <a:latin typeface="Calibri" pitchFamily="34" charset="0"/>
                <a:cs typeface="Calibri" pitchFamily="34" charset="0"/>
              </a:rPr>
              <a:t>Učinkovita i visoka U / I podrška</a:t>
            </a:r>
          </a:p>
          <a:p>
            <a:pPr lvl="1"/>
            <a:r>
              <a:rPr lang="hr-HR" sz="6700" dirty="0">
                <a:latin typeface="Calibri" pitchFamily="34" charset="0"/>
                <a:cs typeface="Calibri" pitchFamily="34" charset="0"/>
              </a:rPr>
              <a:t>pristup datotekama podsustava treba biti učinkovit i brz, te omogućiti snimanje i reprodukciju </a:t>
            </a:r>
            <a:r>
              <a:rPr lang="hr-HR" sz="7000" dirty="0">
                <a:latin typeface="Calibri" pitchFamily="34" charset="0"/>
                <a:cs typeface="Calibri" pitchFamily="34" charset="0"/>
              </a:rPr>
              <a:t>podataka u realnom vremenu</a:t>
            </a:r>
          </a:p>
        </p:txBody>
      </p:sp>
    </p:spTree>
    <p:extLst>
      <p:ext uri="{BB962C8B-B14F-4D97-AF65-F5344CB8AC3E}">
        <p14:creationId xmlns:p14="http://schemas.microsoft.com/office/powerpoint/2010/main" val="64302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Poželjna svojstva multimedijskog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4937760"/>
          </a:xfrm>
        </p:spPr>
        <p:txBody>
          <a:bodyPr>
            <a:noAutofit/>
          </a:bodyPr>
          <a:lstStyle/>
          <a:p>
            <a:r>
              <a:rPr lang="hr-HR" sz="2400" b="1" dirty="0">
                <a:latin typeface="Calibri" pitchFamily="34" charset="0"/>
                <a:cs typeface="Calibri" pitchFamily="34" charset="0"/>
              </a:rPr>
              <a:t>Skladištenje i memorija</a:t>
            </a:r>
          </a:p>
          <a:p>
            <a:pPr lvl="1"/>
            <a:r>
              <a:rPr lang="hr-HR" sz="2000" dirty="0">
                <a:latin typeface="Calibri" pitchFamily="34" charset="0"/>
                <a:cs typeface="Calibri" pitchFamily="34" charset="0"/>
              </a:rPr>
              <a:t>velik skladišni prostor jedinica </a:t>
            </a:r>
            <a:r>
              <a:rPr lang="hr-HR" sz="2000">
                <a:latin typeface="Calibri" pitchFamily="34" charset="0"/>
                <a:cs typeface="Calibri" pitchFamily="34" charset="0"/>
              </a:rPr>
              <a:t>vanjskih uređaja </a:t>
            </a:r>
            <a:r>
              <a:rPr lang="hr-HR" sz="2000" dirty="0">
                <a:latin typeface="Calibri" pitchFamily="34" charset="0"/>
                <a:cs typeface="Calibri" pitchFamily="34" charset="0"/>
              </a:rPr>
              <a:t>za pohranu podataka (HDD) i radne memorije</a:t>
            </a:r>
          </a:p>
          <a:p>
            <a:endParaRPr lang="hr-HR" sz="2400" b="1" dirty="0">
              <a:latin typeface="Calibri" pitchFamily="34" charset="0"/>
              <a:cs typeface="Calibri" pitchFamily="34" charset="0"/>
            </a:endParaRPr>
          </a:p>
          <a:p>
            <a:r>
              <a:rPr lang="hr-HR" sz="2400" b="1" dirty="0">
                <a:latin typeface="Calibri" pitchFamily="34" charset="0"/>
                <a:cs typeface="Calibri" pitchFamily="34" charset="0"/>
              </a:rPr>
              <a:t>Mrežna podrška</a:t>
            </a:r>
          </a:p>
          <a:p>
            <a:pPr lvl="1"/>
            <a:r>
              <a:rPr lang="hr-HR" sz="2000" dirty="0">
                <a:latin typeface="Calibri" pitchFamily="34" charset="0"/>
                <a:cs typeface="Calibri" pitchFamily="34" charset="0"/>
              </a:rPr>
              <a:t>sustav zajedničke podrške za klijent-server sustave i distribuirane sustave.</a:t>
            </a:r>
          </a:p>
          <a:p>
            <a:endParaRPr lang="hr-HR" sz="2400" b="1" dirty="0">
              <a:latin typeface="Calibri" pitchFamily="34" charset="0"/>
              <a:cs typeface="Calibri" pitchFamily="34" charset="0"/>
            </a:endParaRPr>
          </a:p>
          <a:p>
            <a:r>
              <a:rPr lang="hr-HR" sz="2400" b="1" dirty="0">
                <a:latin typeface="Calibri" pitchFamily="34" charset="0"/>
                <a:cs typeface="Calibri" pitchFamily="34" charset="0"/>
              </a:rPr>
              <a:t>Softverski alati</a:t>
            </a:r>
          </a:p>
          <a:p>
            <a:pPr lvl="1"/>
            <a:r>
              <a:rPr lang="hr-HR" sz="2000" dirty="0">
                <a:latin typeface="Calibri" pitchFamily="34" charset="0"/>
                <a:cs typeface="Calibri" pitchFamily="34" charset="0"/>
              </a:rPr>
              <a:t>prilagođeni korisniku za brzo i jednostavno rukovanje medijima, dizajniranju i razvoju </a:t>
            </a:r>
            <a:r>
              <a:rPr lang="hr-HR" sz="2400" dirty="0">
                <a:latin typeface="Calibri" pitchFamily="34" charset="0"/>
                <a:cs typeface="Calibri" pitchFamily="34" charset="0"/>
              </a:rPr>
              <a:t>aplikacija i distribuciji medija</a:t>
            </a:r>
            <a:r>
              <a:rPr lang="hr-HR" sz="1050" dirty="0"/>
              <a:t>.</a:t>
            </a:r>
            <a:endParaRPr lang="hr-HR" sz="105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4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Hardver (temeljna konfiguracija i prateća tehnologija)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493776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Osobno računalo</a:t>
            </a:r>
          </a:p>
          <a:p>
            <a:r>
              <a:rPr lang="hr-HR" sz="1800" dirty="0">
                <a:latin typeface="Calibri" pitchFamily="34" charset="0"/>
                <a:cs typeface="Calibri" pitchFamily="34" charset="0"/>
              </a:rPr>
              <a:t>centralna jedinica - mikroprocesor (CPU, Central Processing Unit)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obavlja sve računske operacije i upravlja ostalim komponentama računala, poput grafičkih kartica, pristupa memoriji, tvrdih diskova i mrežne komunikacije.</a:t>
            </a:r>
          </a:p>
          <a:p>
            <a:r>
              <a:rPr lang="pl-PL" sz="1800" dirty="0">
                <a:latin typeface="Calibri" pitchFamily="34" charset="0"/>
                <a:cs typeface="Calibri" pitchFamily="34" charset="0"/>
              </a:rPr>
              <a:t>memorija i uređaji za pohranu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RAM, ROM, hard disk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 disketa, zip, magneto-optički urenaji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 DVD (Digital Versatile Disc)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 CD-ROM čitači i snimači</a:t>
            </a:r>
          </a:p>
          <a:p>
            <a:r>
              <a:rPr lang="hr-HR" sz="1800" dirty="0">
                <a:latin typeface="Calibri" pitchFamily="34" charset="0"/>
                <a:cs typeface="Calibri" pitchFamily="34" charset="0"/>
              </a:rPr>
              <a:t>ulazni uređaji</a:t>
            </a:r>
          </a:p>
          <a:p>
            <a:pPr lvl="1"/>
            <a:r>
              <a:rPr lang="sv-SE" sz="1800" dirty="0">
                <a:latin typeface="Calibri" pitchFamily="34" charset="0"/>
                <a:cs typeface="Calibri" pitchFamily="34" charset="0"/>
              </a:rPr>
              <a:t>tipkovnica, miš, grafičke ploče (tablets), mikrofon</a:t>
            </a:r>
            <a:endParaRPr lang="hr-HR" sz="1800" dirty="0">
              <a:latin typeface="Calibri" pitchFamily="34" charset="0"/>
              <a:cs typeface="Calibri" pitchFamily="34" charset="0"/>
            </a:endParaRPr>
          </a:p>
          <a:p>
            <a:r>
              <a:rPr lang="hr-HR" sz="1800" dirty="0">
                <a:latin typeface="Calibri" pitchFamily="34" charset="0"/>
                <a:cs typeface="Calibri" pitchFamily="34" charset="0"/>
              </a:rPr>
              <a:t>izlazni uređaji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monitori, zvučnici, komunikacijski uređaji</a:t>
            </a:r>
          </a:p>
          <a:p>
            <a:r>
              <a:rPr lang="hr-HR" sz="1800" dirty="0">
                <a:latin typeface="Calibri" pitchFamily="34" charset="0"/>
                <a:cs typeface="Calibri" pitchFamily="34" charset="0"/>
              </a:rPr>
              <a:t>komunikacijski uređaji</a:t>
            </a:r>
          </a:p>
          <a:p>
            <a:pPr lvl="1"/>
            <a:r>
              <a:rPr lang="hr-HR" sz="1800" dirty="0">
                <a:latin typeface="Calibri" pitchFamily="34" charset="0"/>
                <a:cs typeface="Calibri" pitchFamily="34" charset="0"/>
              </a:rPr>
              <a:t>modem, ISDN adapter, ADSL modem</a:t>
            </a:r>
          </a:p>
          <a:p>
            <a:pPr lvl="1"/>
            <a:endParaRPr lang="sv-SE" sz="18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02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r-HR" dirty="0">
                <a:solidFill>
                  <a:schemeClr val="hlink"/>
                </a:solidFill>
                <a:latin typeface="Arial" charset="0"/>
              </a:rPr>
              <a:t>Hardver (temeljna konfiguracija i prateća tehnologija)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8229600" cy="493776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Komunikacijske mreže</a:t>
            </a:r>
          </a:p>
          <a:p>
            <a:r>
              <a:rPr lang="hr-HR" sz="2000" dirty="0">
                <a:latin typeface="Calibri" pitchFamily="34" charset="0"/>
                <a:cs typeface="Calibri" pitchFamily="34" charset="0"/>
              </a:rPr>
              <a:t> Ethernet, Token Ring, FDDI, ATM, intranet, Internet</a:t>
            </a:r>
          </a:p>
          <a:p>
            <a:pPr marL="457200" indent="-457200">
              <a:buFont typeface="+mj-lt"/>
              <a:buAutoNum type="arabicPeriod" startAt="3"/>
            </a:pPr>
            <a:endParaRPr lang="hr-HR" sz="20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Uređaji za prikupljanje</a:t>
            </a:r>
          </a:p>
          <a:p>
            <a:r>
              <a:rPr lang="hr-HR" sz="2000" dirty="0">
                <a:latin typeface="Calibri" pitchFamily="34" charset="0"/>
                <a:cs typeface="Calibri" pitchFamily="34" charset="0"/>
              </a:rPr>
              <a:t>Fotoaparati, video kamere, skeneri, 3-D uređaji, taktilni senzori, VR uređaji, HDD rekorderi, diktafoni</a:t>
            </a:r>
          </a:p>
          <a:p>
            <a:pPr marL="457200" indent="-457200">
              <a:buFont typeface="+mj-lt"/>
              <a:buAutoNum type="arabicPeriod" startAt="4"/>
            </a:pPr>
            <a:endParaRPr lang="hr-HR" sz="20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hr-HR" sz="2000" dirty="0">
                <a:latin typeface="Calibri" pitchFamily="34" charset="0"/>
                <a:cs typeface="Calibri" pitchFamily="34" charset="0"/>
              </a:rPr>
              <a:t>U</a:t>
            </a:r>
            <a:r>
              <a:rPr lang="pl-PL" sz="2000" dirty="0">
                <a:latin typeface="Calibri" pitchFamily="34" charset="0"/>
                <a:cs typeface="Calibri" pitchFamily="34" charset="0"/>
              </a:rPr>
              <a:t>ređaji za prezentaciju (prikaz)</a:t>
            </a:r>
          </a:p>
          <a:p>
            <a:r>
              <a:rPr lang="hr-HR" sz="2000" dirty="0">
                <a:latin typeface="Calibri" pitchFamily="34" charset="0"/>
                <a:cs typeface="Calibri" pitchFamily="34" charset="0"/>
              </a:rPr>
              <a:t> TV, LCD, audio</a:t>
            </a:r>
          </a:p>
        </p:txBody>
      </p:sp>
    </p:spTree>
    <p:extLst>
      <p:ext uri="{BB962C8B-B14F-4D97-AF65-F5344CB8AC3E}">
        <p14:creationId xmlns:p14="http://schemas.microsoft.com/office/powerpoint/2010/main" val="26300145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11" ma:contentTypeDescription="Stvaranje novog dokumenta." ma:contentTypeScope="" ma:versionID="79af287b44b7cbb33ae4938ddf72dab6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300e3a099caf659ae55a244f86e5c8b3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Oznake slika" ma:readOnly="false" ma:fieldId="{5cf76f15-5ced-4ddc-b409-7134ff3c332f}" ma:taxonomyMulti="true" ma:sspId="a0d909bf-645b-46a2-8bb9-ccdb743347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41744a-391e-4a25-927f-1fb68203ca4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4BE587D-E3D8-45D0-BA08-0FB60BDEDD59}"/>
</file>

<file path=customXml/itemProps2.xml><?xml version="1.0" encoding="utf-8"?>
<ds:datastoreItem xmlns:ds="http://schemas.openxmlformats.org/officeDocument/2006/customXml" ds:itemID="{383F0C31-5EE0-4B7A-B11B-9CF4D6D6B18D}"/>
</file>

<file path=customXml/itemProps3.xml><?xml version="1.0" encoding="utf-8"?>
<ds:datastoreItem xmlns:ds="http://schemas.openxmlformats.org/officeDocument/2006/customXml" ds:itemID="{F37EFBBB-FFF7-46FD-9E93-28CE4E6BE372}"/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406</Words>
  <Application>Microsoft Office PowerPoint</Application>
  <PresentationFormat>Prikaz na zaslonu (4:3)</PresentationFormat>
  <Paragraphs>73</Paragraphs>
  <Slides>7</Slides>
  <Notes>7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2</vt:i4>
      </vt:variant>
      <vt:variant>
        <vt:lpstr>Naslovi slajdova</vt:lpstr>
      </vt:variant>
      <vt:variant>
        <vt:i4>7</vt:i4>
      </vt:variant>
    </vt:vector>
  </HeadingPairs>
  <TitlesOfParts>
    <vt:vector size="15" baseType="lpstr"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1_Origin</vt:lpstr>
      <vt:lpstr>Komponente multimedijskog sustava</vt:lpstr>
      <vt:lpstr>Multimedijski sustavi</vt:lpstr>
      <vt:lpstr>Karakteristike multimedijskih sustava</vt:lpstr>
      <vt:lpstr>Poželjna svojstva multimedijskog sustava</vt:lpstr>
      <vt:lpstr>Poželjna svojstva multimedijskog sustava</vt:lpstr>
      <vt:lpstr>Hardver (temeljna konfiguracija i prateća tehnologija)</vt:lpstr>
      <vt:lpstr>Hardver (temeljna konfiguracija i prateća tehnologija)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Osnovni elementi multimedije</dc:title>
  <dc:creator>p</dc:creator>
  <cp:lastModifiedBy>OGNJEN ROGLIĆ</cp:lastModifiedBy>
  <cp:revision>16</cp:revision>
  <dcterms:created xsi:type="dcterms:W3CDTF">2015-09-09T20:54:24Z</dcterms:created>
  <dcterms:modified xsi:type="dcterms:W3CDTF">2023-09-14T06:26:29Z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